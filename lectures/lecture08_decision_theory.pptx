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90" r:id="rId3"/>
    <p:sldId id="289" r:id="rId4"/>
    <p:sldId id="257" r:id="rId5"/>
    <p:sldId id="263" r:id="rId6"/>
    <p:sldId id="264" r:id="rId7"/>
    <p:sldId id="265" r:id="rId8"/>
    <p:sldId id="268" r:id="rId9"/>
    <p:sldId id="287" r:id="rId10"/>
    <p:sldId id="266" r:id="rId11"/>
    <p:sldId id="267" r:id="rId12"/>
    <p:sldId id="269" r:id="rId13"/>
    <p:sldId id="258" r:id="rId14"/>
    <p:sldId id="260" r:id="rId15"/>
    <p:sldId id="286" r:id="rId16"/>
    <p:sldId id="261" r:id="rId17"/>
    <p:sldId id="282" r:id="rId18"/>
    <p:sldId id="291" r:id="rId19"/>
    <p:sldId id="292" r:id="rId20"/>
    <p:sldId id="293" r:id="rId21"/>
    <p:sldId id="270" r:id="rId22"/>
    <p:sldId id="296" r:id="rId23"/>
    <p:sldId id="271" r:id="rId24"/>
    <p:sldId id="288" r:id="rId25"/>
    <p:sldId id="294" r:id="rId26"/>
    <p:sldId id="298" r:id="rId27"/>
    <p:sldId id="299" r:id="rId28"/>
    <p:sldId id="301" r:id="rId29"/>
    <p:sldId id="295" r:id="rId30"/>
    <p:sldId id="297" r:id="rId31"/>
    <p:sldId id="302" r:id="rId32"/>
    <p:sldId id="303" r:id="rId33"/>
    <p:sldId id="304" r:id="rId34"/>
    <p:sldId id="305" r:id="rId35"/>
    <p:sldId id="28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yle Bradbury, Ph.D." initials="KBP" lastIdx="1" clrIdx="0">
    <p:extLst>
      <p:ext uri="{19B8F6BF-5375-455C-9EA6-DF929625EA0E}">
        <p15:presenceInfo xmlns:p15="http://schemas.microsoft.com/office/powerpoint/2012/main" userId="S::kjb17@duke.edu::ea2edbe2-d93c-4a6c-b413-021a8fc45c0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4F"/>
    <a:srgbClr val="404040"/>
    <a:srgbClr val="83D5A8"/>
    <a:srgbClr val="00B050"/>
    <a:srgbClr val="FFFFFF"/>
    <a:srgbClr val="B7D1C3"/>
    <a:srgbClr val="67B088"/>
    <a:srgbClr val="8EB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669"/>
    <p:restoredTop sz="95271"/>
  </p:normalViewPr>
  <p:slideViewPr>
    <p:cSldViewPr snapToGrid="0" snapToObjects="1">
      <p:cViewPr varScale="1">
        <p:scale>
          <a:sx n="103" d="100"/>
          <a:sy n="103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CDB2D-8DB6-F04C-A7C5-CBBA679C2DD4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34CAF-063B-5B42-8B71-82355D1AA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5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434CAF-063B-5B42-8B71-82355D1AA8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86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800" y="1122363"/>
            <a:ext cx="11836400" cy="2387600"/>
          </a:xfrm>
        </p:spPr>
        <p:txBody>
          <a:bodyPr anchor="b"/>
          <a:lstStyle>
            <a:lvl1pPr algn="ctr">
              <a:defRPr sz="6000" b="1" i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800" y="3602038"/>
            <a:ext cx="118364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Helvetica Light" charset="0"/>
                <a:ea typeface="Helvetica Light" charset="0"/>
                <a:cs typeface="Helvetica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03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38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709738"/>
            <a:ext cx="116459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4589463"/>
            <a:ext cx="116459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78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3610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7780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2892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24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108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6396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4057570" y="6564573"/>
            <a:ext cx="4178461" cy="2934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5100" y="161925"/>
            <a:ext cx="10515600" cy="688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2322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" y="6564573"/>
            <a:ext cx="4057570" cy="29342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8153400" y="6564573"/>
            <a:ext cx="4038600" cy="29342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6555733"/>
            <a:ext cx="13949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0" i="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Kyle</a:t>
            </a:r>
            <a:r>
              <a:rPr lang="en-US" sz="1500" b="0" i="0" baseline="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 Bradbury</a:t>
            </a:r>
            <a:endParaRPr lang="en-US" sz="1500" b="0" i="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756470" y="6555733"/>
            <a:ext cx="4203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27C9E00B-57BA-A241-BC8A-5BB654B05914}" type="slidenum">
              <a:rPr lang="en-US" sz="1500" b="0" i="0" smtClean="0">
                <a:solidFill>
                  <a:schemeClr val="tx1">
                    <a:lumMod val="95000"/>
                    <a:lumOff val="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‹#›</a:t>
            </a:fld>
            <a:endParaRPr lang="en-US" sz="1500" b="0" i="0" dirty="0">
              <a:solidFill>
                <a:schemeClr val="tx1">
                  <a:lumMod val="95000"/>
                  <a:lumOff val="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4057569" y="6555733"/>
            <a:ext cx="40806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Decision Theory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8159669" y="6555733"/>
            <a:ext cx="295283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Lecture</a:t>
            </a:r>
            <a:r>
              <a:rPr lang="en-US" sz="1500" b="0" i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8</a:t>
            </a:r>
            <a:endParaRPr lang="en-US" sz="1500" b="0" i="0" dirty="0">
              <a:solidFill>
                <a:schemeClr val="tx1">
                  <a:lumMod val="95000"/>
                  <a:lumOff val="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422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>
              <a:lumMod val="75000"/>
              <a:lumOff val="25000"/>
            </a:schemeClr>
          </a:solidFill>
          <a:latin typeface="Helvetica" charset="0"/>
          <a:ea typeface="Helvetica" charset="0"/>
          <a:cs typeface="Helvetic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Arial"/>
        <a:buChar char="•"/>
        <a:defRPr sz="2800" b="0" i="0" kern="1200">
          <a:solidFill>
            <a:schemeClr val="bg2">
              <a:lumMod val="25000"/>
            </a:schemeClr>
          </a:solidFill>
          <a:latin typeface="Helvetica Light" charset="0"/>
          <a:ea typeface="Helvetica Light" charset="0"/>
          <a:cs typeface="Helvetica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/>
        <a:buChar char="•"/>
        <a:defRPr sz="2400" b="0" i="0" kern="1200">
          <a:solidFill>
            <a:schemeClr val="bg2">
              <a:lumMod val="25000"/>
            </a:schemeClr>
          </a:solidFill>
          <a:latin typeface="Helvetica Light" charset="0"/>
          <a:ea typeface="Helvetica Light" charset="0"/>
          <a:cs typeface="Helvetica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/>
        <a:buChar char="•"/>
        <a:defRPr sz="2000" b="0" i="0" kern="1200">
          <a:solidFill>
            <a:schemeClr val="bg2">
              <a:lumMod val="25000"/>
            </a:schemeClr>
          </a:solidFill>
          <a:latin typeface="Helvetica Light" charset="0"/>
          <a:ea typeface="Helvetica Light" charset="0"/>
          <a:cs typeface="Helvetica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/>
        <a:buChar char="•"/>
        <a:defRPr sz="1800" b="0" i="0" kern="1200">
          <a:solidFill>
            <a:schemeClr val="bg2">
              <a:lumMod val="25000"/>
            </a:schemeClr>
          </a:solidFill>
          <a:latin typeface="Helvetica Light" charset="0"/>
          <a:ea typeface="Helvetica Light" charset="0"/>
          <a:cs typeface="Helvetica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/>
        <a:buChar char="•"/>
        <a:defRPr sz="1800" b="0" i="0" kern="1200">
          <a:solidFill>
            <a:schemeClr val="bg2">
              <a:lumMod val="25000"/>
            </a:schemeClr>
          </a:solidFill>
          <a:latin typeface="Helvetica Light" charset="0"/>
          <a:ea typeface="Helvetica Light" charset="0"/>
          <a:cs typeface="Helvetica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12.png"/><Relationship Id="rId18" Type="http://schemas.openxmlformats.org/officeDocument/2006/relationships/image" Target="../media/image14.png"/><Relationship Id="rId3" Type="http://schemas.openxmlformats.org/officeDocument/2006/relationships/image" Target="../media/image210.png"/><Relationship Id="rId7" Type="http://schemas.openxmlformats.org/officeDocument/2006/relationships/image" Target="../media/image6.png"/><Relationship Id="rId12" Type="http://schemas.openxmlformats.org/officeDocument/2006/relationships/image" Target="../media/image111.png"/><Relationship Id="rId17" Type="http://schemas.openxmlformats.org/officeDocument/2006/relationships/image" Target="../media/image13.png"/><Relationship Id="rId2" Type="http://schemas.openxmlformats.org/officeDocument/2006/relationships/image" Target="../media/image110.png"/><Relationship Id="rId16" Type="http://schemas.openxmlformats.org/officeDocument/2006/relationships/image" Target="../media/image12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0.png"/><Relationship Id="rId5" Type="http://schemas.openxmlformats.org/officeDocument/2006/relationships/image" Target="../media/image4.png"/><Relationship Id="rId15" Type="http://schemas.openxmlformats.org/officeDocument/2006/relationships/image" Target="../media/image11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11.png"/><Relationship Id="rId9" Type="http://schemas.openxmlformats.org/officeDocument/2006/relationships/image" Target="../media/image8.png"/><Relationship Id="rId1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16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0.png"/><Relationship Id="rId1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2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21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9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9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9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170.png"/><Relationship Id="rId7" Type="http://schemas.openxmlformats.org/officeDocument/2006/relationships/image" Target="../media/image2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21.png"/><Relationship Id="rId4" Type="http://schemas.openxmlformats.org/officeDocument/2006/relationships/image" Target="../media/image45.png"/><Relationship Id="rId9" Type="http://schemas.openxmlformats.org/officeDocument/2006/relationships/image" Target="../media/image49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21.png"/><Relationship Id="rId12" Type="http://schemas.openxmlformats.org/officeDocument/2006/relationships/image" Target="../media/image5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2.png"/><Relationship Id="rId10" Type="http://schemas.openxmlformats.org/officeDocument/2006/relationships/image" Target="../media/image51.png"/><Relationship Id="rId9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21.png"/><Relationship Id="rId12" Type="http://schemas.openxmlformats.org/officeDocument/2006/relationships/image" Target="../media/image5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2.png"/><Relationship Id="rId10" Type="http://schemas.openxmlformats.org/officeDocument/2006/relationships/image" Target="../media/image51.png"/><Relationship Id="rId9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21.png"/><Relationship Id="rId12" Type="http://schemas.openxmlformats.org/officeDocument/2006/relationships/image" Target="../media/image5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2.png"/><Relationship Id="rId10" Type="http://schemas.openxmlformats.org/officeDocument/2006/relationships/image" Target="../media/image51.png"/><Relationship Id="rId9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21.png"/><Relationship Id="rId12" Type="http://schemas.openxmlformats.org/officeDocument/2006/relationships/image" Target="../media/image54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2.png"/><Relationship Id="rId10" Type="http://schemas.openxmlformats.org/officeDocument/2006/relationships/image" Target="../media/image51.png"/><Relationship Id="rId9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21.png"/><Relationship Id="rId12" Type="http://schemas.openxmlformats.org/officeDocument/2006/relationships/image" Target="../media/image5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2.png"/><Relationship Id="rId10" Type="http://schemas.openxmlformats.org/officeDocument/2006/relationships/image" Target="../media/image51.png"/><Relationship Id="rId9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Decision Theory</a:t>
            </a:r>
          </a:p>
        </p:txBody>
      </p:sp>
    </p:spTree>
    <p:extLst>
      <p:ext uri="{BB962C8B-B14F-4D97-AF65-F5344CB8AC3E}">
        <p14:creationId xmlns:p14="http://schemas.microsoft.com/office/powerpoint/2010/main" val="16000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52D8-5A11-31DD-7C38-8C3D9EF47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161925"/>
            <a:ext cx="10515600" cy="688975"/>
          </a:xfrm>
        </p:spPr>
        <p:txBody>
          <a:bodyPr/>
          <a:lstStyle/>
          <a:p>
            <a:r>
              <a:rPr lang="en-US" dirty="0"/>
              <a:t>Performance evaluation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CEABCC-78DD-8868-2FA5-C2A41787042E}"/>
              </a:ext>
            </a:extLst>
          </p:cNvPr>
          <p:cNvSpPr txBox="1"/>
          <p:nvPr/>
        </p:nvSpPr>
        <p:spPr>
          <a:xfrm>
            <a:off x="621955" y="1695966"/>
            <a:ext cx="3046142" cy="31085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Metrics &amp; Evaluation</a:t>
            </a:r>
            <a:endParaRPr lang="en-US" sz="2400" b="1" dirty="0">
              <a:solidFill>
                <a:srgbClr val="404040"/>
              </a:solidFill>
              <a:latin typeface="Helvetica" pitchFamily="2" charset="0"/>
              <a:ea typeface="Helvetica Light" charset="0"/>
              <a:cs typeface="Helvetica Light" charset="0"/>
            </a:endParaRPr>
          </a:p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rPr>
              <a:t>(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</a:rPr>
              <a:t>regression/classification metrics, ROC curves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rPr>
              <a:t>)</a:t>
            </a:r>
          </a:p>
          <a:p>
            <a:pPr algn="ctr"/>
            <a:endParaRPr lang="en-US" sz="2400" dirty="0">
              <a:solidFill>
                <a:srgbClr val="404040"/>
              </a:solidFill>
              <a:latin typeface="Helvetica Light" charset="0"/>
              <a:ea typeface="Helvetica Light" charset="0"/>
              <a:cs typeface="Helvetica Light" charset="0"/>
            </a:endParaRPr>
          </a:p>
          <a:p>
            <a:pPr algn="ctr"/>
            <a:endParaRPr lang="en-US" sz="2400" dirty="0">
              <a:solidFill>
                <a:srgbClr val="404040"/>
              </a:solidFill>
              <a:latin typeface="Helvetica Light" charset="0"/>
              <a:ea typeface="Helvetica Light" charset="0"/>
              <a:cs typeface="Helvetica Light" charset="0"/>
            </a:endParaRPr>
          </a:p>
          <a:p>
            <a:pPr algn="ctr"/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Quantify model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40E2A2-EFBB-F3F0-EE69-6274815AA0FB}"/>
              </a:ext>
            </a:extLst>
          </p:cNvPr>
          <p:cNvSpPr txBox="1"/>
          <p:nvPr/>
        </p:nvSpPr>
        <p:spPr>
          <a:xfrm>
            <a:off x="4133275" y="4040023"/>
            <a:ext cx="3160566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Performance Evaluation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C76064-322C-AB3C-2E8E-1974B3308714}"/>
              </a:ext>
            </a:extLst>
          </p:cNvPr>
          <p:cNvSpPr/>
          <p:nvPr/>
        </p:nvSpPr>
        <p:spPr>
          <a:xfrm>
            <a:off x="505796" y="1286848"/>
            <a:ext cx="3278459" cy="392678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852482-98BD-CD6D-701F-A6F396DEE9FF}"/>
              </a:ext>
            </a:extLst>
          </p:cNvPr>
          <p:cNvSpPr/>
          <p:nvPr/>
        </p:nvSpPr>
        <p:spPr>
          <a:xfrm>
            <a:off x="4004743" y="1286848"/>
            <a:ext cx="7685902" cy="392678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2E658-72C1-202A-F5AA-CEBC4D07D76C}"/>
              </a:ext>
            </a:extLst>
          </p:cNvPr>
          <p:cNvSpPr txBox="1"/>
          <p:nvPr/>
        </p:nvSpPr>
        <p:spPr>
          <a:xfrm>
            <a:off x="7156705" y="4321784"/>
            <a:ext cx="435880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Estimate generalization performance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56882D-6D25-ACDA-5023-D63C68AA087B}"/>
              </a:ext>
            </a:extLst>
          </p:cNvPr>
          <p:cNvSpPr txBox="1"/>
          <p:nvPr/>
        </p:nvSpPr>
        <p:spPr>
          <a:xfrm>
            <a:off x="4133275" y="2757457"/>
            <a:ext cx="3160566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Model Comparison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67FDD4-3E12-112A-758C-6BBACBA9FC73}"/>
              </a:ext>
            </a:extLst>
          </p:cNvPr>
          <p:cNvSpPr txBox="1"/>
          <p:nvPr/>
        </p:nvSpPr>
        <p:spPr>
          <a:xfrm>
            <a:off x="4133275" y="1442653"/>
            <a:ext cx="3160566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Experimental Design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C03E4E-7A85-BBE3-859D-53639EE925AE}"/>
              </a:ext>
            </a:extLst>
          </p:cNvPr>
          <p:cNvCxnSpPr>
            <a:cxnSpLocks/>
          </p:cNvCxnSpPr>
          <p:nvPr/>
        </p:nvCxnSpPr>
        <p:spPr>
          <a:xfrm>
            <a:off x="4584192" y="2603608"/>
            <a:ext cx="683971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14224CB-8E09-67BA-E6BA-8B8A61014727}"/>
              </a:ext>
            </a:extLst>
          </p:cNvPr>
          <p:cNvSpPr txBox="1"/>
          <p:nvPr/>
        </p:nvSpPr>
        <p:spPr>
          <a:xfrm>
            <a:off x="7156705" y="2843991"/>
            <a:ext cx="435880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Fairly </a:t>
            </a:r>
            <a:r>
              <a:rPr lang="en-US" sz="2000" b="1" dirty="0">
                <a:solidFill>
                  <a:srgbClr val="00B04F"/>
                </a:solidFill>
                <a:latin typeface="Helvetica" pitchFamily="2" charset="0"/>
                <a:ea typeface="Helvetica Light" charset="0"/>
                <a:cs typeface="Helvetica Light" charset="0"/>
              </a:rPr>
              <a:t>compare</a:t>
            </a:r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 model generalization performance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490419-F161-1AF3-2AA3-7E598B871840}"/>
              </a:ext>
            </a:extLst>
          </p:cNvPr>
          <p:cNvSpPr txBox="1"/>
          <p:nvPr/>
        </p:nvSpPr>
        <p:spPr>
          <a:xfrm>
            <a:off x="7069285" y="1453459"/>
            <a:ext cx="4446231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Set of decisions to fairly compare models to determine what impacts model performance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7DE651-F60B-8584-9415-D0E5622DA580}"/>
              </a:ext>
            </a:extLst>
          </p:cNvPr>
          <p:cNvCxnSpPr>
            <a:cxnSpLocks/>
          </p:cNvCxnSpPr>
          <p:nvPr/>
        </p:nvCxnSpPr>
        <p:spPr>
          <a:xfrm flipV="1">
            <a:off x="4279392" y="2012753"/>
            <a:ext cx="0" cy="2330854"/>
          </a:xfrm>
          <a:prstGeom prst="straightConnector1">
            <a:avLst/>
          </a:prstGeom>
          <a:ln w="5715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6AD11B-D1AA-DB29-C091-9C748BD40219}"/>
              </a:ext>
            </a:extLst>
          </p:cNvPr>
          <p:cNvCxnSpPr>
            <a:cxnSpLocks/>
          </p:cNvCxnSpPr>
          <p:nvPr/>
        </p:nvCxnSpPr>
        <p:spPr>
          <a:xfrm>
            <a:off x="4584192" y="3920344"/>
            <a:ext cx="683971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367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6F360-692E-A440-81C6-F736C9E4C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 </a:t>
            </a:r>
            <a:r>
              <a:rPr lang="en-US" dirty="0">
                <a:sym typeface="Wingdings" pitchFamily="2" charset="2"/>
              </a:rPr>
              <a:t> Application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E66D59-DCEF-BCC7-9027-B82DCB224E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632217" y="1738176"/>
            <a:ext cx="3861033" cy="357066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DCA4596-C2DB-8786-882F-F994509B5E0B}"/>
              </a:ext>
            </a:extLst>
          </p:cNvPr>
          <p:cNvSpPr/>
          <p:nvPr/>
        </p:nvSpPr>
        <p:spPr>
          <a:xfrm>
            <a:off x="1445381" y="4600709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6DFDF9-4E05-E29B-C0BB-30C9E35F78C2}"/>
              </a:ext>
            </a:extLst>
          </p:cNvPr>
          <p:cNvGrpSpPr/>
          <p:nvPr/>
        </p:nvGrpSpPr>
        <p:grpSpPr>
          <a:xfrm>
            <a:off x="1445381" y="3710372"/>
            <a:ext cx="126504" cy="1006768"/>
            <a:chOff x="902064" y="1922402"/>
            <a:chExt cx="126504" cy="10067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7EB97E8-235E-A4E7-46C4-3B71DD4D6A6B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F15F22B-B90F-B399-F661-84D7FAEA98DD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07CCCB-26AE-20C7-2A83-2621DA0DFC29}"/>
              </a:ext>
            </a:extLst>
          </p:cNvPr>
          <p:cNvGrpSpPr/>
          <p:nvPr/>
        </p:nvGrpSpPr>
        <p:grpSpPr>
          <a:xfrm>
            <a:off x="1445381" y="2858608"/>
            <a:ext cx="126504" cy="1025275"/>
            <a:chOff x="902064" y="1070638"/>
            <a:chExt cx="126504" cy="102527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7DD50DC-9574-BB44-E99C-4B0909BEA5CC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88A4137-93DA-76B9-C7D1-8CB30BD47DE7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304523-F02B-1AE8-2B27-0B7590536475}"/>
              </a:ext>
            </a:extLst>
          </p:cNvPr>
          <p:cNvGrpSpPr/>
          <p:nvPr/>
        </p:nvGrpSpPr>
        <p:grpSpPr>
          <a:xfrm>
            <a:off x="2791389" y="1907933"/>
            <a:ext cx="126504" cy="1020326"/>
            <a:chOff x="2248072" y="119963"/>
            <a:chExt cx="126504" cy="102032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509F2B8-050C-85BE-8B4F-F138FA128C2F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CB2EC98-B1D0-B167-B4F9-733715E12297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432C1B6-2235-4E41-3A20-EEB654326415}"/>
              </a:ext>
            </a:extLst>
          </p:cNvPr>
          <p:cNvGrpSpPr/>
          <p:nvPr/>
        </p:nvGrpSpPr>
        <p:grpSpPr>
          <a:xfrm>
            <a:off x="1508633" y="2858608"/>
            <a:ext cx="1409260" cy="126504"/>
            <a:chOff x="965316" y="1070638"/>
            <a:chExt cx="1409260" cy="126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D843CA8-AA1E-06CC-294C-F58FA0FC0770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E7F2E16-9EED-B696-E9D4-DDB1C79E8933}"/>
                </a:ext>
              </a:extLst>
            </p:cNvPr>
            <p:cNvCxnSpPr>
              <a:stCxn id="20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8B923D5-24EC-5989-D886-35C3B2F9DB25}"/>
              </a:ext>
            </a:extLst>
          </p:cNvPr>
          <p:cNvGrpSpPr/>
          <p:nvPr/>
        </p:nvGrpSpPr>
        <p:grpSpPr>
          <a:xfrm>
            <a:off x="2820774" y="1907933"/>
            <a:ext cx="1456095" cy="126504"/>
            <a:chOff x="2277457" y="119963"/>
            <a:chExt cx="1456095" cy="12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C9F8845-358C-7F6D-0B1B-1C3B0D1CCDAF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75AD69F-F773-0554-F19A-81DF33D7FD80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FD5F41E-D867-CB67-69F9-792B37FD0A1E}"/>
                  </a:ext>
                </a:extLst>
              </p:cNvPr>
              <p:cNvSpPr txBox="1"/>
              <p:nvPr/>
            </p:nvSpPr>
            <p:spPr>
              <a:xfrm>
                <a:off x="1528437" y="5005251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FD5F41E-D867-CB67-69F9-792B37FD0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437" y="5005251"/>
                <a:ext cx="2742336" cy="369332"/>
              </a:xfrm>
              <a:prstGeom prst="rect">
                <a:avLst/>
              </a:prstGeom>
              <a:blipFill>
                <a:blip r:embed="rId3"/>
                <a:stretch>
                  <a:fillRect l="-1843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CE41FE4-5BF8-CC30-1877-EC078DC8A28D}"/>
                  </a:ext>
                </a:extLst>
              </p:cNvPr>
              <p:cNvSpPr txBox="1"/>
              <p:nvPr/>
            </p:nvSpPr>
            <p:spPr>
              <a:xfrm rot="16200000">
                <a:off x="-675009" y="3136864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CE41FE4-5BF8-CC30-1877-EC078DC8A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75009" y="3136864"/>
                <a:ext cx="2797304" cy="369332"/>
              </a:xfrm>
              <a:prstGeom prst="rect">
                <a:avLst/>
              </a:prstGeom>
              <a:blipFill>
                <a:blip r:embed="rId4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E3EB189-0963-0CDE-7BAC-733C8C7D4E9E}"/>
              </a:ext>
            </a:extLst>
          </p:cNvPr>
          <p:cNvCxnSpPr>
            <a:stCxn id="8" idx="3"/>
          </p:cNvCxnSpPr>
          <p:nvPr/>
        </p:nvCxnSpPr>
        <p:spPr>
          <a:xfrm flipV="1">
            <a:off x="4493250" y="3509554"/>
            <a:ext cx="1776921" cy="1395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555FA4A-6AC2-3A85-B34A-CE14979507FA}"/>
              </a:ext>
            </a:extLst>
          </p:cNvPr>
          <p:cNvSpPr txBox="1"/>
          <p:nvPr/>
        </p:nvSpPr>
        <p:spPr>
          <a:xfrm>
            <a:off x="632217" y="1227909"/>
            <a:ext cx="5120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How do we use this information…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F8707DB-43C1-C9C2-94DB-4C79B7F6A0CB}"/>
              </a:ext>
            </a:extLst>
          </p:cNvPr>
          <p:cNvSpPr txBox="1"/>
          <p:nvPr/>
        </p:nvSpPr>
        <p:spPr>
          <a:xfrm>
            <a:off x="6414709" y="3291841"/>
            <a:ext cx="4937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…to make practical predictions?</a:t>
            </a:r>
          </a:p>
        </p:txBody>
      </p:sp>
    </p:spTree>
    <p:extLst>
      <p:ext uri="{BB962C8B-B14F-4D97-AF65-F5344CB8AC3E}">
        <p14:creationId xmlns:p14="http://schemas.microsoft.com/office/powerpoint/2010/main" val="881016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85" y="2948257"/>
            <a:ext cx="10515600" cy="688975"/>
          </a:xfrm>
        </p:spPr>
        <p:txBody>
          <a:bodyPr/>
          <a:lstStyle/>
          <a:p>
            <a:pPr algn="ctr"/>
            <a:r>
              <a:rPr lang="en-US" dirty="0"/>
              <a:t>Time to make a decision…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7C525-2985-634B-BF57-055F345FA611}"/>
              </a:ext>
            </a:extLst>
          </p:cNvPr>
          <p:cNvSpPr txBox="1"/>
          <p:nvPr/>
        </p:nvSpPr>
        <p:spPr>
          <a:xfrm>
            <a:off x="6864901" y="6231468"/>
            <a:ext cx="5327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rPr>
              <a:t>Exercise inspired by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rPr>
              <a:t>Mausam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rPr>
              <a:t>, University of Washington, CSE573</a:t>
            </a:r>
          </a:p>
        </p:txBody>
      </p:sp>
    </p:spTree>
    <p:extLst>
      <p:ext uri="{BB962C8B-B14F-4D97-AF65-F5344CB8AC3E}">
        <p14:creationId xmlns:p14="http://schemas.microsoft.com/office/powerpoint/2010/main" val="620111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F0AE-BA8D-DF48-B565-7ED20F8B2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3679" y="3083470"/>
            <a:ext cx="4540673" cy="1502030"/>
          </a:xfrm>
        </p:spPr>
        <p:txBody>
          <a:bodyPr/>
          <a:lstStyle/>
          <a:p>
            <a:r>
              <a:rPr lang="en-US" dirty="0"/>
              <a:t>How to invest</a:t>
            </a:r>
            <a:br>
              <a:rPr lang="en-US" dirty="0"/>
            </a:br>
            <a:r>
              <a:rPr lang="en-US" dirty="0"/>
              <a:t>$10,000?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61761-E6BA-6443-AC92-D3117E05FAE0}"/>
              </a:ext>
            </a:extLst>
          </p:cNvPr>
          <p:cNvSpPr txBox="1"/>
          <p:nvPr/>
        </p:nvSpPr>
        <p:spPr>
          <a:xfrm>
            <a:off x="2822227" y="910530"/>
            <a:ext cx="23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State of Nature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D0B71-BB8A-6642-8713-58E97B138635}"/>
              </a:ext>
            </a:extLst>
          </p:cNvPr>
          <p:cNvSpPr txBox="1"/>
          <p:nvPr/>
        </p:nvSpPr>
        <p:spPr>
          <a:xfrm rot="16200000">
            <a:off x="-360317" y="3846371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Action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A05971F-FAC1-5B43-BEF5-E8F1B7732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967948"/>
              </p:ext>
            </p:extLst>
          </p:nvPr>
        </p:nvGraphicFramePr>
        <p:xfrm>
          <a:off x="2354349" y="2567642"/>
          <a:ext cx="3310124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2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  <a:gridCol w="1655062">
                  <a:extLst>
                    <a:ext uri="{9D8B030D-6E8A-4147-A177-3AD203B41FA5}">
                      <a16:colId xmlns:a16="http://schemas.microsoft.com/office/drawing/2014/main" val="696407320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2,100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BD2E16F-9ECB-3F46-8E16-9B95B0BFF64B}"/>
              </a:ext>
            </a:extLst>
          </p:cNvPr>
          <p:cNvSpPr txBox="1"/>
          <p:nvPr/>
        </p:nvSpPr>
        <p:spPr>
          <a:xfrm>
            <a:off x="2235200" y="1483953"/>
            <a:ext cx="1905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Poor market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C1686-F3DF-FF45-9B7A-8A3A767DB16A}"/>
              </a:ext>
            </a:extLst>
          </p:cNvPr>
          <p:cNvSpPr txBox="1"/>
          <p:nvPr/>
        </p:nvSpPr>
        <p:spPr>
          <a:xfrm>
            <a:off x="3750244" y="1483953"/>
            <a:ext cx="2242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Good market performance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FE0B10-BBE3-5245-9086-AB2089A427F4}"/>
              </a:ext>
            </a:extLst>
          </p:cNvPr>
          <p:cNvSpPr txBox="1"/>
          <p:nvPr/>
        </p:nvSpPr>
        <p:spPr>
          <a:xfrm>
            <a:off x="557757" y="2796816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Apple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84B7C1-696A-AD47-8E39-18C3929A6BD3}"/>
              </a:ext>
            </a:extLst>
          </p:cNvPr>
          <p:cNvSpPr txBox="1"/>
          <p:nvPr/>
        </p:nvSpPr>
        <p:spPr>
          <a:xfrm>
            <a:off x="540213" y="3834485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Google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4EBD35-3692-E146-A416-B6DE4C1F7EFB}"/>
              </a:ext>
            </a:extLst>
          </p:cNvPr>
          <p:cNvSpPr txBox="1"/>
          <p:nvPr/>
        </p:nvSpPr>
        <p:spPr>
          <a:xfrm>
            <a:off x="540213" y="4873572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bonds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ED087-EEFA-C343-BE75-BFFA70F8F67C}"/>
              </a:ext>
            </a:extLst>
          </p:cNvPr>
          <p:cNvSpPr txBox="1"/>
          <p:nvPr/>
        </p:nvSpPr>
        <p:spPr>
          <a:xfrm>
            <a:off x="101600" y="-136144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996E51-7731-DC40-A961-4CCC4C5CA1C4}"/>
              </a:ext>
            </a:extLst>
          </p:cNvPr>
          <p:cNvSpPr txBox="1"/>
          <p:nvPr/>
        </p:nvSpPr>
        <p:spPr>
          <a:xfrm>
            <a:off x="227584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Payoff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0A73A-0F31-CD41-AFE1-D92AA54ECB27}"/>
              </a:ext>
            </a:extLst>
          </p:cNvPr>
          <p:cNvSpPr txBox="1"/>
          <p:nvPr/>
        </p:nvSpPr>
        <p:spPr>
          <a:xfrm>
            <a:off x="386080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4473" y="4814490"/>
            <a:ext cx="1415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Guaranteed</a:t>
            </a:r>
          </a:p>
          <a:p>
            <a:r>
              <a:rPr lang="en-US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5% 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4473" y="2760304"/>
            <a:ext cx="1465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-10% to </a:t>
            </a:r>
          </a:p>
          <a:p>
            <a:r>
              <a:rPr lang="en-US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+17%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4473" y="3803112"/>
            <a:ext cx="1465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-20% to </a:t>
            </a:r>
          </a:p>
          <a:p>
            <a:r>
              <a:rPr lang="en-US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+21% return</a:t>
            </a:r>
          </a:p>
        </p:txBody>
      </p:sp>
    </p:spTree>
    <p:extLst>
      <p:ext uri="{BB962C8B-B14F-4D97-AF65-F5344CB8AC3E}">
        <p14:creationId xmlns:p14="http://schemas.microsoft.com/office/powerpoint/2010/main" val="342394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F0AE-BA8D-DF48-B565-7ED20F8B2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161925"/>
            <a:ext cx="6733241" cy="688975"/>
          </a:xfrm>
        </p:spPr>
        <p:txBody>
          <a:bodyPr/>
          <a:lstStyle/>
          <a:p>
            <a:r>
              <a:rPr lang="en-US" dirty="0">
                <a:solidFill>
                  <a:srgbClr val="404040"/>
                </a:solidFill>
              </a:rPr>
              <a:t>Maximax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61761-E6BA-6443-AC92-D3117E05FAE0}"/>
              </a:ext>
            </a:extLst>
          </p:cNvPr>
          <p:cNvSpPr txBox="1"/>
          <p:nvPr/>
        </p:nvSpPr>
        <p:spPr>
          <a:xfrm>
            <a:off x="2822227" y="910530"/>
            <a:ext cx="23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State of Nature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D0B71-BB8A-6642-8713-58E97B138635}"/>
              </a:ext>
            </a:extLst>
          </p:cNvPr>
          <p:cNvSpPr txBox="1"/>
          <p:nvPr/>
        </p:nvSpPr>
        <p:spPr>
          <a:xfrm rot="16200000">
            <a:off x="-360317" y="3846371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Action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A05971F-FAC1-5B43-BEF5-E8F1B7732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1735983"/>
              </p:ext>
            </p:extLst>
          </p:nvPr>
        </p:nvGraphicFramePr>
        <p:xfrm>
          <a:off x="2354349" y="2567642"/>
          <a:ext cx="3310124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2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  <a:gridCol w="1655062">
                  <a:extLst>
                    <a:ext uri="{9D8B030D-6E8A-4147-A177-3AD203B41FA5}">
                      <a16:colId xmlns:a16="http://schemas.microsoft.com/office/drawing/2014/main" val="696407320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2,100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BD2E16F-9ECB-3F46-8E16-9B95B0BFF64B}"/>
              </a:ext>
            </a:extLst>
          </p:cNvPr>
          <p:cNvSpPr txBox="1"/>
          <p:nvPr/>
        </p:nvSpPr>
        <p:spPr>
          <a:xfrm>
            <a:off x="2235200" y="1483953"/>
            <a:ext cx="1905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Poor market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C1686-F3DF-FF45-9B7A-8A3A767DB16A}"/>
              </a:ext>
            </a:extLst>
          </p:cNvPr>
          <p:cNvSpPr txBox="1"/>
          <p:nvPr/>
        </p:nvSpPr>
        <p:spPr>
          <a:xfrm>
            <a:off x="3750244" y="1483953"/>
            <a:ext cx="2242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Good market performance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4EBD35-3692-E146-A416-B6DE4C1F7EFB}"/>
              </a:ext>
            </a:extLst>
          </p:cNvPr>
          <p:cNvSpPr txBox="1"/>
          <p:nvPr/>
        </p:nvSpPr>
        <p:spPr>
          <a:xfrm>
            <a:off x="540213" y="4873572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bonds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ED087-EEFA-C343-BE75-BFFA70F8F67C}"/>
              </a:ext>
            </a:extLst>
          </p:cNvPr>
          <p:cNvSpPr txBox="1"/>
          <p:nvPr/>
        </p:nvSpPr>
        <p:spPr>
          <a:xfrm>
            <a:off x="101600" y="-136144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>
              <a:solidFill>
                <a:srgbClr val="404040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996E51-7731-DC40-A961-4CCC4C5CA1C4}"/>
              </a:ext>
            </a:extLst>
          </p:cNvPr>
          <p:cNvSpPr txBox="1"/>
          <p:nvPr/>
        </p:nvSpPr>
        <p:spPr>
          <a:xfrm>
            <a:off x="227584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Payoff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0A73A-0F31-CD41-AFE1-D92AA54ECB27}"/>
              </a:ext>
            </a:extLst>
          </p:cNvPr>
          <p:cNvSpPr txBox="1"/>
          <p:nvPr/>
        </p:nvSpPr>
        <p:spPr>
          <a:xfrm>
            <a:off x="386080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Payoff</a:t>
            </a:r>
          </a:p>
        </p:txBody>
      </p:sp>
      <p:graphicFrame>
        <p:nvGraphicFramePr>
          <p:cNvPr id="44" name="Content Placeholder 8">
            <a:extLst>
              <a:ext uri="{FF2B5EF4-FFF2-40B4-BE49-F238E27FC236}">
                <a16:creationId xmlns:a16="http://schemas.microsoft.com/office/drawing/2014/main" id="{C73D58F6-EAB2-5F4D-97DB-8B76AC9F4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7521804"/>
              </p:ext>
            </p:extLst>
          </p:nvPr>
        </p:nvGraphicFramePr>
        <p:xfrm>
          <a:off x="5664442" y="2567642"/>
          <a:ext cx="1655062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2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2,100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32EB21F2-463F-F64C-B937-4D2627DE554F}"/>
              </a:ext>
            </a:extLst>
          </p:cNvPr>
          <p:cNvSpPr txBox="1"/>
          <p:nvPr/>
        </p:nvSpPr>
        <p:spPr>
          <a:xfrm>
            <a:off x="5724206" y="1500020"/>
            <a:ext cx="1595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Maximum payoff for an action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657D96-8113-314F-ABAA-56965A65EA6C}"/>
              </a:ext>
            </a:extLst>
          </p:cNvPr>
          <p:cNvSpPr txBox="1"/>
          <p:nvPr/>
        </p:nvSpPr>
        <p:spPr>
          <a:xfrm>
            <a:off x="7577477" y="202266"/>
            <a:ext cx="46350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ea typeface="Helvetica Light" charset="0"/>
                <a:cs typeface="Helvetica Light" charset="0"/>
              </a:rPr>
              <a:t>Optimism</a:t>
            </a:r>
          </a:p>
          <a:p>
            <a:endParaRPr lang="en-US" sz="2800" dirty="0">
              <a:solidFill>
                <a:srgbClr val="404040"/>
              </a:solidFill>
              <a:latin typeface="Helvetica Light" charset="0"/>
              <a:ea typeface="Helvetica Light" charset="0"/>
              <a:cs typeface="Helvetica Light" charset="0"/>
            </a:endParaRPr>
          </a:p>
          <a:p>
            <a:r>
              <a:rPr lang="en-US" sz="28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Select the maximum of the maximum payoff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E27119-1DC6-FB4E-8EBE-057B044235C0}"/>
              </a:ext>
            </a:extLst>
          </p:cNvPr>
          <p:cNvSpPr txBox="1"/>
          <p:nvPr/>
        </p:nvSpPr>
        <p:spPr>
          <a:xfrm>
            <a:off x="8604561" y="3834485"/>
            <a:ext cx="2760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Maximax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57685C-A601-CE44-96AF-3134F930AE46}"/>
              </a:ext>
            </a:extLst>
          </p:cNvPr>
          <p:cNvSpPr txBox="1"/>
          <p:nvPr/>
        </p:nvSpPr>
        <p:spPr>
          <a:xfrm>
            <a:off x="5578088" y="916002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Criterion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D7822B-4E19-1B42-9E7F-3EFB4EC8E569}"/>
              </a:ext>
            </a:extLst>
          </p:cNvPr>
          <p:cNvCxnSpPr/>
          <p:nvPr/>
        </p:nvCxnSpPr>
        <p:spPr>
          <a:xfrm flipH="1">
            <a:off x="7594840" y="4132223"/>
            <a:ext cx="1248936" cy="0"/>
          </a:xfrm>
          <a:prstGeom prst="straightConnector1">
            <a:avLst/>
          </a:prstGeom>
          <a:ln w="3810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5D5D02C-8F5F-4148-8713-E63DEB14DF9D}"/>
              </a:ext>
            </a:extLst>
          </p:cNvPr>
          <p:cNvSpPr txBox="1"/>
          <p:nvPr/>
        </p:nvSpPr>
        <p:spPr>
          <a:xfrm>
            <a:off x="557757" y="2796816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Apple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D7433E-3CD1-9F4E-A090-C577464A05F6}"/>
              </a:ext>
            </a:extLst>
          </p:cNvPr>
          <p:cNvSpPr txBox="1"/>
          <p:nvPr/>
        </p:nvSpPr>
        <p:spPr>
          <a:xfrm>
            <a:off x="540213" y="3834485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Google</a:t>
            </a:r>
          </a:p>
        </p:txBody>
      </p:sp>
    </p:spTree>
    <p:extLst>
      <p:ext uri="{BB962C8B-B14F-4D97-AF65-F5344CB8AC3E}">
        <p14:creationId xmlns:p14="http://schemas.microsoft.com/office/powerpoint/2010/main" val="47467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F0AE-BA8D-DF48-B565-7ED20F8B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404040"/>
                </a:solidFill>
              </a:rPr>
              <a:t>Maximin</a:t>
            </a:r>
            <a:endParaRPr lang="en-US" dirty="0">
              <a:solidFill>
                <a:srgbClr val="40404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61761-E6BA-6443-AC92-D3117E05FAE0}"/>
              </a:ext>
            </a:extLst>
          </p:cNvPr>
          <p:cNvSpPr txBox="1"/>
          <p:nvPr/>
        </p:nvSpPr>
        <p:spPr>
          <a:xfrm>
            <a:off x="2822227" y="910530"/>
            <a:ext cx="23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State of Nature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D0B71-BB8A-6642-8713-58E97B138635}"/>
              </a:ext>
            </a:extLst>
          </p:cNvPr>
          <p:cNvSpPr txBox="1"/>
          <p:nvPr/>
        </p:nvSpPr>
        <p:spPr>
          <a:xfrm rot="16200000">
            <a:off x="-360317" y="3846371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Action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A05971F-FAC1-5B43-BEF5-E8F1B7732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128961"/>
              </p:ext>
            </p:extLst>
          </p:nvPr>
        </p:nvGraphicFramePr>
        <p:xfrm>
          <a:off x="2354349" y="2567642"/>
          <a:ext cx="3310124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2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  <a:gridCol w="1655062">
                  <a:extLst>
                    <a:ext uri="{9D8B030D-6E8A-4147-A177-3AD203B41FA5}">
                      <a16:colId xmlns:a16="http://schemas.microsoft.com/office/drawing/2014/main" val="696407320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2,100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BD2E16F-9ECB-3F46-8E16-9B95B0BFF64B}"/>
              </a:ext>
            </a:extLst>
          </p:cNvPr>
          <p:cNvSpPr txBox="1"/>
          <p:nvPr/>
        </p:nvSpPr>
        <p:spPr>
          <a:xfrm>
            <a:off x="2235200" y="1483953"/>
            <a:ext cx="1905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Poor market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C1686-F3DF-FF45-9B7A-8A3A767DB16A}"/>
              </a:ext>
            </a:extLst>
          </p:cNvPr>
          <p:cNvSpPr txBox="1"/>
          <p:nvPr/>
        </p:nvSpPr>
        <p:spPr>
          <a:xfrm>
            <a:off x="3750244" y="1483953"/>
            <a:ext cx="2242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Good market performance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4EBD35-3692-E146-A416-B6DE4C1F7EFB}"/>
              </a:ext>
            </a:extLst>
          </p:cNvPr>
          <p:cNvSpPr txBox="1"/>
          <p:nvPr/>
        </p:nvSpPr>
        <p:spPr>
          <a:xfrm>
            <a:off x="540213" y="4873572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bonds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ED087-EEFA-C343-BE75-BFFA70F8F67C}"/>
              </a:ext>
            </a:extLst>
          </p:cNvPr>
          <p:cNvSpPr txBox="1"/>
          <p:nvPr/>
        </p:nvSpPr>
        <p:spPr>
          <a:xfrm>
            <a:off x="101600" y="-136144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>
              <a:solidFill>
                <a:srgbClr val="404040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996E51-7731-DC40-A961-4CCC4C5CA1C4}"/>
              </a:ext>
            </a:extLst>
          </p:cNvPr>
          <p:cNvSpPr txBox="1"/>
          <p:nvPr/>
        </p:nvSpPr>
        <p:spPr>
          <a:xfrm>
            <a:off x="227584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Payoff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0A73A-0F31-CD41-AFE1-D92AA54ECB27}"/>
              </a:ext>
            </a:extLst>
          </p:cNvPr>
          <p:cNvSpPr txBox="1"/>
          <p:nvPr/>
        </p:nvSpPr>
        <p:spPr>
          <a:xfrm>
            <a:off x="386080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Payoff</a:t>
            </a:r>
          </a:p>
        </p:txBody>
      </p:sp>
      <p:graphicFrame>
        <p:nvGraphicFramePr>
          <p:cNvPr id="44" name="Content Placeholder 8">
            <a:extLst>
              <a:ext uri="{FF2B5EF4-FFF2-40B4-BE49-F238E27FC236}">
                <a16:creationId xmlns:a16="http://schemas.microsoft.com/office/drawing/2014/main" id="{C73D58F6-EAB2-5F4D-97DB-8B76AC9F4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2985371"/>
              </p:ext>
            </p:extLst>
          </p:nvPr>
        </p:nvGraphicFramePr>
        <p:xfrm>
          <a:off x="5664442" y="2567642"/>
          <a:ext cx="1655062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2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-1,000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-2,000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32EB21F2-463F-F64C-B937-4D2627DE554F}"/>
              </a:ext>
            </a:extLst>
          </p:cNvPr>
          <p:cNvSpPr txBox="1"/>
          <p:nvPr/>
        </p:nvSpPr>
        <p:spPr>
          <a:xfrm>
            <a:off x="5724206" y="1500020"/>
            <a:ext cx="1595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Minimum payoff for an action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657D96-8113-314F-ABAA-56965A65EA6C}"/>
              </a:ext>
            </a:extLst>
          </p:cNvPr>
          <p:cNvSpPr txBox="1"/>
          <p:nvPr/>
        </p:nvSpPr>
        <p:spPr>
          <a:xfrm>
            <a:off x="7577477" y="206527"/>
            <a:ext cx="46350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Pessimism</a:t>
            </a:r>
          </a:p>
          <a:p>
            <a:endParaRPr lang="en-US" sz="2800" dirty="0">
              <a:solidFill>
                <a:srgbClr val="404040"/>
              </a:solidFill>
              <a:latin typeface="Helvetica Light" charset="0"/>
              <a:ea typeface="Helvetica Light" charset="0"/>
              <a:cs typeface="Helvetica Light" charset="0"/>
            </a:endParaRPr>
          </a:p>
          <a:p>
            <a:r>
              <a:rPr lang="en-US" sz="28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Select the maximum of the minimum payoffs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E27119-1DC6-FB4E-8EBE-057B044235C0}"/>
              </a:ext>
            </a:extLst>
          </p:cNvPr>
          <p:cNvSpPr txBox="1"/>
          <p:nvPr/>
        </p:nvSpPr>
        <p:spPr>
          <a:xfrm>
            <a:off x="8604561" y="4873572"/>
            <a:ext cx="2760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Maximin</a:t>
            </a:r>
            <a:endParaRPr lang="en-US" sz="3600" b="1" dirty="0">
              <a:solidFill>
                <a:srgbClr val="404040"/>
              </a:solidFill>
              <a:latin typeface="Helvetica" pitchFamily="2" charset="0"/>
              <a:ea typeface="Helvetica Light" charset="0"/>
              <a:cs typeface="Helvetica Light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57685C-A601-CE44-96AF-3134F930AE46}"/>
              </a:ext>
            </a:extLst>
          </p:cNvPr>
          <p:cNvSpPr txBox="1"/>
          <p:nvPr/>
        </p:nvSpPr>
        <p:spPr>
          <a:xfrm>
            <a:off x="5578088" y="916002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Criterion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D7822B-4E19-1B42-9E7F-3EFB4EC8E569}"/>
              </a:ext>
            </a:extLst>
          </p:cNvPr>
          <p:cNvCxnSpPr/>
          <p:nvPr/>
        </p:nvCxnSpPr>
        <p:spPr>
          <a:xfrm flipH="1">
            <a:off x="7594840" y="5171310"/>
            <a:ext cx="1248936" cy="0"/>
          </a:xfrm>
          <a:prstGeom prst="straightConnector1">
            <a:avLst/>
          </a:prstGeom>
          <a:ln w="3810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4E50D6-E798-E049-BDFA-3E3F0E4F6EA3}"/>
              </a:ext>
            </a:extLst>
          </p:cNvPr>
          <p:cNvSpPr txBox="1"/>
          <p:nvPr/>
        </p:nvSpPr>
        <p:spPr>
          <a:xfrm>
            <a:off x="557757" y="2796816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Apple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060427-156D-6F46-8B70-42D214FE595B}"/>
              </a:ext>
            </a:extLst>
          </p:cNvPr>
          <p:cNvSpPr txBox="1"/>
          <p:nvPr/>
        </p:nvSpPr>
        <p:spPr>
          <a:xfrm>
            <a:off x="540213" y="3834485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Google</a:t>
            </a:r>
          </a:p>
        </p:txBody>
      </p:sp>
    </p:spTree>
    <p:extLst>
      <p:ext uri="{BB962C8B-B14F-4D97-AF65-F5344CB8AC3E}">
        <p14:creationId xmlns:p14="http://schemas.microsoft.com/office/powerpoint/2010/main" val="330245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F0AE-BA8D-DF48-B565-7ED20F8B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61761-E6BA-6443-AC92-D3117E05FAE0}"/>
              </a:ext>
            </a:extLst>
          </p:cNvPr>
          <p:cNvSpPr txBox="1"/>
          <p:nvPr/>
        </p:nvSpPr>
        <p:spPr>
          <a:xfrm>
            <a:off x="4477291" y="910530"/>
            <a:ext cx="23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State of Nature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D0B71-BB8A-6642-8713-58E97B138635}"/>
              </a:ext>
            </a:extLst>
          </p:cNvPr>
          <p:cNvSpPr txBox="1"/>
          <p:nvPr/>
        </p:nvSpPr>
        <p:spPr>
          <a:xfrm rot="16200000">
            <a:off x="-360317" y="3846371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Action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A05971F-FAC1-5B43-BEF5-E8F1B7732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284144"/>
              </p:ext>
            </p:extLst>
          </p:nvPr>
        </p:nvGraphicFramePr>
        <p:xfrm>
          <a:off x="2354349" y="2567642"/>
          <a:ext cx="1655063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3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elvetica Light" panose="020B0403020202020204" pitchFamily="34" charset="0"/>
                        </a:rPr>
                        <a:t>-1,000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elvetica Light" panose="020B0403020202020204" pitchFamily="34" charset="0"/>
                        </a:rPr>
                        <a:t>-2,000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BD2E16F-9ECB-3F46-8E16-9B95B0BFF64B}"/>
              </a:ext>
            </a:extLst>
          </p:cNvPr>
          <p:cNvSpPr txBox="1"/>
          <p:nvPr/>
        </p:nvSpPr>
        <p:spPr>
          <a:xfrm>
            <a:off x="2444992" y="1652530"/>
            <a:ext cx="3321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Poor market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C1686-F3DF-FF45-9B7A-8A3A767DB16A}"/>
              </a:ext>
            </a:extLst>
          </p:cNvPr>
          <p:cNvSpPr txBox="1"/>
          <p:nvPr/>
        </p:nvSpPr>
        <p:spPr>
          <a:xfrm>
            <a:off x="5598160" y="1677425"/>
            <a:ext cx="3520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Good market performance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4EBD35-3692-E146-A416-B6DE4C1F7EFB}"/>
              </a:ext>
            </a:extLst>
          </p:cNvPr>
          <p:cNvSpPr txBox="1"/>
          <p:nvPr/>
        </p:nvSpPr>
        <p:spPr>
          <a:xfrm>
            <a:off x="540213" y="4873572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bonds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ED087-EEFA-C343-BE75-BFFA70F8F67C}"/>
              </a:ext>
            </a:extLst>
          </p:cNvPr>
          <p:cNvSpPr txBox="1"/>
          <p:nvPr/>
        </p:nvSpPr>
        <p:spPr>
          <a:xfrm>
            <a:off x="101600" y="-136144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996E51-7731-DC40-A961-4CCC4C5CA1C4}"/>
              </a:ext>
            </a:extLst>
          </p:cNvPr>
          <p:cNvSpPr txBox="1"/>
          <p:nvPr/>
        </p:nvSpPr>
        <p:spPr>
          <a:xfrm>
            <a:off x="227584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ea typeface="Helvetica Light" charset="0"/>
                <a:cs typeface="Helvetica Light" charset="0"/>
              </a:rPr>
              <a:t>Payoff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0A73A-0F31-CD41-AFE1-D92AA54ECB27}"/>
              </a:ext>
            </a:extLst>
          </p:cNvPr>
          <p:cNvSpPr txBox="1"/>
          <p:nvPr/>
        </p:nvSpPr>
        <p:spPr>
          <a:xfrm>
            <a:off x="386080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Regret</a:t>
            </a:r>
          </a:p>
        </p:txBody>
      </p:sp>
      <p:graphicFrame>
        <p:nvGraphicFramePr>
          <p:cNvPr id="44" name="Content Placeholder 8">
            <a:extLst>
              <a:ext uri="{FF2B5EF4-FFF2-40B4-BE49-F238E27FC236}">
                <a16:creationId xmlns:a16="http://schemas.microsoft.com/office/drawing/2014/main" id="{C73D58F6-EAB2-5F4D-97DB-8B76AC9F4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9713852"/>
              </p:ext>
            </p:extLst>
          </p:nvPr>
        </p:nvGraphicFramePr>
        <p:xfrm>
          <a:off x="8984110" y="2567642"/>
          <a:ext cx="1655062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2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2,500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32EB21F2-463F-F64C-B937-4D2627DE554F}"/>
              </a:ext>
            </a:extLst>
          </p:cNvPr>
          <p:cNvSpPr txBox="1"/>
          <p:nvPr/>
        </p:nvSpPr>
        <p:spPr>
          <a:xfrm>
            <a:off x="9057984" y="1518282"/>
            <a:ext cx="15073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Maximum regret for an action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657D96-8113-314F-ABAA-56965A65EA6C}"/>
              </a:ext>
            </a:extLst>
          </p:cNvPr>
          <p:cNvSpPr txBox="1"/>
          <p:nvPr/>
        </p:nvSpPr>
        <p:spPr>
          <a:xfrm>
            <a:off x="10680700" y="125700"/>
            <a:ext cx="1561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Select the minimum maximum regret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E27119-1DC6-FB4E-8EBE-057B044235C0}"/>
              </a:ext>
            </a:extLst>
          </p:cNvPr>
          <p:cNvSpPr txBox="1"/>
          <p:nvPr/>
        </p:nvSpPr>
        <p:spPr>
          <a:xfrm>
            <a:off x="10051444" y="2924712"/>
            <a:ext cx="2760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Minimax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57685C-A601-CE44-96AF-3134F930AE46}"/>
              </a:ext>
            </a:extLst>
          </p:cNvPr>
          <p:cNvSpPr txBox="1"/>
          <p:nvPr/>
        </p:nvSpPr>
        <p:spPr>
          <a:xfrm>
            <a:off x="8859020" y="916002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Criterion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D7822B-4E19-1B42-9E7F-3EFB4EC8E569}"/>
              </a:ext>
            </a:extLst>
          </p:cNvPr>
          <p:cNvCxnSpPr/>
          <p:nvPr/>
        </p:nvCxnSpPr>
        <p:spPr>
          <a:xfrm flipH="1">
            <a:off x="10742090" y="2831683"/>
            <a:ext cx="1248936" cy="0"/>
          </a:xfrm>
          <a:prstGeom prst="straightConnector1">
            <a:avLst/>
          </a:prstGeom>
          <a:ln w="3810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8">
            <a:extLst>
              <a:ext uri="{FF2B5EF4-FFF2-40B4-BE49-F238E27FC236}">
                <a16:creationId xmlns:a16="http://schemas.microsoft.com/office/drawing/2014/main" id="{67A03559-1BC0-BC4E-89B2-3A64690D32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7918910"/>
              </p:ext>
            </p:extLst>
          </p:nvPr>
        </p:nvGraphicFramePr>
        <p:xfrm>
          <a:off x="5665961" y="2567642"/>
          <a:ext cx="1655063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3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elvetica Light" panose="020B0403020202020204" pitchFamily="34" charset="0"/>
                        </a:rPr>
                        <a:t>1,700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elvetica Light" panose="020B0403020202020204" pitchFamily="34" charset="0"/>
                        </a:rPr>
                        <a:t>2,100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5C81229-D042-564C-BA8C-890F9BD3B542}"/>
              </a:ext>
            </a:extLst>
          </p:cNvPr>
          <p:cNvSpPr txBox="1"/>
          <p:nvPr/>
        </p:nvSpPr>
        <p:spPr>
          <a:xfrm>
            <a:off x="555625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ea typeface="Helvetica Light" charset="0"/>
                <a:cs typeface="Helvetica Light" charset="0"/>
              </a:rPr>
              <a:t>Payoff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8C256D-A7CB-4A42-B728-C1EC66BDD5C8}"/>
              </a:ext>
            </a:extLst>
          </p:cNvPr>
          <p:cNvSpPr txBox="1"/>
          <p:nvPr/>
        </p:nvSpPr>
        <p:spPr>
          <a:xfrm>
            <a:off x="721360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Regret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A5DCC2-456B-1C4E-8386-C5E32138FC78}"/>
              </a:ext>
            </a:extLst>
          </p:cNvPr>
          <p:cNvSpPr txBox="1"/>
          <p:nvPr/>
        </p:nvSpPr>
        <p:spPr>
          <a:xfrm>
            <a:off x="2368429" y="5969852"/>
            <a:ext cx="909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Which decision would I regret least?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587DA8-7410-9442-8120-79D8D9DCEA27}"/>
              </a:ext>
            </a:extLst>
          </p:cNvPr>
          <p:cNvSpPr txBox="1"/>
          <p:nvPr/>
        </p:nvSpPr>
        <p:spPr>
          <a:xfrm>
            <a:off x="557757" y="2796816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Apple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C6EC3F-2724-614C-8776-534A58D3DE8B}"/>
              </a:ext>
            </a:extLst>
          </p:cNvPr>
          <p:cNvSpPr txBox="1"/>
          <p:nvPr/>
        </p:nvSpPr>
        <p:spPr>
          <a:xfrm>
            <a:off x="540213" y="3834485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Google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BCCB79-B385-0D4D-86B4-FE2C906A8DC9}"/>
              </a:ext>
            </a:extLst>
          </p:cNvPr>
          <p:cNvSpPr txBox="1"/>
          <p:nvPr/>
        </p:nvSpPr>
        <p:spPr>
          <a:xfrm>
            <a:off x="9168106" y="5777943"/>
            <a:ext cx="3102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ea typeface="Helvetica Light" charset="0"/>
                <a:cs typeface="Helvetica Light" charset="0"/>
              </a:rPr>
              <a:t>Regret = Opportunity Loss</a:t>
            </a:r>
          </a:p>
        </p:txBody>
      </p:sp>
      <p:graphicFrame>
        <p:nvGraphicFramePr>
          <p:cNvPr id="27" name="Content Placeholder 8">
            <a:extLst>
              <a:ext uri="{FF2B5EF4-FFF2-40B4-BE49-F238E27FC236}">
                <a16:creationId xmlns:a16="http://schemas.microsoft.com/office/drawing/2014/main" id="{4A05971F-FAC1-5B43-BEF5-E8F1B7732A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6996164"/>
              </p:ext>
            </p:extLst>
          </p:nvPr>
        </p:nvGraphicFramePr>
        <p:xfrm>
          <a:off x="4017435" y="2567642"/>
          <a:ext cx="1655063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3">
                  <a:extLst>
                    <a:ext uri="{9D8B030D-6E8A-4147-A177-3AD203B41FA5}">
                      <a16:colId xmlns:a16="http://schemas.microsoft.com/office/drawing/2014/main" val="696407320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2,500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95BCCB79-B385-0D4D-86B4-FE2C906A8DC9}"/>
              </a:ext>
            </a:extLst>
          </p:cNvPr>
          <p:cNvSpPr txBox="1"/>
          <p:nvPr/>
        </p:nvSpPr>
        <p:spPr>
          <a:xfrm>
            <a:off x="9176815" y="6039287"/>
            <a:ext cx="30238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50" charset="0"/>
                <a:ea typeface="Helvetica Light" charset="0"/>
                <a:cs typeface="Helvetica Light" charset="0"/>
              </a:rPr>
              <a:t>Difference between a decision made and an optimal decision</a:t>
            </a:r>
          </a:p>
        </p:txBody>
      </p:sp>
      <p:graphicFrame>
        <p:nvGraphicFramePr>
          <p:cNvPr id="30" name="Content Placeholder 8">
            <a:extLst>
              <a:ext uri="{FF2B5EF4-FFF2-40B4-BE49-F238E27FC236}">
                <a16:creationId xmlns:a16="http://schemas.microsoft.com/office/drawing/2014/main" id="{67A03559-1BC0-BC4E-89B2-3A64690D32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814816"/>
              </p:ext>
            </p:extLst>
          </p:nvPr>
        </p:nvGraphicFramePr>
        <p:xfrm>
          <a:off x="7329980" y="2567642"/>
          <a:ext cx="1655063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3">
                  <a:extLst>
                    <a:ext uri="{9D8B030D-6E8A-4147-A177-3AD203B41FA5}">
                      <a16:colId xmlns:a16="http://schemas.microsoft.com/office/drawing/2014/main" val="696407320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000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3" grpId="0"/>
      <p:bldP spid="45" grpId="0"/>
      <p:bldP spid="17" grpId="0"/>
      <p:bldP spid="18" grpId="0"/>
      <p:bldP spid="19" grpId="0"/>
      <p:bldP spid="22" grpId="0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B8B9-8411-9E4D-96AF-2483806F8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2886392"/>
            <a:ext cx="10515600" cy="688975"/>
          </a:xfrm>
        </p:spPr>
        <p:txBody>
          <a:bodyPr/>
          <a:lstStyle/>
          <a:p>
            <a:r>
              <a:rPr lang="en-US" dirty="0"/>
              <a:t>Next: factor in probabilities of different outcomes</a:t>
            </a:r>
          </a:p>
        </p:txBody>
      </p:sp>
    </p:spTree>
    <p:extLst>
      <p:ext uri="{BB962C8B-B14F-4D97-AF65-F5344CB8AC3E}">
        <p14:creationId xmlns:p14="http://schemas.microsoft.com/office/powerpoint/2010/main" val="1575610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F0AE-BA8D-DF48-B565-7ED20F8B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</a:rPr>
              <a:t>Expected Payoff: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Equal likelihood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61761-E6BA-6443-AC92-D3117E05FAE0}"/>
              </a:ext>
            </a:extLst>
          </p:cNvPr>
          <p:cNvSpPr txBox="1"/>
          <p:nvPr/>
        </p:nvSpPr>
        <p:spPr>
          <a:xfrm>
            <a:off x="2822227" y="910530"/>
            <a:ext cx="23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State of Nature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D0B71-BB8A-6642-8713-58E97B138635}"/>
              </a:ext>
            </a:extLst>
          </p:cNvPr>
          <p:cNvSpPr txBox="1"/>
          <p:nvPr/>
        </p:nvSpPr>
        <p:spPr>
          <a:xfrm rot="16200000">
            <a:off x="-360317" y="3846371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Action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A05971F-FAC1-5B43-BEF5-E8F1B7732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191096"/>
              </p:ext>
            </p:extLst>
          </p:nvPr>
        </p:nvGraphicFramePr>
        <p:xfrm>
          <a:off x="2354349" y="2567642"/>
          <a:ext cx="3310124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2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  <a:gridCol w="1655062">
                  <a:extLst>
                    <a:ext uri="{9D8B030D-6E8A-4147-A177-3AD203B41FA5}">
                      <a16:colId xmlns:a16="http://schemas.microsoft.com/office/drawing/2014/main" val="696407320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2,100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BD2E16F-9ECB-3F46-8E16-9B95B0BFF64B}"/>
              </a:ext>
            </a:extLst>
          </p:cNvPr>
          <p:cNvSpPr txBox="1"/>
          <p:nvPr/>
        </p:nvSpPr>
        <p:spPr>
          <a:xfrm>
            <a:off x="2235200" y="1483953"/>
            <a:ext cx="1905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Poor market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C1686-F3DF-FF45-9B7A-8A3A767DB16A}"/>
              </a:ext>
            </a:extLst>
          </p:cNvPr>
          <p:cNvSpPr txBox="1"/>
          <p:nvPr/>
        </p:nvSpPr>
        <p:spPr>
          <a:xfrm>
            <a:off x="3750244" y="1483953"/>
            <a:ext cx="2242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Good market performance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4EBD35-3692-E146-A416-B6DE4C1F7EFB}"/>
              </a:ext>
            </a:extLst>
          </p:cNvPr>
          <p:cNvSpPr txBox="1"/>
          <p:nvPr/>
        </p:nvSpPr>
        <p:spPr>
          <a:xfrm>
            <a:off x="540213" y="4873572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bonds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ED087-EEFA-C343-BE75-BFFA70F8F67C}"/>
              </a:ext>
            </a:extLst>
          </p:cNvPr>
          <p:cNvSpPr txBox="1"/>
          <p:nvPr/>
        </p:nvSpPr>
        <p:spPr>
          <a:xfrm>
            <a:off x="101600" y="-136144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>
              <a:solidFill>
                <a:srgbClr val="404040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996E51-7731-DC40-A961-4CCC4C5CA1C4}"/>
              </a:ext>
            </a:extLst>
          </p:cNvPr>
          <p:cNvSpPr txBox="1"/>
          <p:nvPr/>
        </p:nvSpPr>
        <p:spPr>
          <a:xfrm>
            <a:off x="227584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Payoff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0A73A-0F31-CD41-AFE1-D92AA54ECB27}"/>
              </a:ext>
            </a:extLst>
          </p:cNvPr>
          <p:cNvSpPr txBox="1"/>
          <p:nvPr/>
        </p:nvSpPr>
        <p:spPr>
          <a:xfrm>
            <a:off x="386080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Payoff</a:t>
            </a:r>
          </a:p>
        </p:txBody>
      </p:sp>
      <p:graphicFrame>
        <p:nvGraphicFramePr>
          <p:cNvPr id="44" name="Content Placeholder 8">
            <a:extLst>
              <a:ext uri="{FF2B5EF4-FFF2-40B4-BE49-F238E27FC236}">
                <a16:creationId xmlns:a16="http://schemas.microsoft.com/office/drawing/2014/main" id="{C73D58F6-EAB2-5F4D-97DB-8B76AC9F4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8147103"/>
              </p:ext>
            </p:extLst>
          </p:nvPr>
        </p:nvGraphicFramePr>
        <p:xfrm>
          <a:off x="5664442" y="2567642"/>
          <a:ext cx="1655062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2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350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32EB21F2-463F-F64C-B937-4D2627DE554F}"/>
              </a:ext>
            </a:extLst>
          </p:cNvPr>
          <p:cNvSpPr txBox="1"/>
          <p:nvPr/>
        </p:nvSpPr>
        <p:spPr>
          <a:xfrm>
            <a:off x="5724206" y="1500020"/>
            <a:ext cx="1595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Expected reward/</a:t>
            </a:r>
          </a:p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payoff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657D96-8113-314F-ABAA-56965A65EA6C}"/>
              </a:ext>
            </a:extLst>
          </p:cNvPr>
          <p:cNvSpPr txBox="1"/>
          <p:nvPr/>
        </p:nvSpPr>
        <p:spPr>
          <a:xfrm>
            <a:off x="7577477" y="910530"/>
            <a:ext cx="46350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Select the highest average payoff ASSUMING all states are of equal probability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E27119-1DC6-FB4E-8EBE-057B044235C0}"/>
              </a:ext>
            </a:extLst>
          </p:cNvPr>
          <p:cNvSpPr txBox="1"/>
          <p:nvPr/>
        </p:nvSpPr>
        <p:spPr>
          <a:xfrm>
            <a:off x="8580509" y="4291647"/>
            <a:ext cx="35874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Maximum Expected Reward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57685C-A601-CE44-96AF-3134F930AE46}"/>
              </a:ext>
            </a:extLst>
          </p:cNvPr>
          <p:cNvSpPr txBox="1"/>
          <p:nvPr/>
        </p:nvSpPr>
        <p:spPr>
          <a:xfrm>
            <a:off x="5578088" y="916002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Criterion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D7822B-4E19-1B42-9E7F-3EFB4EC8E569}"/>
              </a:ext>
            </a:extLst>
          </p:cNvPr>
          <p:cNvCxnSpPr>
            <a:cxnSpLocks/>
          </p:cNvCxnSpPr>
          <p:nvPr/>
        </p:nvCxnSpPr>
        <p:spPr>
          <a:xfrm flipH="1">
            <a:off x="7594840" y="5168810"/>
            <a:ext cx="1248936" cy="0"/>
          </a:xfrm>
          <a:prstGeom prst="straightConnector1">
            <a:avLst/>
          </a:prstGeom>
          <a:ln w="3810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5A30D04-D40B-5E41-874B-13C05A3B05CD}"/>
              </a:ext>
            </a:extLst>
          </p:cNvPr>
          <p:cNvSpPr txBox="1"/>
          <p:nvPr/>
        </p:nvSpPr>
        <p:spPr>
          <a:xfrm>
            <a:off x="115006" y="5684915"/>
            <a:ext cx="2296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State Probability: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677CFF-6440-D442-8267-60781313FBFD}"/>
              </a:ext>
            </a:extLst>
          </p:cNvPr>
          <p:cNvSpPr txBox="1"/>
          <p:nvPr/>
        </p:nvSpPr>
        <p:spPr>
          <a:xfrm>
            <a:off x="2831942" y="5914663"/>
            <a:ext cx="711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0.5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DF069F-5DA1-3B4D-AC70-CC6738D6A646}"/>
              </a:ext>
            </a:extLst>
          </p:cNvPr>
          <p:cNvSpPr txBox="1"/>
          <p:nvPr/>
        </p:nvSpPr>
        <p:spPr>
          <a:xfrm>
            <a:off x="4457542" y="5914663"/>
            <a:ext cx="711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06C1D8-C176-374E-A491-5BE665F57A5A}"/>
              </a:ext>
            </a:extLst>
          </p:cNvPr>
          <p:cNvSpPr txBox="1"/>
          <p:nvPr/>
        </p:nvSpPr>
        <p:spPr>
          <a:xfrm>
            <a:off x="557757" y="2796816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Apple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253FB6-CC84-6C45-940F-209ECFE741DA}"/>
              </a:ext>
            </a:extLst>
          </p:cNvPr>
          <p:cNvSpPr txBox="1"/>
          <p:nvPr/>
        </p:nvSpPr>
        <p:spPr>
          <a:xfrm>
            <a:off x="540213" y="3834485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Google</a:t>
            </a:r>
          </a:p>
        </p:txBody>
      </p:sp>
    </p:spTree>
    <p:extLst>
      <p:ext uri="{BB962C8B-B14F-4D97-AF65-F5344CB8AC3E}">
        <p14:creationId xmlns:p14="http://schemas.microsoft.com/office/powerpoint/2010/main" val="116583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F0AE-BA8D-DF48-B565-7ED20F8B2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99" y="161925"/>
            <a:ext cx="11019971" cy="688975"/>
          </a:xfrm>
        </p:spPr>
        <p:txBody>
          <a:bodyPr/>
          <a:lstStyle/>
          <a:p>
            <a:r>
              <a:rPr lang="en-US" dirty="0">
                <a:solidFill>
                  <a:srgbClr val="404040"/>
                </a:solidFill>
              </a:rPr>
              <a:t>Expected Payoff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61761-E6BA-6443-AC92-D3117E05FAE0}"/>
              </a:ext>
            </a:extLst>
          </p:cNvPr>
          <p:cNvSpPr txBox="1"/>
          <p:nvPr/>
        </p:nvSpPr>
        <p:spPr>
          <a:xfrm>
            <a:off x="2822227" y="910530"/>
            <a:ext cx="23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State of Nature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D0B71-BB8A-6642-8713-58E97B138635}"/>
              </a:ext>
            </a:extLst>
          </p:cNvPr>
          <p:cNvSpPr txBox="1"/>
          <p:nvPr/>
        </p:nvSpPr>
        <p:spPr>
          <a:xfrm rot="16200000">
            <a:off x="-360317" y="3846371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Action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A05971F-FAC1-5B43-BEF5-E8F1B7732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7296"/>
              </p:ext>
            </p:extLst>
          </p:nvPr>
        </p:nvGraphicFramePr>
        <p:xfrm>
          <a:off x="2354349" y="2567642"/>
          <a:ext cx="3310124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2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  <a:gridCol w="1655062">
                  <a:extLst>
                    <a:ext uri="{9D8B030D-6E8A-4147-A177-3AD203B41FA5}">
                      <a16:colId xmlns:a16="http://schemas.microsoft.com/office/drawing/2014/main" val="696407320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2,100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BD2E16F-9ECB-3F46-8E16-9B95B0BFF64B}"/>
              </a:ext>
            </a:extLst>
          </p:cNvPr>
          <p:cNvSpPr txBox="1"/>
          <p:nvPr/>
        </p:nvSpPr>
        <p:spPr>
          <a:xfrm>
            <a:off x="2235200" y="1483953"/>
            <a:ext cx="1905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Poor market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C1686-F3DF-FF45-9B7A-8A3A767DB16A}"/>
              </a:ext>
            </a:extLst>
          </p:cNvPr>
          <p:cNvSpPr txBox="1"/>
          <p:nvPr/>
        </p:nvSpPr>
        <p:spPr>
          <a:xfrm>
            <a:off x="3750244" y="1483953"/>
            <a:ext cx="2242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Good market performance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4EBD35-3692-E146-A416-B6DE4C1F7EFB}"/>
              </a:ext>
            </a:extLst>
          </p:cNvPr>
          <p:cNvSpPr txBox="1"/>
          <p:nvPr/>
        </p:nvSpPr>
        <p:spPr>
          <a:xfrm>
            <a:off x="540213" y="4873572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bonds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ED087-EEFA-C343-BE75-BFFA70F8F67C}"/>
              </a:ext>
            </a:extLst>
          </p:cNvPr>
          <p:cNvSpPr txBox="1"/>
          <p:nvPr/>
        </p:nvSpPr>
        <p:spPr>
          <a:xfrm>
            <a:off x="101600" y="-136144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>
              <a:solidFill>
                <a:srgbClr val="404040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996E51-7731-DC40-A961-4CCC4C5CA1C4}"/>
              </a:ext>
            </a:extLst>
          </p:cNvPr>
          <p:cNvSpPr txBox="1"/>
          <p:nvPr/>
        </p:nvSpPr>
        <p:spPr>
          <a:xfrm>
            <a:off x="227584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Payoff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0A73A-0F31-CD41-AFE1-D92AA54ECB27}"/>
              </a:ext>
            </a:extLst>
          </p:cNvPr>
          <p:cNvSpPr txBox="1"/>
          <p:nvPr/>
        </p:nvSpPr>
        <p:spPr>
          <a:xfrm>
            <a:off x="3860800" y="2142637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Payoff</a:t>
            </a:r>
          </a:p>
        </p:txBody>
      </p:sp>
      <p:graphicFrame>
        <p:nvGraphicFramePr>
          <p:cNvPr id="44" name="Content Placeholder 8">
            <a:extLst>
              <a:ext uri="{FF2B5EF4-FFF2-40B4-BE49-F238E27FC236}">
                <a16:creationId xmlns:a16="http://schemas.microsoft.com/office/drawing/2014/main" id="{C73D58F6-EAB2-5F4D-97DB-8B76AC9F4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8686269"/>
              </p:ext>
            </p:extLst>
          </p:nvPr>
        </p:nvGraphicFramePr>
        <p:xfrm>
          <a:off x="5664442" y="2567642"/>
          <a:ext cx="1655062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2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890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870</a:t>
                      </a:r>
                      <a:endParaRPr lang="en-US" sz="3200" b="0" i="0" dirty="0">
                        <a:solidFill>
                          <a:srgbClr val="404040"/>
                        </a:solidFill>
                        <a:latin typeface="Helvetica Light" panose="020B0403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C657D96-8113-314F-ABAA-56965A65EA6C}"/>
              </a:ext>
            </a:extLst>
          </p:cNvPr>
          <p:cNvSpPr txBox="1"/>
          <p:nvPr/>
        </p:nvSpPr>
        <p:spPr>
          <a:xfrm>
            <a:off x="7577477" y="910530"/>
            <a:ext cx="46350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Select the highest average payoff assuming state probabilities from prior knowledge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E27119-1DC6-FB4E-8EBE-057B044235C0}"/>
              </a:ext>
            </a:extLst>
          </p:cNvPr>
          <p:cNvSpPr txBox="1"/>
          <p:nvPr/>
        </p:nvSpPr>
        <p:spPr>
          <a:xfrm>
            <a:off x="8962819" y="2390744"/>
            <a:ext cx="3587439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Maximum Expected Reward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57685C-A601-CE44-96AF-3134F930AE46}"/>
              </a:ext>
            </a:extLst>
          </p:cNvPr>
          <p:cNvSpPr txBox="1"/>
          <p:nvPr/>
        </p:nvSpPr>
        <p:spPr>
          <a:xfrm>
            <a:off x="5578088" y="916002"/>
            <a:ext cx="190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Criterion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D7822B-4E19-1B42-9E7F-3EFB4EC8E569}"/>
              </a:ext>
            </a:extLst>
          </p:cNvPr>
          <p:cNvCxnSpPr>
            <a:cxnSpLocks/>
          </p:cNvCxnSpPr>
          <p:nvPr/>
        </p:nvCxnSpPr>
        <p:spPr>
          <a:xfrm flipH="1">
            <a:off x="7594840" y="3231331"/>
            <a:ext cx="1248936" cy="0"/>
          </a:xfrm>
          <a:prstGeom prst="straightConnector1">
            <a:avLst/>
          </a:prstGeom>
          <a:ln w="38100"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5A30D04-D40B-5E41-874B-13C05A3B05CD}"/>
              </a:ext>
            </a:extLst>
          </p:cNvPr>
          <p:cNvSpPr txBox="1"/>
          <p:nvPr/>
        </p:nvSpPr>
        <p:spPr>
          <a:xfrm>
            <a:off x="115006" y="5684915"/>
            <a:ext cx="2296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State Probability: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677CFF-6440-D442-8267-60781313FBFD}"/>
              </a:ext>
            </a:extLst>
          </p:cNvPr>
          <p:cNvSpPr txBox="1"/>
          <p:nvPr/>
        </p:nvSpPr>
        <p:spPr>
          <a:xfrm>
            <a:off x="2831942" y="5914663"/>
            <a:ext cx="711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0.3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DF069F-5DA1-3B4D-AC70-CC6738D6A646}"/>
              </a:ext>
            </a:extLst>
          </p:cNvPr>
          <p:cNvSpPr txBox="1"/>
          <p:nvPr/>
        </p:nvSpPr>
        <p:spPr>
          <a:xfrm>
            <a:off x="4457542" y="5914663"/>
            <a:ext cx="711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0.7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E6015E-58E7-6A45-8CD3-DAB15D9EE66B}"/>
              </a:ext>
            </a:extLst>
          </p:cNvPr>
          <p:cNvSpPr txBox="1"/>
          <p:nvPr/>
        </p:nvSpPr>
        <p:spPr>
          <a:xfrm>
            <a:off x="557757" y="2796816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Apple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237A9A-8C2D-9547-8E3E-0A3A1DC32EB7}"/>
              </a:ext>
            </a:extLst>
          </p:cNvPr>
          <p:cNvSpPr txBox="1"/>
          <p:nvPr/>
        </p:nvSpPr>
        <p:spPr>
          <a:xfrm>
            <a:off x="540213" y="3834485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Google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F914CF-C6F1-324F-A637-4D0FAD486298}"/>
              </a:ext>
            </a:extLst>
          </p:cNvPr>
          <p:cNvSpPr txBox="1"/>
          <p:nvPr/>
        </p:nvSpPr>
        <p:spPr>
          <a:xfrm>
            <a:off x="5724206" y="1500020"/>
            <a:ext cx="1595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Expected reward/</a:t>
            </a:r>
          </a:p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payoff</a:t>
            </a:r>
          </a:p>
        </p:txBody>
      </p:sp>
    </p:spTree>
    <p:extLst>
      <p:ext uri="{BB962C8B-B14F-4D97-AF65-F5344CB8AC3E}">
        <p14:creationId xmlns:p14="http://schemas.microsoft.com/office/powerpoint/2010/main" val="103157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8CE30-7462-1A49-835D-CF800A74E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7764A-758C-474F-9138-3EF042C76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Define a measure of risk or reward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Select the action that optimizes that metric</a:t>
            </a:r>
          </a:p>
        </p:txBody>
      </p:sp>
    </p:spTree>
    <p:extLst>
      <p:ext uri="{BB962C8B-B14F-4D97-AF65-F5344CB8AC3E}">
        <p14:creationId xmlns:p14="http://schemas.microsoft.com/office/powerpoint/2010/main" val="3142000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F0AE-BA8D-DF48-B565-7ED20F8B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B61761-E6BA-6443-AC92-D3117E05FAE0}"/>
                  </a:ext>
                </a:extLst>
              </p:cNvPr>
              <p:cNvSpPr txBox="1"/>
              <p:nvPr/>
            </p:nvSpPr>
            <p:spPr>
              <a:xfrm>
                <a:off x="4687079" y="850900"/>
                <a:ext cx="28103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404040"/>
                    </a:solidFill>
                    <a:latin typeface="Helvetica" pitchFamily="2" charset="0"/>
                    <a:ea typeface="Helvetica Light" charset="0"/>
                    <a:cs typeface="Helvetica Light" charset="0"/>
                  </a:rPr>
                  <a:t>State of Nature (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Helvetica Light" charset="0"/>
                        <a:cs typeface="Helvetica Light" charset="0"/>
                      </a:rPr>
                      <m:t>𝐬</m:t>
                    </m:r>
                  </m:oMath>
                </a14:m>
                <a:r>
                  <a:rPr lang="en-US" sz="2400" b="1" dirty="0">
                    <a:solidFill>
                      <a:srgbClr val="404040"/>
                    </a:solidFill>
                    <a:latin typeface="Helvetica" pitchFamily="2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B61761-E6BA-6443-AC92-D3117E05F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079" y="850900"/>
                <a:ext cx="2810385" cy="461665"/>
              </a:xfrm>
              <a:prstGeom prst="rect">
                <a:avLst/>
              </a:prstGeom>
              <a:blipFill>
                <a:blip r:embed="rId2"/>
                <a:stretch>
                  <a:fillRect l="-3471" t="-9333" r="-260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B2D0B71-BB8A-6642-8713-58E97B138635}"/>
              </a:ext>
            </a:extLst>
          </p:cNvPr>
          <p:cNvSpPr txBox="1"/>
          <p:nvPr/>
        </p:nvSpPr>
        <p:spPr>
          <a:xfrm rot="16200000">
            <a:off x="-213009" y="3806804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Action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A05971F-FAC1-5B43-BEF5-E8F1B7732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3655956"/>
              </p:ext>
            </p:extLst>
          </p:nvPr>
        </p:nvGraphicFramePr>
        <p:xfrm>
          <a:off x="3006406" y="2578643"/>
          <a:ext cx="5811982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5991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  <a:gridCol w="2905991">
                  <a:extLst>
                    <a:ext uri="{9D8B030D-6E8A-4147-A177-3AD203B41FA5}">
                      <a16:colId xmlns:a16="http://schemas.microsoft.com/office/drawing/2014/main" val="696407320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2,100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BD2E16F-9ECB-3F46-8E16-9B95B0BFF64B}"/>
              </a:ext>
            </a:extLst>
          </p:cNvPr>
          <p:cNvSpPr txBox="1"/>
          <p:nvPr/>
        </p:nvSpPr>
        <p:spPr>
          <a:xfrm>
            <a:off x="3352770" y="1526209"/>
            <a:ext cx="2311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Poor market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C1686-F3DF-FF45-9B7A-8A3A767DB16A}"/>
              </a:ext>
            </a:extLst>
          </p:cNvPr>
          <p:cNvSpPr txBox="1"/>
          <p:nvPr/>
        </p:nvSpPr>
        <p:spPr>
          <a:xfrm>
            <a:off x="6033184" y="1524605"/>
            <a:ext cx="2720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Excellent market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395911-C071-E54F-B907-13164D2DE2CD}"/>
                  </a:ext>
                </a:extLst>
              </p:cNvPr>
              <p:cNvSpPr/>
              <p:nvPr/>
            </p:nvSpPr>
            <p:spPr>
              <a:xfrm>
                <a:off x="4153378" y="2228006"/>
                <a:ext cx="8569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395911-C071-E54F-B907-13164D2DE2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378" y="2228006"/>
                <a:ext cx="85696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0293E76-217D-BB4A-8976-B6D8188491E7}"/>
                  </a:ext>
                </a:extLst>
              </p:cNvPr>
              <p:cNvSpPr/>
              <p:nvPr/>
            </p:nvSpPr>
            <p:spPr>
              <a:xfrm>
                <a:off x="6993560" y="2228006"/>
                <a:ext cx="8516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0293E76-217D-BB4A-8976-B6D8188491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560" y="2228006"/>
                <a:ext cx="8516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F4EBD35-3692-E146-A416-B6DE4C1F7EFB}"/>
              </a:ext>
            </a:extLst>
          </p:cNvPr>
          <p:cNvSpPr txBox="1"/>
          <p:nvPr/>
        </p:nvSpPr>
        <p:spPr>
          <a:xfrm>
            <a:off x="687521" y="4834005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bonds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480F01-C46D-EB4B-9AF3-319D610A4257}"/>
              </a:ext>
            </a:extLst>
          </p:cNvPr>
          <p:cNvSpPr txBox="1"/>
          <p:nvPr/>
        </p:nvSpPr>
        <p:spPr>
          <a:xfrm>
            <a:off x="348085" y="5914663"/>
            <a:ext cx="2783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State Probability: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4158D5-7CED-C849-8069-23F379CAD0BA}"/>
              </a:ext>
            </a:extLst>
          </p:cNvPr>
          <p:cNvSpPr txBox="1"/>
          <p:nvPr/>
        </p:nvSpPr>
        <p:spPr>
          <a:xfrm>
            <a:off x="4153378" y="5914663"/>
            <a:ext cx="711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0.3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FA7AB1-2AE9-D04B-9EC8-9BD89856A992}"/>
              </a:ext>
            </a:extLst>
          </p:cNvPr>
          <p:cNvSpPr txBox="1"/>
          <p:nvPr/>
        </p:nvSpPr>
        <p:spPr>
          <a:xfrm>
            <a:off x="7062833" y="5914663"/>
            <a:ext cx="711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0.7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CC6C54-2CBC-2F44-9738-963FF1C54658}"/>
              </a:ext>
            </a:extLst>
          </p:cNvPr>
          <p:cNvSpPr txBox="1"/>
          <p:nvPr/>
        </p:nvSpPr>
        <p:spPr>
          <a:xfrm>
            <a:off x="8975156" y="1629716"/>
            <a:ext cx="3284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Expected Reward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6B271A7-AEAE-844B-8DE5-EE129D1D47A1}"/>
                  </a:ext>
                </a:extLst>
              </p:cNvPr>
              <p:cNvSpPr/>
              <p:nvPr/>
            </p:nvSpPr>
            <p:spPr>
              <a:xfrm>
                <a:off x="1216214" y="3100839"/>
                <a:ext cx="9083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6B271A7-AEAE-844B-8DE5-EE129D1D47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214" y="3100839"/>
                <a:ext cx="90838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6DED9C8-D9A1-D948-A90E-1C49F96D4604}"/>
                  </a:ext>
                </a:extLst>
              </p:cNvPr>
              <p:cNvSpPr/>
              <p:nvPr/>
            </p:nvSpPr>
            <p:spPr>
              <a:xfrm>
                <a:off x="1216214" y="4139930"/>
                <a:ext cx="90306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6DED9C8-D9A1-D948-A90E-1C49F96D46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214" y="4139930"/>
                <a:ext cx="90306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A80D467-F809-C64A-8555-8D9E6E8A36DE}"/>
                  </a:ext>
                </a:extLst>
              </p:cNvPr>
              <p:cNvSpPr/>
              <p:nvPr/>
            </p:nvSpPr>
            <p:spPr>
              <a:xfrm>
                <a:off x="1216214" y="5179020"/>
                <a:ext cx="9083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A80D467-F809-C64A-8555-8D9E6E8A36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214" y="5179020"/>
                <a:ext cx="90838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C0034C8-A97F-694A-B55C-67FFF469522D}"/>
                  </a:ext>
                </a:extLst>
              </p:cNvPr>
              <p:cNvSpPr/>
              <p:nvPr/>
            </p:nvSpPr>
            <p:spPr>
              <a:xfrm>
                <a:off x="8889816" y="2736450"/>
                <a:ext cx="308783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0.3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−1000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0.7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1700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𝟖𝟗𝟎</m:t>
                      </m:r>
                    </m:oMath>
                  </m:oMathPara>
                </a14:m>
                <a:endParaRPr lang="en-US" b="1" dirty="0">
                  <a:ea typeface="Helvetica Light" charset="0"/>
                  <a:cs typeface="Helvetica Light" charset="0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C0034C8-A97F-694A-B55C-67FFF46952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816" y="2736450"/>
                <a:ext cx="3087833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B34E7A4-78B3-1F49-A8CA-0C332F497E38}"/>
                  </a:ext>
                </a:extLst>
              </p:cNvPr>
              <p:cNvSpPr/>
              <p:nvPr/>
            </p:nvSpPr>
            <p:spPr>
              <a:xfrm>
                <a:off x="10152104" y="2045214"/>
                <a:ext cx="9278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𝐸𝑉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B34E7A4-78B3-1F49-A8CA-0C332F497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104" y="2045214"/>
                <a:ext cx="927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044D893-C8F2-E940-AFBC-122D04D30407}"/>
                  </a:ext>
                </a:extLst>
              </p:cNvPr>
              <p:cNvSpPr/>
              <p:nvPr/>
            </p:nvSpPr>
            <p:spPr>
              <a:xfrm>
                <a:off x="8889816" y="3789395"/>
                <a:ext cx="308783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0.3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−2000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0.7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2100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𝟖𝟕𝟎</m:t>
                      </m:r>
                    </m:oMath>
                  </m:oMathPara>
                </a14:m>
                <a:endParaRPr lang="en-US" b="1" dirty="0">
                  <a:ea typeface="Helvetica Light" charset="0"/>
                  <a:cs typeface="Helvetica Light" charset="0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044D893-C8F2-E940-AFBC-122D04D30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816" y="3789395"/>
                <a:ext cx="3087833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9F1E69D-5D44-FB49-BE72-FB7A1AC53830}"/>
                  </a:ext>
                </a:extLst>
              </p:cNvPr>
              <p:cNvSpPr/>
              <p:nvPr/>
            </p:nvSpPr>
            <p:spPr>
              <a:xfrm>
                <a:off x="8889816" y="4800777"/>
                <a:ext cx="265662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0.3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500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0.7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500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𝟓𝟎𝟎</m:t>
                      </m:r>
                    </m:oMath>
                  </m:oMathPara>
                </a14:m>
                <a:endParaRPr lang="en-US" b="1" dirty="0">
                  <a:ea typeface="Helvetica Light" charset="0"/>
                  <a:cs typeface="Helvetica Light" charset="0"/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9F1E69D-5D44-FB49-BE72-FB7A1AC538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816" y="4800777"/>
                <a:ext cx="2656625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98BDC15-18C8-0545-A7FB-4C74786AD96E}"/>
                  </a:ext>
                </a:extLst>
              </p:cNvPr>
              <p:cNvSpPr/>
              <p:nvPr/>
            </p:nvSpPr>
            <p:spPr>
              <a:xfrm>
                <a:off x="8049408" y="92364"/>
                <a:ext cx="41946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𝐸𝑉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98BDC15-18C8-0545-A7FB-4C74786AD9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408" y="92364"/>
                <a:ext cx="4194674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ECE6E1B-8C0C-D84D-8CB8-A57CBEF93B80}"/>
                  </a:ext>
                </a:extLst>
              </p:cNvPr>
              <p:cNvSpPr/>
              <p:nvPr/>
            </p:nvSpPr>
            <p:spPr>
              <a:xfrm>
                <a:off x="2964550" y="2578643"/>
                <a:ext cx="10710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ECE6E1B-8C0C-D84D-8CB8-A57CBEF93B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550" y="2578643"/>
                <a:ext cx="1071062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9B1B13D-330A-C844-B1D4-4DC742ECDCD7}"/>
                  </a:ext>
                </a:extLst>
              </p:cNvPr>
              <p:cNvSpPr/>
              <p:nvPr/>
            </p:nvSpPr>
            <p:spPr>
              <a:xfrm>
                <a:off x="5846295" y="2578643"/>
                <a:ext cx="10657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9B1B13D-330A-C844-B1D4-4DC742ECD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295" y="2578643"/>
                <a:ext cx="106574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D7A30A4-E28A-294B-9FFA-5780B135E68D}"/>
                  </a:ext>
                </a:extLst>
              </p:cNvPr>
              <p:cNvSpPr/>
              <p:nvPr/>
            </p:nvSpPr>
            <p:spPr>
              <a:xfrm>
                <a:off x="2964550" y="3617734"/>
                <a:ext cx="10657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D7A30A4-E28A-294B-9FFA-5780B135E6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550" y="3617734"/>
                <a:ext cx="106574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A900377-F767-5849-B75E-B164E3C6A6F9}"/>
                  </a:ext>
                </a:extLst>
              </p:cNvPr>
              <p:cNvSpPr/>
              <p:nvPr/>
            </p:nvSpPr>
            <p:spPr>
              <a:xfrm>
                <a:off x="5846295" y="3617734"/>
                <a:ext cx="10604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A900377-F767-5849-B75E-B164E3C6A6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295" y="3617734"/>
                <a:ext cx="10604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4999592-45D6-BE4E-9EAC-84B83EEB3B93}"/>
                  </a:ext>
                </a:extLst>
              </p:cNvPr>
              <p:cNvSpPr/>
              <p:nvPr/>
            </p:nvSpPr>
            <p:spPr>
              <a:xfrm>
                <a:off x="2964550" y="4670679"/>
                <a:ext cx="10710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4999592-45D6-BE4E-9EAC-84B83EEB3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550" y="4670679"/>
                <a:ext cx="107106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ECA3938-D1D4-494E-A52B-603B97E30F8D}"/>
                  </a:ext>
                </a:extLst>
              </p:cNvPr>
              <p:cNvSpPr/>
              <p:nvPr/>
            </p:nvSpPr>
            <p:spPr>
              <a:xfrm>
                <a:off x="5846295" y="4670679"/>
                <a:ext cx="10657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ECA3938-D1D4-494E-A52B-603B97E30F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295" y="4670679"/>
                <a:ext cx="106574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54692A3-D6F4-374A-868C-C289C99FBEBE}"/>
                  </a:ext>
                </a:extLst>
              </p:cNvPr>
              <p:cNvSpPr/>
              <p:nvPr/>
            </p:nvSpPr>
            <p:spPr>
              <a:xfrm>
                <a:off x="3131175" y="5960829"/>
                <a:ext cx="10222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54692A3-D6F4-374A-868C-C289C99FBE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75" y="5960829"/>
                <a:ext cx="102220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D7033C-316A-224A-8DDC-1D1BA5A13A1B}"/>
                  </a:ext>
                </a:extLst>
              </p:cNvPr>
              <p:cNvSpPr/>
              <p:nvPr/>
            </p:nvSpPr>
            <p:spPr>
              <a:xfrm>
                <a:off x="6096048" y="5960829"/>
                <a:ext cx="10168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D7033C-316A-224A-8DDC-1D1BA5A13A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48" y="5960829"/>
                <a:ext cx="101688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30314748-24EC-3343-9B1D-9AB8FC593EC6}"/>
              </a:ext>
            </a:extLst>
          </p:cNvPr>
          <p:cNvSpPr txBox="1"/>
          <p:nvPr/>
        </p:nvSpPr>
        <p:spPr>
          <a:xfrm>
            <a:off x="8049408" y="758416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rPr>
              <a:t>Expected reward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3AA0643-B455-5C48-A1AC-060CFCFBCD36}"/>
              </a:ext>
            </a:extLst>
          </p:cNvPr>
          <p:cNvCxnSpPr/>
          <p:nvPr/>
        </p:nvCxnSpPr>
        <p:spPr>
          <a:xfrm flipV="1">
            <a:off x="8408516" y="437982"/>
            <a:ext cx="0" cy="34561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B194E75-91F1-6245-B4B1-9E18A60DA827}"/>
              </a:ext>
            </a:extLst>
          </p:cNvPr>
          <p:cNvSpPr txBox="1"/>
          <p:nvPr/>
        </p:nvSpPr>
        <p:spPr>
          <a:xfrm>
            <a:off x="726198" y="2796816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Apple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432AB4-BB30-D94B-93BA-4B95C840A302}"/>
              </a:ext>
            </a:extLst>
          </p:cNvPr>
          <p:cNvSpPr txBox="1"/>
          <p:nvPr/>
        </p:nvSpPr>
        <p:spPr>
          <a:xfrm>
            <a:off x="708654" y="3834485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Google</a:t>
            </a:r>
          </a:p>
        </p:txBody>
      </p:sp>
    </p:spTree>
    <p:extLst>
      <p:ext uri="{BB962C8B-B14F-4D97-AF65-F5344CB8AC3E}">
        <p14:creationId xmlns:p14="http://schemas.microsoft.com/office/powerpoint/2010/main" val="215447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FCB9-A00A-6B47-89AC-790BBF38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= expected loss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6E8837-CB48-4B4F-8D85-0D44E1247EC2}"/>
              </a:ext>
            </a:extLst>
          </p:cNvPr>
          <p:cNvSpPr txBox="1"/>
          <p:nvPr/>
        </p:nvSpPr>
        <p:spPr>
          <a:xfrm>
            <a:off x="4573079" y="622608"/>
            <a:ext cx="1231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rPr>
              <a:t>(cost)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9C7EAC-8FA9-8049-A5B3-492CF4EF389A}"/>
                  </a:ext>
                </a:extLst>
              </p:cNvPr>
              <p:cNvSpPr txBox="1"/>
              <p:nvPr/>
            </p:nvSpPr>
            <p:spPr>
              <a:xfrm>
                <a:off x="3132667" y="3204195"/>
                <a:ext cx="4539641" cy="14404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3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9C7EAC-8FA9-8049-A5B3-492CF4EF3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667" y="3204195"/>
                <a:ext cx="4539641" cy="1440459"/>
              </a:xfrm>
              <a:prstGeom prst="rect">
                <a:avLst/>
              </a:prstGeom>
              <a:blipFill>
                <a:blip r:embed="rId2"/>
                <a:stretch>
                  <a:fillRect l="-1397" t="-109649" r="-2514" b="-164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43EE75-0C41-304B-96F2-7138DBD21DBC}"/>
                  </a:ext>
                </a:extLst>
              </p:cNvPr>
              <p:cNvSpPr txBox="1"/>
              <p:nvPr/>
            </p:nvSpPr>
            <p:spPr>
              <a:xfrm>
                <a:off x="3132667" y="1910609"/>
                <a:ext cx="1922834" cy="5672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32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≜</m:t>
                      </m:r>
                    </m:oMath>
                  </m:oMathPara>
                </a14:m>
                <a:endParaRPr lang="en-US" sz="3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43EE75-0C41-304B-96F2-7138DBD21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667" y="1910609"/>
                <a:ext cx="1922834" cy="567271"/>
              </a:xfrm>
              <a:prstGeom prst="rect">
                <a:avLst/>
              </a:prstGeom>
              <a:blipFill>
                <a:blip r:embed="rId3"/>
                <a:stretch>
                  <a:fillRect l="-3947" r="-3289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AA351C-F98E-3345-B334-0DC73F3C1A75}"/>
                  </a:ext>
                </a:extLst>
              </p:cNvPr>
              <p:cNvSpPr txBox="1"/>
              <p:nvPr/>
            </p:nvSpPr>
            <p:spPr>
              <a:xfrm>
                <a:off x="5402487" y="1910609"/>
                <a:ext cx="630676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404040"/>
                    </a:solidFill>
                    <a:latin typeface="Helvetica Light" charset="0"/>
                    <a:ea typeface="Helvetica Light" charset="0"/>
                    <a:cs typeface="Helvetica Light" charset="0"/>
                  </a:rPr>
                  <a:t>Loss incurred by choosing action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Helvetica Light" charset="0"/>
                        <a:cs typeface="Helvetica Light" charset="0"/>
                      </a:rPr>
                      <m:t>𝑖</m:t>
                    </m:r>
                  </m:oMath>
                </a14:m>
                <a:r>
                  <a:rPr lang="en-US" sz="2800" dirty="0">
                    <a:solidFill>
                      <a:srgbClr val="404040"/>
                    </a:solidFill>
                    <a:latin typeface="Helvetica Light" charset="0"/>
                    <a:ea typeface="Helvetica Light" charset="0"/>
                    <a:cs typeface="Helvetica Light" charset="0"/>
                  </a:rPr>
                  <a:t> and the state of nature being state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Helvetica Light" charset="0"/>
                        <a:cs typeface="Helvetica Light" charset="0"/>
                      </a:rPr>
                      <m:t>𝑗</m:t>
                    </m:r>
                  </m:oMath>
                </a14:m>
                <a:endParaRPr lang="en-US" sz="28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AA351C-F98E-3345-B334-0DC73F3C1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487" y="1910609"/>
                <a:ext cx="6306766" cy="954107"/>
              </a:xfrm>
              <a:prstGeom prst="rect">
                <a:avLst/>
              </a:prstGeom>
              <a:blipFill>
                <a:blip r:embed="rId4"/>
                <a:stretch>
                  <a:fillRect l="-1932" t="-6369" r="-3188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1D2BA03-0626-C54E-B5CC-D6942DCDD147}"/>
              </a:ext>
            </a:extLst>
          </p:cNvPr>
          <p:cNvSpPr txBox="1"/>
          <p:nvPr/>
        </p:nvSpPr>
        <p:spPr>
          <a:xfrm>
            <a:off x="830813" y="3601258"/>
            <a:ext cx="137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4F"/>
                </a:solidFill>
                <a:latin typeface="Helvetica" pitchFamily="2" charset="0"/>
                <a:ea typeface="Helvetica Light" charset="0"/>
                <a:cs typeface="Helvetica Light" charset="0"/>
              </a:rPr>
              <a:t>Risk</a:t>
            </a:r>
            <a:r>
              <a:rPr lang="en-US" sz="3600" dirty="0">
                <a:latin typeface="Helvetica Light" charset="0"/>
                <a:ea typeface="Helvetica Light" charset="0"/>
                <a:cs typeface="Helvetica Light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C74E4-66C6-CE4B-A971-FB5BF0CD4037}"/>
              </a:ext>
            </a:extLst>
          </p:cNvPr>
          <p:cNvSpPr txBox="1"/>
          <p:nvPr/>
        </p:nvSpPr>
        <p:spPr>
          <a:xfrm>
            <a:off x="830812" y="1806691"/>
            <a:ext cx="1803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4F"/>
                </a:solidFill>
                <a:latin typeface="Helvetica" pitchFamily="2" charset="0"/>
                <a:ea typeface="Helvetica Light" charset="0"/>
                <a:cs typeface="Helvetica Light" charset="0"/>
              </a:rPr>
              <a:t>Loss</a:t>
            </a:r>
            <a:r>
              <a:rPr lang="en-US" sz="3600" dirty="0">
                <a:latin typeface="Helvetica Light" charset="0"/>
                <a:ea typeface="Helvetica Light" charset="0"/>
                <a:cs typeface="Helvetica Light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0B5B51-2A2A-A04B-BF58-EC0FDC6B9EAB}"/>
                  </a:ext>
                </a:extLst>
              </p:cNvPr>
              <p:cNvSpPr txBox="1"/>
              <p:nvPr/>
            </p:nvSpPr>
            <p:spPr>
              <a:xfrm>
                <a:off x="830812" y="5283025"/>
                <a:ext cx="113611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0B04F"/>
                    </a:solidFill>
                    <a:latin typeface="Helvetica" pitchFamily="2" charset="0"/>
                    <a:ea typeface="Helvetica Light" charset="0"/>
                    <a:cs typeface="Helvetica Light" charset="0"/>
                  </a:rPr>
                  <a:t>Goal</a:t>
                </a:r>
                <a:r>
                  <a:rPr lang="en-US" sz="3600" dirty="0">
                    <a:solidFill>
                      <a:srgbClr val="404040"/>
                    </a:solidFill>
                    <a:latin typeface="Helvetica Light" charset="0"/>
                    <a:ea typeface="Helvetica Light" charset="0"/>
                    <a:cs typeface="Helvetica Light" charset="0"/>
                  </a:rPr>
                  <a:t>:	    Select action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Helvetica Light" charset="0"/>
                        <a:cs typeface="Helvetica Light" charset="0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rgbClr val="404040"/>
                    </a:solidFill>
                    <a:latin typeface="Helvetica Light" charset="0"/>
                    <a:ea typeface="Helvetica Light" charset="0"/>
                    <a:cs typeface="Helvetica Light" charset="0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Helvetica Light" charset="0"/>
                        <a:cs typeface="Helvetica Light" charset="0"/>
                      </a:rPr>
                      <m:t>𝑅</m:t>
                    </m:r>
                    <m:r>
                      <a:rPr lang="en-US" sz="36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Helvetica Light" charset="0"/>
                        <a:cs typeface="Helvetica Light" charset="0"/>
                      </a:rPr>
                      <m:t>(</m:t>
                    </m:r>
                    <m:sSub>
                      <m:sSubPr>
                        <m:ctrlPr>
                          <a:rPr lang="en-US" sz="36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Helvetica Light" charset="0"/>
                            <a:cs typeface="Helvetica Light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Helvetica Light" charset="0"/>
                            <a:cs typeface="Helvetica Light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Helvetica Light" charset="0"/>
                            <a:cs typeface="Helvetica Light" charset="0"/>
                          </a:rPr>
                          <m:t>𝑖</m:t>
                        </m:r>
                      </m:sub>
                    </m:sSub>
                    <m:r>
                      <a:rPr lang="en-US" sz="36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Helvetica Light" charset="0"/>
                        <a:cs typeface="Helvetica Light" charset="0"/>
                      </a:rPr>
                      <m:t>)</m:t>
                    </m:r>
                  </m:oMath>
                </a14:m>
                <a:r>
                  <a:rPr lang="en-US" sz="3600" dirty="0">
                    <a:solidFill>
                      <a:srgbClr val="404040"/>
                    </a:solidFill>
                    <a:latin typeface="Helvetica Light" charset="0"/>
                    <a:ea typeface="Helvetica Light" charset="0"/>
                    <a:cs typeface="Helvetica Light" charset="0"/>
                  </a:rPr>
                  <a:t> is minimum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0B5B51-2A2A-A04B-BF58-EC0FDC6B9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12" y="5283025"/>
                <a:ext cx="11361187" cy="646331"/>
              </a:xfrm>
              <a:prstGeom prst="rect">
                <a:avLst/>
              </a:prstGeom>
              <a:blipFill>
                <a:blip r:embed="rId5"/>
                <a:stretch>
                  <a:fillRect l="-1609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3A73758-BCF4-DF40-811D-386E596AB822}"/>
              </a:ext>
            </a:extLst>
          </p:cNvPr>
          <p:cNvSpPr txBox="1"/>
          <p:nvPr/>
        </p:nvSpPr>
        <p:spPr>
          <a:xfrm>
            <a:off x="830812" y="4072809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rPr>
              <a:t>Expected loss</a:t>
            </a:r>
          </a:p>
        </p:txBody>
      </p:sp>
    </p:spTree>
    <p:extLst>
      <p:ext uri="{BB962C8B-B14F-4D97-AF65-F5344CB8AC3E}">
        <p14:creationId xmlns:p14="http://schemas.microsoft.com/office/powerpoint/2010/main" val="202302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B077BE-EC46-904A-B371-B8F50441A5D1}"/>
              </a:ext>
            </a:extLst>
          </p:cNvPr>
          <p:cNvSpPr txBox="1"/>
          <p:nvPr/>
        </p:nvSpPr>
        <p:spPr>
          <a:xfrm>
            <a:off x="2881979" y="1748123"/>
            <a:ext cx="23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State of Nature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3F2E49-B3DA-114D-98E3-28B7A0A2D31C}"/>
              </a:ext>
            </a:extLst>
          </p:cNvPr>
          <p:cNvSpPr txBox="1"/>
          <p:nvPr/>
        </p:nvSpPr>
        <p:spPr>
          <a:xfrm rot="16200000">
            <a:off x="-300565" y="4352556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Action</a:t>
            </a:r>
          </a:p>
        </p:txBody>
      </p:sp>
      <p:graphicFrame>
        <p:nvGraphicFramePr>
          <p:cNvPr id="6" name="Content Placeholder 8">
            <a:extLst>
              <a:ext uri="{FF2B5EF4-FFF2-40B4-BE49-F238E27FC236}">
                <a16:creationId xmlns:a16="http://schemas.microsoft.com/office/drawing/2014/main" id="{3DA4F38A-103B-154F-9A36-1F1A337804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821579"/>
              </p:ext>
            </p:extLst>
          </p:nvPr>
        </p:nvGraphicFramePr>
        <p:xfrm>
          <a:off x="2414101" y="3073827"/>
          <a:ext cx="3310124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2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  <a:gridCol w="1655062">
                  <a:extLst>
                    <a:ext uri="{9D8B030D-6E8A-4147-A177-3AD203B41FA5}">
                      <a16:colId xmlns:a16="http://schemas.microsoft.com/office/drawing/2014/main" val="696407320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-2,000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2,100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7331D32-0F12-6943-8911-8E64C87B4C35}"/>
              </a:ext>
            </a:extLst>
          </p:cNvPr>
          <p:cNvSpPr txBox="1"/>
          <p:nvPr/>
        </p:nvSpPr>
        <p:spPr>
          <a:xfrm>
            <a:off x="2294952" y="2321546"/>
            <a:ext cx="1905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Poor market performance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E63E44-83D6-7E4C-9146-2C2221599E8A}"/>
              </a:ext>
            </a:extLst>
          </p:cNvPr>
          <p:cNvSpPr txBox="1"/>
          <p:nvPr/>
        </p:nvSpPr>
        <p:spPr>
          <a:xfrm>
            <a:off x="3809996" y="2321546"/>
            <a:ext cx="2242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Good market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8A7AD-C1A7-7A43-9333-108FCD921BC0}"/>
              </a:ext>
            </a:extLst>
          </p:cNvPr>
          <p:cNvSpPr txBox="1"/>
          <p:nvPr/>
        </p:nvSpPr>
        <p:spPr>
          <a:xfrm>
            <a:off x="599965" y="5379757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bonds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F83B92-74F0-4C43-97FE-D72AF8B69161}"/>
              </a:ext>
            </a:extLst>
          </p:cNvPr>
          <p:cNvSpPr txBox="1"/>
          <p:nvPr/>
        </p:nvSpPr>
        <p:spPr>
          <a:xfrm>
            <a:off x="617509" y="3303001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Apple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4B8C31-84CA-4248-B9D5-A64FE0EF76AC}"/>
              </a:ext>
            </a:extLst>
          </p:cNvPr>
          <p:cNvSpPr txBox="1"/>
          <p:nvPr/>
        </p:nvSpPr>
        <p:spPr>
          <a:xfrm>
            <a:off x="599965" y="4340670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Google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B1A0C9-2FB1-694E-9FBF-B604A8E455E2}"/>
              </a:ext>
            </a:extLst>
          </p:cNvPr>
          <p:cNvSpPr txBox="1"/>
          <p:nvPr/>
        </p:nvSpPr>
        <p:spPr>
          <a:xfrm>
            <a:off x="9021521" y="1748123"/>
            <a:ext cx="23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State of Nature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D8DE7C-5D9C-8D4B-B67D-A964D5BD0C6D}"/>
              </a:ext>
            </a:extLst>
          </p:cNvPr>
          <p:cNvSpPr txBox="1"/>
          <p:nvPr/>
        </p:nvSpPr>
        <p:spPr>
          <a:xfrm rot="16200000">
            <a:off x="5838977" y="4352556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Action</a:t>
            </a:r>
          </a:p>
        </p:txBody>
      </p:sp>
      <p:graphicFrame>
        <p:nvGraphicFramePr>
          <p:cNvPr id="16" name="Content Placeholder 8">
            <a:extLst>
              <a:ext uri="{FF2B5EF4-FFF2-40B4-BE49-F238E27FC236}">
                <a16:creationId xmlns:a16="http://schemas.microsoft.com/office/drawing/2014/main" id="{744D9DA3-094E-064E-A4CC-1D1B4446BF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9378286"/>
              </p:ext>
            </p:extLst>
          </p:nvPr>
        </p:nvGraphicFramePr>
        <p:xfrm>
          <a:off x="8553643" y="3073827"/>
          <a:ext cx="3310124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062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  <a:gridCol w="1655062">
                  <a:extLst>
                    <a:ext uri="{9D8B030D-6E8A-4147-A177-3AD203B41FA5}">
                      <a16:colId xmlns:a16="http://schemas.microsoft.com/office/drawing/2014/main" val="696407320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2,500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8C9E28D-4477-764D-B4B8-9C52C37990E8}"/>
              </a:ext>
            </a:extLst>
          </p:cNvPr>
          <p:cNvSpPr txBox="1"/>
          <p:nvPr/>
        </p:nvSpPr>
        <p:spPr>
          <a:xfrm>
            <a:off x="8434494" y="2321546"/>
            <a:ext cx="1905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Poor market performance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963533-CC35-464B-A058-5BC0F80692AA}"/>
              </a:ext>
            </a:extLst>
          </p:cNvPr>
          <p:cNvSpPr txBox="1"/>
          <p:nvPr/>
        </p:nvSpPr>
        <p:spPr>
          <a:xfrm>
            <a:off x="9949538" y="2321546"/>
            <a:ext cx="2242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Good market performance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7974B-EA41-8242-B855-463EBA8F088B}"/>
              </a:ext>
            </a:extLst>
          </p:cNvPr>
          <p:cNvSpPr txBox="1"/>
          <p:nvPr/>
        </p:nvSpPr>
        <p:spPr>
          <a:xfrm>
            <a:off x="6739507" y="5379757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bonds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574B4E-3293-4D49-807C-01BD6D87A159}"/>
              </a:ext>
            </a:extLst>
          </p:cNvPr>
          <p:cNvSpPr txBox="1"/>
          <p:nvPr/>
        </p:nvSpPr>
        <p:spPr>
          <a:xfrm>
            <a:off x="6757051" y="3303001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Apple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80042B-6167-6249-A231-28033FF1F364}"/>
              </a:ext>
            </a:extLst>
          </p:cNvPr>
          <p:cNvSpPr txBox="1"/>
          <p:nvPr/>
        </p:nvSpPr>
        <p:spPr>
          <a:xfrm>
            <a:off x="6739507" y="4340670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Google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B0A4A0-6355-444D-A221-B76E028EC2AA}"/>
              </a:ext>
            </a:extLst>
          </p:cNvPr>
          <p:cNvSpPr txBox="1"/>
          <p:nvPr/>
        </p:nvSpPr>
        <p:spPr>
          <a:xfrm>
            <a:off x="3086706" y="666900"/>
            <a:ext cx="1905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Payoff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369FE4-A540-5E44-8A25-B3508F5DAE74}"/>
              </a:ext>
            </a:extLst>
          </p:cNvPr>
          <p:cNvSpPr txBox="1"/>
          <p:nvPr/>
        </p:nvSpPr>
        <p:spPr>
          <a:xfrm>
            <a:off x="9209920" y="666900"/>
            <a:ext cx="1905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Loss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9E82FC-5E3D-4746-B9AD-A2CF927FE666}"/>
              </a:ext>
            </a:extLst>
          </p:cNvPr>
          <p:cNvSpPr txBox="1"/>
          <p:nvPr/>
        </p:nvSpPr>
        <p:spPr>
          <a:xfrm>
            <a:off x="8809011" y="1089724"/>
            <a:ext cx="2893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rPr>
              <a:t>(here we define loss in terms of opportunity cost)</a:t>
            </a:r>
          </a:p>
        </p:txBody>
      </p:sp>
    </p:spTree>
    <p:extLst>
      <p:ext uri="{BB962C8B-B14F-4D97-AF65-F5344CB8AC3E}">
        <p14:creationId xmlns:p14="http://schemas.microsoft.com/office/powerpoint/2010/main" val="375323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8" grpId="0"/>
      <p:bldP spid="19" grpId="0"/>
      <p:bldP spid="22" grpId="0"/>
      <p:bldP spid="23" grpId="0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F0AE-BA8D-DF48-B565-7ED20F8B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Investments: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B61761-E6BA-6443-AC92-D3117E05FAE0}"/>
                  </a:ext>
                </a:extLst>
              </p:cNvPr>
              <p:cNvSpPr txBox="1"/>
              <p:nvPr/>
            </p:nvSpPr>
            <p:spPr>
              <a:xfrm>
                <a:off x="4687079" y="850900"/>
                <a:ext cx="28103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404040"/>
                    </a:solidFill>
                    <a:latin typeface="Helvetica" pitchFamily="2" charset="0"/>
                    <a:ea typeface="Helvetica Light" charset="0"/>
                    <a:cs typeface="Helvetica Light" charset="0"/>
                  </a:rPr>
                  <a:t>State of Nature (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Helvetica Light" charset="0"/>
                        <a:cs typeface="Helvetica Light" charset="0"/>
                      </a:rPr>
                      <m:t>𝐬</m:t>
                    </m:r>
                  </m:oMath>
                </a14:m>
                <a:r>
                  <a:rPr lang="en-US" sz="2400" b="1" dirty="0">
                    <a:solidFill>
                      <a:srgbClr val="404040"/>
                    </a:solidFill>
                    <a:latin typeface="Helvetica" pitchFamily="2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B61761-E6BA-6443-AC92-D3117E05F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079" y="850900"/>
                <a:ext cx="2810385" cy="461665"/>
              </a:xfrm>
              <a:prstGeom prst="rect">
                <a:avLst/>
              </a:prstGeom>
              <a:blipFill>
                <a:blip r:embed="rId2"/>
                <a:stretch>
                  <a:fillRect l="-3153" t="-10811" r="-2252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B2D0B71-BB8A-6642-8713-58E97B138635}"/>
              </a:ext>
            </a:extLst>
          </p:cNvPr>
          <p:cNvSpPr txBox="1"/>
          <p:nvPr/>
        </p:nvSpPr>
        <p:spPr>
          <a:xfrm rot="16200000">
            <a:off x="-213009" y="3806804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Action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A05971F-FAC1-5B43-BEF5-E8F1B7732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9053575"/>
              </p:ext>
            </p:extLst>
          </p:nvPr>
        </p:nvGraphicFramePr>
        <p:xfrm>
          <a:off x="3006406" y="2578643"/>
          <a:ext cx="5811982" cy="3117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5991">
                  <a:extLst>
                    <a:ext uri="{9D8B030D-6E8A-4147-A177-3AD203B41FA5}">
                      <a16:colId xmlns:a16="http://schemas.microsoft.com/office/drawing/2014/main" val="4227622863"/>
                    </a:ext>
                  </a:extLst>
                </a:gridCol>
                <a:gridCol w="2905991">
                  <a:extLst>
                    <a:ext uri="{9D8B030D-6E8A-4147-A177-3AD203B41FA5}">
                      <a16:colId xmlns:a16="http://schemas.microsoft.com/office/drawing/2014/main" val="696407320"/>
                    </a:ext>
                  </a:extLst>
                </a:gridCol>
              </a:tblGrid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234663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2,500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90798"/>
                  </a:ext>
                </a:extLst>
              </a:tr>
              <a:tr h="1039091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rgbClr val="404040"/>
                          </a:solidFill>
                          <a:latin typeface="Helvetica Light" panose="020B0403020202020204" pitchFamily="34" charset="0"/>
                        </a:rPr>
                        <a:t>1,600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3315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BD2E16F-9ECB-3F46-8E16-9B95B0BFF64B}"/>
              </a:ext>
            </a:extLst>
          </p:cNvPr>
          <p:cNvSpPr txBox="1"/>
          <p:nvPr/>
        </p:nvSpPr>
        <p:spPr>
          <a:xfrm>
            <a:off x="3352770" y="1526209"/>
            <a:ext cx="2311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Poor market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C1686-F3DF-FF45-9B7A-8A3A767DB16A}"/>
              </a:ext>
            </a:extLst>
          </p:cNvPr>
          <p:cNvSpPr txBox="1"/>
          <p:nvPr/>
        </p:nvSpPr>
        <p:spPr>
          <a:xfrm>
            <a:off x="6033184" y="1524605"/>
            <a:ext cx="2720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Excellent market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395911-C071-E54F-B907-13164D2DE2CD}"/>
                  </a:ext>
                </a:extLst>
              </p:cNvPr>
              <p:cNvSpPr/>
              <p:nvPr/>
            </p:nvSpPr>
            <p:spPr>
              <a:xfrm>
                <a:off x="4153378" y="2228006"/>
                <a:ext cx="8569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395911-C071-E54F-B907-13164D2DE2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378" y="2228006"/>
                <a:ext cx="85696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0293E76-217D-BB4A-8976-B6D8188491E7}"/>
                  </a:ext>
                </a:extLst>
              </p:cNvPr>
              <p:cNvSpPr/>
              <p:nvPr/>
            </p:nvSpPr>
            <p:spPr>
              <a:xfrm>
                <a:off x="6993560" y="2228006"/>
                <a:ext cx="8516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0293E76-217D-BB4A-8976-B6D8188491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560" y="2228006"/>
                <a:ext cx="8516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F4EBD35-3692-E146-A416-B6DE4C1F7EFB}"/>
              </a:ext>
            </a:extLst>
          </p:cNvPr>
          <p:cNvSpPr txBox="1"/>
          <p:nvPr/>
        </p:nvSpPr>
        <p:spPr>
          <a:xfrm>
            <a:off x="588653" y="4834005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bonds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480F01-C46D-EB4B-9AF3-319D610A4257}"/>
              </a:ext>
            </a:extLst>
          </p:cNvPr>
          <p:cNvSpPr txBox="1"/>
          <p:nvPr/>
        </p:nvSpPr>
        <p:spPr>
          <a:xfrm>
            <a:off x="348085" y="5914663"/>
            <a:ext cx="2783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State Probability: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4158D5-7CED-C849-8069-23F379CAD0BA}"/>
              </a:ext>
            </a:extLst>
          </p:cNvPr>
          <p:cNvSpPr txBox="1"/>
          <p:nvPr/>
        </p:nvSpPr>
        <p:spPr>
          <a:xfrm>
            <a:off x="4153378" y="5914663"/>
            <a:ext cx="711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0.3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FA7AB1-2AE9-D04B-9EC8-9BD89856A992}"/>
              </a:ext>
            </a:extLst>
          </p:cNvPr>
          <p:cNvSpPr txBox="1"/>
          <p:nvPr/>
        </p:nvSpPr>
        <p:spPr>
          <a:xfrm>
            <a:off x="7062833" y="5914663"/>
            <a:ext cx="711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0.7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CC6C54-2CBC-2F44-9738-963FF1C54658}"/>
              </a:ext>
            </a:extLst>
          </p:cNvPr>
          <p:cNvSpPr txBox="1"/>
          <p:nvPr/>
        </p:nvSpPr>
        <p:spPr>
          <a:xfrm>
            <a:off x="8854865" y="1629716"/>
            <a:ext cx="3524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Risk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  <a:ea typeface="Helvetica Light" charset="0"/>
                <a:cs typeface="Helvetica Light" charset="0"/>
              </a:rPr>
              <a:t> (Expected Loss)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6B271A7-AEAE-844B-8DE5-EE129D1D47A1}"/>
                  </a:ext>
                </a:extLst>
              </p:cNvPr>
              <p:cNvSpPr/>
              <p:nvPr/>
            </p:nvSpPr>
            <p:spPr>
              <a:xfrm>
                <a:off x="1216214" y="3100839"/>
                <a:ext cx="9083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6B271A7-AEAE-844B-8DE5-EE129D1D47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214" y="3100839"/>
                <a:ext cx="90838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6DED9C8-D9A1-D948-A90E-1C49F96D4604}"/>
                  </a:ext>
                </a:extLst>
              </p:cNvPr>
              <p:cNvSpPr/>
              <p:nvPr/>
            </p:nvSpPr>
            <p:spPr>
              <a:xfrm>
                <a:off x="1216214" y="4139930"/>
                <a:ext cx="90306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6DED9C8-D9A1-D948-A90E-1C49F96D46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214" y="4139930"/>
                <a:ext cx="90306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A80D467-F809-C64A-8555-8D9E6E8A36DE}"/>
                  </a:ext>
                </a:extLst>
              </p:cNvPr>
              <p:cNvSpPr/>
              <p:nvPr/>
            </p:nvSpPr>
            <p:spPr>
              <a:xfrm>
                <a:off x="1216214" y="5179020"/>
                <a:ext cx="9083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A80D467-F809-C64A-8555-8D9E6E8A36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214" y="5179020"/>
                <a:ext cx="90838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C0034C8-A97F-694A-B55C-67FFF469522D}"/>
                  </a:ext>
                </a:extLst>
              </p:cNvPr>
              <p:cNvSpPr/>
              <p:nvPr/>
            </p:nvSpPr>
            <p:spPr>
              <a:xfrm>
                <a:off x="8889816" y="2736450"/>
                <a:ext cx="278486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0.3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1500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0.7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400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𝟕𝟑𝟎</m:t>
                      </m:r>
                    </m:oMath>
                  </m:oMathPara>
                </a14:m>
                <a:endParaRPr lang="en-US" b="1" dirty="0">
                  <a:solidFill>
                    <a:srgbClr val="404040"/>
                  </a:solidFill>
                  <a:ea typeface="Helvetica Light" charset="0"/>
                  <a:cs typeface="Helvetica Light" charset="0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C0034C8-A97F-694A-B55C-67FFF46952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816" y="2736450"/>
                <a:ext cx="2784865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B34E7A4-78B3-1F49-A8CA-0C332F497E38}"/>
                  </a:ext>
                </a:extLst>
              </p:cNvPr>
              <p:cNvSpPr/>
              <p:nvPr/>
            </p:nvSpPr>
            <p:spPr>
              <a:xfrm>
                <a:off x="10152104" y="2045214"/>
                <a:ext cx="7862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B34E7A4-78B3-1F49-A8CA-0C332F497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104" y="2045214"/>
                <a:ext cx="7862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044D893-C8F2-E940-AFBC-122D04D30407}"/>
                  </a:ext>
                </a:extLst>
              </p:cNvPr>
              <p:cNvSpPr/>
              <p:nvPr/>
            </p:nvSpPr>
            <p:spPr>
              <a:xfrm>
                <a:off x="8889816" y="3789395"/>
                <a:ext cx="256595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0.3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2500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0.7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𝟕𝟓𝟎</m:t>
                      </m:r>
                    </m:oMath>
                  </m:oMathPara>
                </a14:m>
                <a:endParaRPr lang="en-US" b="1" dirty="0">
                  <a:solidFill>
                    <a:srgbClr val="404040"/>
                  </a:solidFill>
                  <a:ea typeface="Helvetica Light" charset="0"/>
                  <a:cs typeface="Helvetica Light" charset="0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044D893-C8F2-E940-AFBC-122D04D30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816" y="3789395"/>
                <a:ext cx="2565959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9F1E69D-5D44-FB49-BE72-FB7A1AC53830}"/>
                  </a:ext>
                </a:extLst>
              </p:cNvPr>
              <p:cNvSpPr/>
              <p:nvPr/>
            </p:nvSpPr>
            <p:spPr>
              <a:xfrm>
                <a:off x="8889816" y="4800777"/>
                <a:ext cx="252838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0.3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0.7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1600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𝟏𝟐𝟐𝟎</m:t>
                      </m:r>
                    </m:oMath>
                  </m:oMathPara>
                </a14:m>
                <a:endParaRPr lang="en-US" b="1" dirty="0">
                  <a:solidFill>
                    <a:srgbClr val="404040"/>
                  </a:solidFill>
                  <a:ea typeface="Helvetica Light" charset="0"/>
                  <a:cs typeface="Helvetica Light" charset="0"/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9F1E69D-5D44-FB49-BE72-FB7A1AC538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816" y="4800777"/>
                <a:ext cx="2528384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98BDC15-18C8-0545-A7FB-4C74786AD96E}"/>
                  </a:ext>
                </a:extLst>
              </p:cNvPr>
              <p:cNvSpPr/>
              <p:nvPr/>
            </p:nvSpPr>
            <p:spPr>
              <a:xfrm>
                <a:off x="8049408" y="92364"/>
                <a:ext cx="40230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98BDC15-18C8-0545-A7FB-4C74786AD9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408" y="92364"/>
                <a:ext cx="4023024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ECE6E1B-8C0C-D84D-8CB8-A57CBEF93B80}"/>
                  </a:ext>
                </a:extLst>
              </p:cNvPr>
              <p:cNvSpPr/>
              <p:nvPr/>
            </p:nvSpPr>
            <p:spPr>
              <a:xfrm>
                <a:off x="2964550" y="2578643"/>
                <a:ext cx="10694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ECE6E1B-8C0C-D84D-8CB8-A57CBEF93B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550" y="2578643"/>
                <a:ext cx="106946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9B1B13D-330A-C844-B1D4-4DC742ECDCD7}"/>
                  </a:ext>
                </a:extLst>
              </p:cNvPr>
              <p:cNvSpPr/>
              <p:nvPr/>
            </p:nvSpPr>
            <p:spPr>
              <a:xfrm>
                <a:off x="5846295" y="2578643"/>
                <a:ext cx="11154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𝜆</m:t>
                      </m:r>
                      <m:r>
                        <a:rPr lang="en-US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9B1B13D-330A-C844-B1D4-4DC742ECD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295" y="2578643"/>
                <a:ext cx="1115434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D7A30A4-E28A-294B-9FFA-5780B135E68D}"/>
                  </a:ext>
                </a:extLst>
              </p:cNvPr>
              <p:cNvSpPr/>
              <p:nvPr/>
            </p:nvSpPr>
            <p:spPr>
              <a:xfrm>
                <a:off x="2964550" y="3617734"/>
                <a:ext cx="11154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𝜆</m:t>
                      </m:r>
                      <m:r>
                        <a:rPr lang="en-US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D7A30A4-E28A-294B-9FFA-5780B135E6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550" y="3617734"/>
                <a:ext cx="1115434" cy="369332"/>
              </a:xfrm>
              <a:prstGeom prst="rect">
                <a:avLst/>
              </a:prstGeom>
              <a:blipFill>
                <a:blip r:embed="rId1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A900377-F767-5849-B75E-B164E3C6A6F9}"/>
                  </a:ext>
                </a:extLst>
              </p:cNvPr>
              <p:cNvSpPr/>
              <p:nvPr/>
            </p:nvSpPr>
            <p:spPr>
              <a:xfrm>
                <a:off x="5846295" y="3617734"/>
                <a:ext cx="11101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𝜆</m:t>
                      </m:r>
                      <m:r>
                        <a:rPr lang="en-US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A900377-F767-5849-B75E-B164E3C6A6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295" y="3617734"/>
                <a:ext cx="1110112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4999592-45D6-BE4E-9EAC-84B83EEB3B93}"/>
                  </a:ext>
                </a:extLst>
              </p:cNvPr>
              <p:cNvSpPr/>
              <p:nvPr/>
            </p:nvSpPr>
            <p:spPr>
              <a:xfrm>
                <a:off x="2964550" y="4670679"/>
                <a:ext cx="1120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𝜆</m:t>
                      </m:r>
                      <m:r>
                        <a:rPr lang="en-US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4999592-45D6-BE4E-9EAC-84B83EEB3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550" y="4670679"/>
                <a:ext cx="1120756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ECA3938-D1D4-494E-A52B-603B97E30F8D}"/>
                  </a:ext>
                </a:extLst>
              </p:cNvPr>
              <p:cNvSpPr/>
              <p:nvPr/>
            </p:nvSpPr>
            <p:spPr>
              <a:xfrm>
                <a:off x="5846295" y="4670679"/>
                <a:ext cx="11154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𝜆</m:t>
                      </m:r>
                      <m:r>
                        <a:rPr lang="en-US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ECA3938-D1D4-494E-A52B-603B97E30F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295" y="4670679"/>
                <a:ext cx="1115434" cy="369332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54692A3-D6F4-374A-868C-C289C99FBEBE}"/>
                  </a:ext>
                </a:extLst>
              </p:cNvPr>
              <p:cNvSpPr/>
              <p:nvPr/>
            </p:nvSpPr>
            <p:spPr>
              <a:xfrm>
                <a:off x="3131175" y="5960829"/>
                <a:ext cx="10222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54692A3-D6F4-374A-868C-C289C99FBE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75" y="5960829"/>
                <a:ext cx="102220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D7033C-316A-224A-8DDC-1D1BA5A13A1B}"/>
                  </a:ext>
                </a:extLst>
              </p:cNvPr>
              <p:cNvSpPr/>
              <p:nvPr/>
            </p:nvSpPr>
            <p:spPr>
              <a:xfrm>
                <a:off x="6096048" y="5960829"/>
                <a:ext cx="10168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</m:oMath>
                  </m:oMathPara>
                </a14:m>
                <a:endParaRPr lang="en-US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D7033C-316A-224A-8DDC-1D1BA5A13A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48" y="5960829"/>
                <a:ext cx="101688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30314748-24EC-3343-9B1D-9AB8FC593EC6}"/>
              </a:ext>
            </a:extLst>
          </p:cNvPr>
          <p:cNvSpPr txBox="1"/>
          <p:nvPr/>
        </p:nvSpPr>
        <p:spPr>
          <a:xfrm>
            <a:off x="7852207" y="758416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Risk (Expected loss)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3AA0643-B455-5C48-A1AC-060CFCFBCD36}"/>
              </a:ext>
            </a:extLst>
          </p:cNvPr>
          <p:cNvCxnSpPr/>
          <p:nvPr/>
        </p:nvCxnSpPr>
        <p:spPr>
          <a:xfrm flipV="1">
            <a:off x="8231643" y="437982"/>
            <a:ext cx="0" cy="34561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1C46378-29BD-4640-AE95-F235FA7AABD6}"/>
              </a:ext>
            </a:extLst>
          </p:cNvPr>
          <p:cNvSpPr txBox="1"/>
          <p:nvPr/>
        </p:nvSpPr>
        <p:spPr>
          <a:xfrm>
            <a:off x="557757" y="2796816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Apple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74F813-C539-ED4F-A936-0D090CBF7175}"/>
              </a:ext>
            </a:extLst>
          </p:cNvPr>
          <p:cNvSpPr txBox="1"/>
          <p:nvPr/>
        </p:nvSpPr>
        <p:spPr>
          <a:xfrm>
            <a:off x="540213" y="3834485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Buy Google</a:t>
            </a:r>
          </a:p>
        </p:txBody>
      </p:sp>
    </p:spTree>
    <p:extLst>
      <p:ext uri="{BB962C8B-B14F-4D97-AF65-F5344CB8AC3E}">
        <p14:creationId xmlns:p14="http://schemas.microsoft.com/office/powerpoint/2010/main" val="26106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85" y="2498272"/>
            <a:ext cx="10515600" cy="1588946"/>
          </a:xfrm>
        </p:spPr>
        <p:txBody>
          <a:bodyPr/>
          <a:lstStyle/>
          <a:p>
            <a:pPr algn="ctr"/>
            <a:r>
              <a:rPr lang="en-US" dirty="0"/>
              <a:t>We can use risk to choose where to operate along an ROC curve</a:t>
            </a:r>
          </a:p>
        </p:txBody>
      </p:sp>
    </p:spTree>
    <p:extLst>
      <p:ext uri="{BB962C8B-B14F-4D97-AF65-F5344CB8AC3E}">
        <p14:creationId xmlns:p14="http://schemas.microsoft.com/office/powerpoint/2010/main" val="3540869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1AEE-F138-931A-7ADA-522B1082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E4F0-42A0-D564-26F6-BA336438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 </a:t>
            </a:r>
            <a:r>
              <a:rPr lang="en-US" dirty="0">
                <a:sym typeface="Wingdings" pitchFamily="2" charset="2"/>
              </a:rPr>
              <a:t> Application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890430-8A7C-4D51-E23E-B54DEE129F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632217" y="1738176"/>
            <a:ext cx="3861033" cy="357066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52B2BF4-DB0B-63C9-83E7-C66466B2DE2F}"/>
              </a:ext>
            </a:extLst>
          </p:cNvPr>
          <p:cNvSpPr/>
          <p:nvPr/>
        </p:nvSpPr>
        <p:spPr>
          <a:xfrm>
            <a:off x="1445381" y="4600709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0F748C3-B8B8-0035-68E1-8413422407E0}"/>
              </a:ext>
            </a:extLst>
          </p:cNvPr>
          <p:cNvGrpSpPr/>
          <p:nvPr/>
        </p:nvGrpSpPr>
        <p:grpSpPr>
          <a:xfrm>
            <a:off x="1445381" y="3710372"/>
            <a:ext cx="126504" cy="1006768"/>
            <a:chOff x="902064" y="1922402"/>
            <a:chExt cx="126504" cy="10067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E4FD4C8-8751-7899-0D2B-B71F812B3309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0278C4B-E603-826F-CEFA-9D3024C16671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E639FB-BDB9-F5D3-C594-323A5E7561AC}"/>
              </a:ext>
            </a:extLst>
          </p:cNvPr>
          <p:cNvGrpSpPr/>
          <p:nvPr/>
        </p:nvGrpSpPr>
        <p:grpSpPr>
          <a:xfrm>
            <a:off x="1445381" y="2858608"/>
            <a:ext cx="126504" cy="1025275"/>
            <a:chOff x="902064" y="1070638"/>
            <a:chExt cx="126504" cy="102527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E048196-5340-768F-DEEC-1E10C991F95A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B2FC15-3C75-A784-57F2-F8BD610CA8EA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1755B14-2B17-5EC0-7CEE-7FA0FDFEC30C}"/>
              </a:ext>
            </a:extLst>
          </p:cNvPr>
          <p:cNvGrpSpPr/>
          <p:nvPr/>
        </p:nvGrpSpPr>
        <p:grpSpPr>
          <a:xfrm>
            <a:off x="2791389" y="1907933"/>
            <a:ext cx="126504" cy="1020326"/>
            <a:chOff x="2248072" y="119963"/>
            <a:chExt cx="126504" cy="102032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5C04A04-68B4-5A3C-624D-7C8E479EA366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6E7C736-C7BF-E6B4-4446-75C744108602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7301DF-6CE6-5F3C-8BF4-88273CA055D3}"/>
              </a:ext>
            </a:extLst>
          </p:cNvPr>
          <p:cNvGrpSpPr/>
          <p:nvPr/>
        </p:nvGrpSpPr>
        <p:grpSpPr>
          <a:xfrm>
            <a:off x="1508633" y="2858608"/>
            <a:ext cx="1409260" cy="126504"/>
            <a:chOff x="965316" y="1070638"/>
            <a:chExt cx="1409260" cy="126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1961D7B-6DAB-BCEC-69B7-3D0A974EF139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12FD1E-DE60-A68F-C707-C8B8E2394FB1}"/>
                </a:ext>
              </a:extLst>
            </p:cNvPr>
            <p:cNvCxnSpPr>
              <a:stCxn id="20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D43250-3A4C-FDC4-1BEE-EA3ADA2EA286}"/>
              </a:ext>
            </a:extLst>
          </p:cNvPr>
          <p:cNvGrpSpPr/>
          <p:nvPr/>
        </p:nvGrpSpPr>
        <p:grpSpPr>
          <a:xfrm>
            <a:off x="2820774" y="1907933"/>
            <a:ext cx="1456095" cy="126504"/>
            <a:chOff x="2277457" y="119963"/>
            <a:chExt cx="1456095" cy="12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D235E2E-313D-5E13-1551-B24C39DBE52F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FD386E2-68EC-B3E0-6498-AEBECFBBF8DD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124118-BD72-08CD-923A-9538AD2AD29D}"/>
                  </a:ext>
                </a:extLst>
              </p:cNvPr>
              <p:cNvSpPr txBox="1"/>
              <p:nvPr/>
            </p:nvSpPr>
            <p:spPr>
              <a:xfrm>
                <a:off x="1528437" y="5005251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124118-BD72-08CD-923A-9538AD2AD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437" y="5005251"/>
                <a:ext cx="2742336" cy="369332"/>
              </a:xfrm>
              <a:prstGeom prst="rect">
                <a:avLst/>
              </a:prstGeom>
              <a:blipFill>
                <a:blip r:embed="rId3"/>
                <a:stretch>
                  <a:fillRect l="-1843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6E3FE0-B1CE-4A28-3219-517E4EE39742}"/>
                  </a:ext>
                </a:extLst>
              </p:cNvPr>
              <p:cNvSpPr txBox="1"/>
              <p:nvPr/>
            </p:nvSpPr>
            <p:spPr>
              <a:xfrm rot="16200000">
                <a:off x="-675009" y="3136864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6E3FE0-B1CE-4A28-3219-517E4EE39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75009" y="3136864"/>
                <a:ext cx="2797304" cy="369332"/>
              </a:xfrm>
              <a:prstGeom prst="rect">
                <a:avLst/>
              </a:prstGeom>
              <a:blipFill>
                <a:blip r:embed="rId4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4304BD9-BAA3-E9A2-C5A4-67487FADBABC}"/>
              </a:ext>
            </a:extLst>
          </p:cNvPr>
          <p:cNvSpPr txBox="1"/>
          <p:nvPr/>
        </p:nvSpPr>
        <p:spPr>
          <a:xfrm>
            <a:off x="5059680" y="1738176"/>
            <a:ext cx="63311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charset="0"/>
                <a:ea typeface="Helvetica Light" charset="0"/>
                <a:cs typeface="Helvetica Light" charset="0"/>
              </a:rPr>
              <a:t>The "actions" we can evaluate here are which point along the ROC curve to operate?</a:t>
            </a:r>
          </a:p>
          <a:p>
            <a:endParaRPr lang="en-US" sz="2400" dirty="0">
              <a:latin typeface="Helvetica Light" charset="0"/>
              <a:ea typeface="Helvetica Light" charset="0"/>
              <a:cs typeface="Helvetica Light" charset="0"/>
            </a:endParaRPr>
          </a:p>
          <a:p>
            <a:r>
              <a:rPr lang="en-US" sz="2400" dirty="0">
                <a:latin typeface="Helvetica Light" charset="0"/>
                <a:ea typeface="Helvetica Light" charset="0"/>
                <a:cs typeface="Helvetica Light" charset="0"/>
              </a:rPr>
              <a:t>In other words – what </a:t>
            </a:r>
            <a:r>
              <a:rPr lang="en-US" sz="2400" b="1" dirty="0">
                <a:latin typeface="Helvetica" pitchFamily="2" charset="0"/>
                <a:ea typeface="Helvetica Light" charset="0"/>
                <a:cs typeface="Helvetica Light" charset="0"/>
              </a:rPr>
              <a:t>threshold do I pick </a:t>
            </a:r>
            <a:r>
              <a:rPr lang="en-US" sz="2400" dirty="0">
                <a:latin typeface="Helvetica Light" charset="0"/>
                <a:ea typeface="Helvetica Light" charset="0"/>
                <a:cs typeface="Helvetica Light" charset="0"/>
              </a:rPr>
              <a:t>for my classifier decision rule?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5C90B7-28E7-6886-15FB-4779DAF9E1C9}"/>
                  </a:ext>
                </a:extLst>
              </p:cNvPr>
              <p:cNvSpPr txBox="1"/>
              <p:nvPr/>
            </p:nvSpPr>
            <p:spPr>
              <a:xfrm>
                <a:off x="5843451" y="4323304"/>
                <a:ext cx="4272742" cy="1148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404040"/>
                    </a:solidFill>
                    <a:latin typeface="Helvetica Light" charset="0"/>
                    <a:ea typeface="Helvetica Light" charset="0"/>
                    <a:cs typeface="Helvetica Light" charset="0"/>
                  </a:rPr>
                  <a:t>Classifier decision rule:</a:t>
                </a:r>
                <a:br>
                  <a:rPr lang="en-US" sz="2000" dirty="0">
                    <a:solidFill>
                      <a:srgbClr val="404040"/>
                    </a:solidFill>
                    <a:latin typeface="Helvetica Light" charset="0"/>
                    <a:ea typeface="Helvetica Light" charset="0"/>
                    <a:cs typeface="Helvetica Light" charset="0"/>
                  </a:rPr>
                </a:br>
                <a:r>
                  <a:rPr lang="en-US" sz="2000" dirty="0">
                    <a:solidFill>
                      <a:srgbClr val="404040"/>
                    </a:solidFill>
                    <a:latin typeface="Helvetica Light" charset="0"/>
                    <a:ea typeface="Helvetica Light" charset="0"/>
                    <a:cs typeface="Helvetica Light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Helvetica Light" charset="0"/>
                            <a:cs typeface="Helvetica Light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rgbClr val="404040"/>
                            </a:solidFill>
                            <a:latin typeface="Cambria Math" charset="0"/>
                            <a:ea typeface="Helvetica Light" charset="0"/>
                            <a:cs typeface="Helvetica Light" charset="0"/>
                          </a:rPr>
                          <m:t>𝑦</m:t>
                        </m:r>
                      </m:e>
                    </m:acc>
                    <m:r>
                      <a:rPr lang="en-US" sz="2000" b="0" i="1" smtClean="0">
                        <a:solidFill>
                          <a:srgbClr val="404040"/>
                        </a:solidFill>
                        <a:latin typeface="Cambria Math" charset="0"/>
                        <a:ea typeface="Helvetica Light" charset="0"/>
                        <a:cs typeface="Helvetica Light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Helvetica Light" charset="0"/>
                            <a:cs typeface="Helvetica Light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sz="2000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Helvetica Light" charset="0"/>
                                <a:cs typeface="Helvetica Light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solidFill>
                                    <a:srgbClr val="404040"/>
                                  </a:solidFill>
                                  <a:latin typeface="Cambria Math" charset="0"/>
                                  <a:ea typeface="Helvetica Light" charset="0"/>
                                  <a:cs typeface="Helvetica Light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404040"/>
                                  </a:solidFill>
                                  <a:latin typeface="Cambria Math" charset="0"/>
                                  <a:ea typeface="Helvetica Light" charset="0"/>
                                  <a:cs typeface="Helvetica Light" charset="0"/>
                                </a:rPr>
                                <m:t>,    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confidence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score</m:t>
                              </m:r>
                              <m:r>
                                <a:rPr lang="en-US" sz="2000" b="0" i="1" smtClean="0">
                                  <a:solidFill>
                                    <a:srgbClr val="404040"/>
                                  </a:solidFill>
                                  <a:latin typeface="Cambria Math" charset="0"/>
                                  <a:ea typeface="Helvetica Light" charset="0"/>
                                  <a:cs typeface="Helvetica Light" charset="0"/>
                                </a:rPr>
                                <m:t>&gt;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rgbClr val="404040"/>
                                  </a:solidFill>
                                  <a:latin typeface="Cambria Math" charset="0"/>
                                  <a:ea typeface="Helvetica Light" charset="0"/>
                                  <a:cs typeface="Helvetica Light" charset="0"/>
                                </a:rPr>
                                <m:t>thresh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solidFill>
                                    <a:srgbClr val="404040"/>
                                  </a:solidFill>
                                  <a:latin typeface="Cambria Math" charset="0"/>
                                  <a:ea typeface="Helvetica Light" charset="0"/>
                                  <a:cs typeface="Helvetica Light" charset="0"/>
                                </a:rPr>
                                <m:t>0,    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confidence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score</m:t>
                              </m:r>
                              <m:r>
                                <a:rPr lang="en-US" sz="2000" b="0" i="1" smtClean="0">
                                  <a:solidFill>
                                    <a:srgbClr val="404040"/>
                                  </a:solidFill>
                                  <a:latin typeface="Cambria Math" charset="0"/>
                                  <a:ea typeface="Helvetica Light" charset="0"/>
                                  <a:cs typeface="Helvetica Light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rgbClr val="404040"/>
                                  </a:solidFill>
                                  <a:latin typeface="Cambria Math" charset="0"/>
                                  <a:ea typeface="Helvetica Light" charset="0"/>
                                  <a:cs typeface="Helvetica Light" charset="0"/>
                                </a:rPr>
                                <m:t>thresh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5C90B7-28E7-6886-15FB-4779DAF9E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451" y="4323304"/>
                <a:ext cx="4272742" cy="1148199"/>
              </a:xfrm>
              <a:prstGeom prst="rect">
                <a:avLst/>
              </a:prstGeom>
              <a:blipFill>
                <a:blip r:embed="rId5"/>
                <a:stretch>
                  <a:fillRect l="-15430" t="-100000" b="-190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6F30AB55-E2B6-B9C9-61B7-00DA0610891D}"/>
              </a:ext>
            </a:extLst>
          </p:cNvPr>
          <p:cNvGrpSpPr/>
          <p:nvPr/>
        </p:nvGrpSpPr>
        <p:grpSpPr>
          <a:xfrm>
            <a:off x="9870509" y="3321530"/>
            <a:ext cx="1024639" cy="850507"/>
            <a:chOff x="9870509" y="3321530"/>
            <a:chExt cx="1024639" cy="85050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C97B4AF-8C8B-FD57-328A-ACC4AA362DF7}"/>
                </a:ext>
              </a:extLst>
            </p:cNvPr>
            <p:cNvSpPr txBox="1"/>
            <p:nvPr/>
          </p:nvSpPr>
          <p:spPr>
            <a:xfrm>
              <a:off x="9870509" y="371037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action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27D973E-12FE-5F52-BF6E-E26EF184CD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70510" y="3321530"/>
              <a:ext cx="338202" cy="38884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1214F5-9487-8AF4-430B-15AA6DD64223}"/>
                  </a:ext>
                </a:extLst>
              </p:cNvPr>
              <p:cNvSpPr txBox="1"/>
              <p:nvPr/>
            </p:nvSpPr>
            <p:spPr>
              <a:xfrm>
                <a:off x="6363645" y="5594095"/>
                <a:ext cx="37231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Helvetica Light" panose="020B0403020202020204" pitchFamily="34" charset="0"/>
                    <a:ea typeface="Cambria Math" panose="02040503050406030204" pitchFamily="18" charset="0"/>
                    <a:cs typeface="Helvetica Light" charset="0"/>
                  </a:rPr>
                  <a:t>Note: we define: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Light" charset="0"/>
                      </a:rPr>
                      <m:t>τ</m:t>
                    </m:r>
                    <m:r>
                      <a:rPr lang="en-US" sz="24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Light" charset="0"/>
                      </a:rPr>
                      <m:t>≡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Light" charset="0"/>
                      </a:rPr>
                      <m:t>thresh</m:t>
                    </m:r>
                  </m:oMath>
                </a14:m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Helvetica Light" panose="020B0403020202020204" pitchFamily="34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1214F5-9487-8AF4-430B-15AA6DD64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645" y="5594095"/>
                <a:ext cx="3723199" cy="369332"/>
              </a:xfrm>
              <a:prstGeom prst="rect">
                <a:avLst/>
              </a:prstGeom>
              <a:blipFill>
                <a:blip r:embed="rId6"/>
                <a:stretch>
                  <a:fillRect l="-5102" t="-26667" r="-204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63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AE5F6-D7CA-EA6D-452D-8DFF568D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C0C66-9770-EB8A-7F0B-8BBB11DB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 </a:t>
            </a:r>
            <a:r>
              <a:rPr lang="en-US" dirty="0">
                <a:sym typeface="Wingdings" pitchFamily="2" charset="2"/>
              </a:rPr>
              <a:t> Application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96585B-5723-53F3-9B14-E2102BBEBD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632217" y="1738176"/>
            <a:ext cx="3861033" cy="357066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B92F887-1941-ED81-8254-E779255C8A80}"/>
              </a:ext>
            </a:extLst>
          </p:cNvPr>
          <p:cNvSpPr/>
          <p:nvPr/>
        </p:nvSpPr>
        <p:spPr>
          <a:xfrm>
            <a:off x="1445381" y="4600709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C40F57-8B14-C04D-15BF-04E944A99418}"/>
              </a:ext>
            </a:extLst>
          </p:cNvPr>
          <p:cNvGrpSpPr/>
          <p:nvPr/>
        </p:nvGrpSpPr>
        <p:grpSpPr>
          <a:xfrm>
            <a:off x="1445381" y="3710372"/>
            <a:ext cx="126504" cy="1006768"/>
            <a:chOff x="902064" y="1922402"/>
            <a:chExt cx="126504" cy="10067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1D3D736-C4A6-286C-7B8F-2954E6ACE117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336D0AF-724D-98DE-877E-C921EC575B93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2E87508-60D7-3402-531F-DC21C5C1AB6B}"/>
              </a:ext>
            </a:extLst>
          </p:cNvPr>
          <p:cNvGrpSpPr/>
          <p:nvPr/>
        </p:nvGrpSpPr>
        <p:grpSpPr>
          <a:xfrm>
            <a:off x="1445381" y="2858608"/>
            <a:ext cx="126504" cy="1025275"/>
            <a:chOff x="902064" y="1070638"/>
            <a:chExt cx="126504" cy="102527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E8C032C-C0B4-5999-53D2-60DCDC0591F8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09E5BC4-C56D-B509-3E89-B92934851690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EF32580-B54B-30CB-9707-4724BEAB178D}"/>
              </a:ext>
            </a:extLst>
          </p:cNvPr>
          <p:cNvGrpSpPr/>
          <p:nvPr/>
        </p:nvGrpSpPr>
        <p:grpSpPr>
          <a:xfrm>
            <a:off x="2791389" y="1907933"/>
            <a:ext cx="126504" cy="1020326"/>
            <a:chOff x="2248072" y="119963"/>
            <a:chExt cx="126504" cy="102032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74A7703-9059-B47F-976A-19643A38F241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3D26E2B-3DB6-077D-3B91-B91F771B94F8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312005-EB9C-ACE6-8B91-4C54CE03E0A7}"/>
              </a:ext>
            </a:extLst>
          </p:cNvPr>
          <p:cNvGrpSpPr/>
          <p:nvPr/>
        </p:nvGrpSpPr>
        <p:grpSpPr>
          <a:xfrm>
            <a:off x="1508633" y="2858608"/>
            <a:ext cx="1409260" cy="126504"/>
            <a:chOff x="965316" y="1070638"/>
            <a:chExt cx="1409260" cy="126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254F3B-5333-38BA-2113-2A5A4A28BB1E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5A5553E-F761-27F0-6866-C0392409408C}"/>
                </a:ext>
              </a:extLst>
            </p:cNvPr>
            <p:cNvCxnSpPr>
              <a:stCxn id="20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0F0DE95-9C84-F26D-2053-B9391E777DB4}"/>
              </a:ext>
            </a:extLst>
          </p:cNvPr>
          <p:cNvGrpSpPr/>
          <p:nvPr/>
        </p:nvGrpSpPr>
        <p:grpSpPr>
          <a:xfrm>
            <a:off x="2820774" y="1907933"/>
            <a:ext cx="1456095" cy="126504"/>
            <a:chOff x="2277457" y="119963"/>
            <a:chExt cx="1456095" cy="12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7091A0-6ADA-D8CD-BE3E-A5943A8B5CEC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5E9FB8D-9E86-F6BA-37B1-D64243D9F867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5A1FB7-C543-7AAF-FBB5-7C53068736D2}"/>
                  </a:ext>
                </a:extLst>
              </p:cNvPr>
              <p:cNvSpPr txBox="1"/>
              <p:nvPr/>
            </p:nvSpPr>
            <p:spPr>
              <a:xfrm>
                <a:off x="1528437" y="5005251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5A1FB7-C543-7AAF-FBB5-7C5306873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437" y="5005251"/>
                <a:ext cx="2742336" cy="369332"/>
              </a:xfrm>
              <a:prstGeom prst="rect">
                <a:avLst/>
              </a:prstGeom>
              <a:blipFill>
                <a:blip r:embed="rId3"/>
                <a:stretch>
                  <a:fillRect l="-1843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2018F5-FCBB-FB9A-4532-27A5BCE8EB5A}"/>
                  </a:ext>
                </a:extLst>
              </p:cNvPr>
              <p:cNvSpPr txBox="1"/>
              <p:nvPr/>
            </p:nvSpPr>
            <p:spPr>
              <a:xfrm rot="16200000">
                <a:off x="-675009" y="3136864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2018F5-FCBB-FB9A-4532-27A5BCE8E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75009" y="3136864"/>
                <a:ext cx="2797304" cy="369332"/>
              </a:xfrm>
              <a:prstGeom prst="rect">
                <a:avLst/>
              </a:prstGeom>
              <a:blipFill>
                <a:blip r:embed="rId4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F13F11C4-89CF-A4A5-CBDD-F694E5FB8E67}"/>
              </a:ext>
            </a:extLst>
          </p:cNvPr>
          <p:cNvGrpSpPr/>
          <p:nvPr/>
        </p:nvGrpSpPr>
        <p:grpSpPr>
          <a:xfrm>
            <a:off x="4738211" y="2921860"/>
            <a:ext cx="3352063" cy="2604844"/>
            <a:chOff x="4718887" y="1155222"/>
            <a:chExt cx="4384029" cy="340677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73B601B-CE49-7F9D-EC32-A00DFDBCB854}"/>
                </a:ext>
              </a:extLst>
            </p:cNvPr>
            <p:cNvSpPr/>
            <p:nvPr/>
          </p:nvSpPr>
          <p:spPr>
            <a:xfrm>
              <a:off x="5464073" y="1760519"/>
              <a:ext cx="1354570" cy="135457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0</a:t>
              </a:r>
              <a:endParaRPr lang="en-US" sz="1400" b="1" dirty="0">
                <a:latin typeface="Helvetica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4DD2226-3664-ABD1-97D5-817DA8F3A9ED}"/>
                </a:ext>
              </a:extLst>
            </p:cNvPr>
            <p:cNvSpPr/>
            <p:nvPr/>
          </p:nvSpPr>
          <p:spPr>
            <a:xfrm>
              <a:off x="6911422" y="1760519"/>
              <a:ext cx="1354570" cy="1354570"/>
            </a:xfrm>
            <a:prstGeom prst="rect">
              <a:avLst/>
            </a:prstGeom>
            <a:solidFill>
              <a:srgbClr val="00B04F">
                <a:alpha val="2549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50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23126CD-4841-F41A-C394-5AF864265E9C}"/>
                </a:ext>
              </a:extLst>
            </p:cNvPr>
            <p:cNvSpPr/>
            <p:nvPr/>
          </p:nvSpPr>
          <p:spPr>
            <a:xfrm>
              <a:off x="5464073" y="3207424"/>
              <a:ext cx="1354570" cy="13545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72DF4DB-03DD-C578-077E-2908989158D3}"/>
                </a:ext>
              </a:extLst>
            </p:cNvPr>
            <p:cNvSpPr/>
            <p:nvPr/>
          </p:nvSpPr>
          <p:spPr>
            <a:xfrm>
              <a:off x="6911422" y="3207424"/>
              <a:ext cx="1354570" cy="1354570"/>
            </a:xfrm>
            <a:prstGeom prst="rect">
              <a:avLst/>
            </a:prstGeom>
            <a:solidFill>
              <a:srgbClr val="40404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50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B6C81BA-48DC-D2B9-B392-9FA07F12CD7F}"/>
                </a:ext>
              </a:extLst>
            </p:cNvPr>
            <p:cNvSpPr txBox="1"/>
            <p:nvPr/>
          </p:nvSpPr>
          <p:spPr>
            <a:xfrm rot="16200000">
              <a:off x="4727314" y="2319373"/>
              <a:ext cx="1165738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BF2B4CE-41FA-1881-4A99-10A0D595C900}"/>
                </a:ext>
              </a:extLst>
            </p:cNvPr>
            <p:cNvSpPr txBox="1"/>
            <p:nvPr/>
          </p:nvSpPr>
          <p:spPr>
            <a:xfrm rot="16200000">
              <a:off x="4727665" y="3703569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9354D79-893C-E79B-76B3-6C4E225276F0}"/>
                </a:ext>
              </a:extLst>
            </p:cNvPr>
            <p:cNvSpPr txBox="1"/>
            <p:nvPr/>
          </p:nvSpPr>
          <p:spPr>
            <a:xfrm>
              <a:off x="5577758" y="1487010"/>
              <a:ext cx="112720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81724CA-E092-EEC0-F4F4-2D639A62625C}"/>
                </a:ext>
              </a:extLst>
            </p:cNvPr>
            <p:cNvSpPr txBox="1"/>
            <p:nvPr/>
          </p:nvSpPr>
          <p:spPr>
            <a:xfrm>
              <a:off x="7006190" y="1487010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3D2628C-FF72-7121-71A7-4E0937A126B5}"/>
                </a:ext>
              </a:extLst>
            </p:cNvPr>
            <p:cNvSpPr txBox="1"/>
            <p:nvPr/>
          </p:nvSpPr>
          <p:spPr>
            <a:xfrm>
              <a:off x="5792700" y="1155222"/>
              <a:ext cx="2120899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Predicted Class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76F08CE-FEA3-637A-0086-995D575D34AD}"/>
                </a:ext>
              </a:extLst>
            </p:cNvPr>
            <p:cNvSpPr txBox="1"/>
            <p:nvPr/>
          </p:nvSpPr>
          <p:spPr>
            <a:xfrm rot="16200000">
              <a:off x="3913642" y="2975391"/>
              <a:ext cx="1972766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True Class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112709C-E6FE-7B95-52A0-E81FF1179870}"/>
                </a:ext>
              </a:extLst>
            </p:cNvPr>
            <p:cNvSpPr txBox="1"/>
            <p:nvPr/>
          </p:nvSpPr>
          <p:spPr>
            <a:xfrm>
              <a:off x="5429570" y="1729174"/>
              <a:ext cx="63356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TP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73D5757-33D3-456F-0716-51712EA7A2BA}"/>
                </a:ext>
              </a:extLst>
            </p:cNvPr>
            <p:cNvSpPr txBox="1"/>
            <p:nvPr/>
          </p:nvSpPr>
          <p:spPr>
            <a:xfrm>
              <a:off x="6856927" y="1729174"/>
              <a:ext cx="671301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FN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A15F324-C0DE-5052-9088-F771D08F86EC}"/>
                </a:ext>
              </a:extLst>
            </p:cNvPr>
            <p:cNvSpPr txBox="1"/>
            <p:nvPr/>
          </p:nvSpPr>
          <p:spPr>
            <a:xfrm>
              <a:off x="5429570" y="3156529"/>
              <a:ext cx="63356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FP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A247DCC-3767-C19D-8989-5BD0B8DD6E54}"/>
                </a:ext>
              </a:extLst>
            </p:cNvPr>
            <p:cNvSpPr txBox="1"/>
            <p:nvPr/>
          </p:nvSpPr>
          <p:spPr>
            <a:xfrm>
              <a:off x="6856927" y="3156529"/>
              <a:ext cx="671301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TN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FD1E49C-2DF2-1690-8687-B5C4561BBAF4}"/>
                </a:ext>
              </a:extLst>
            </p:cNvPr>
            <p:cNvSpPr txBox="1"/>
            <p:nvPr/>
          </p:nvSpPr>
          <p:spPr>
            <a:xfrm>
              <a:off x="8265992" y="2206971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59A0B5-2A6A-F4F5-A990-550D680EE9AD}"/>
                </a:ext>
              </a:extLst>
            </p:cNvPr>
            <p:cNvSpPr txBox="1"/>
            <p:nvPr/>
          </p:nvSpPr>
          <p:spPr>
            <a:xfrm>
              <a:off x="8265992" y="3600874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7240FDD-93F5-E5C3-F973-AC0F0A9561B8}"/>
              </a:ext>
            </a:extLst>
          </p:cNvPr>
          <p:cNvGrpSpPr/>
          <p:nvPr/>
        </p:nvGrpSpPr>
        <p:grpSpPr>
          <a:xfrm>
            <a:off x="8685743" y="2921860"/>
            <a:ext cx="3352063" cy="2604844"/>
            <a:chOff x="4718887" y="1155222"/>
            <a:chExt cx="4384029" cy="340677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F0A0D3B-4AD1-3BEB-6BB0-C033DF4D0D47}"/>
                </a:ext>
              </a:extLst>
            </p:cNvPr>
            <p:cNvSpPr/>
            <p:nvPr/>
          </p:nvSpPr>
          <p:spPr>
            <a:xfrm>
              <a:off x="5464073" y="1760519"/>
              <a:ext cx="1354570" cy="135457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0</a:t>
              </a:r>
              <a:endParaRPr lang="en-US" sz="1400" b="1" dirty="0">
                <a:latin typeface="Helvetica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EB3B955-6ADC-AA4F-D6E6-B29B28D3BEA1}"/>
                </a:ext>
              </a:extLst>
            </p:cNvPr>
            <p:cNvSpPr/>
            <p:nvPr/>
          </p:nvSpPr>
          <p:spPr>
            <a:xfrm>
              <a:off x="6911422" y="1760519"/>
              <a:ext cx="1354570" cy="1354570"/>
            </a:xfrm>
            <a:prstGeom prst="rect">
              <a:avLst/>
            </a:prstGeom>
            <a:solidFill>
              <a:srgbClr val="00B04F">
                <a:alpha val="2549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1.0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0B99EB1-B55C-CB3B-18DB-D2D504083739}"/>
                </a:ext>
              </a:extLst>
            </p:cNvPr>
            <p:cNvSpPr/>
            <p:nvPr/>
          </p:nvSpPr>
          <p:spPr>
            <a:xfrm>
              <a:off x="5464073" y="3207424"/>
              <a:ext cx="1354570" cy="13545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0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164B83F-957A-81CC-D84B-8812861CF1EE}"/>
                </a:ext>
              </a:extLst>
            </p:cNvPr>
            <p:cNvSpPr/>
            <p:nvPr/>
          </p:nvSpPr>
          <p:spPr>
            <a:xfrm>
              <a:off x="6911422" y="3207424"/>
              <a:ext cx="1354570" cy="1354570"/>
            </a:xfrm>
            <a:prstGeom prst="rect">
              <a:avLst/>
            </a:prstGeom>
            <a:solidFill>
              <a:srgbClr val="40404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1.0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FEFD888-CF9C-01B1-8A88-29F75E98D582}"/>
                </a:ext>
              </a:extLst>
            </p:cNvPr>
            <p:cNvSpPr txBox="1"/>
            <p:nvPr/>
          </p:nvSpPr>
          <p:spPr>
            <a:xfrm rot="16200000">
              <a:off x="4727314" y="2319373"/>
              <a:ext cx="1165738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10821A7-5117-F982-EC02-2644CCA832A7}"/>
                </a:ext>
              </a:extLst>
            </p:cNvPr>
            <p:cNvSpPr txBox="1"/>
            <p:nvPr/>
          </p:nvSpPr>
          <p:spPr>
            <a:xfrm rot="16200000">
              <a:off x="4727665" y="3703569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432673E-31B4-8B79-0379-38C10A1811D0}"/>
                </a:ext>
              </a:extLst>
            </p:cNvPr>
            <p:cNvSpPr txBox="1"/>
            <p:nvPr/>
          </p:nvSpPr>
          <p:spPr>
            <a:xfrm>
              <a:off x="5577758" y="1487010"/>
              <a:ext cx="112720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596E98D-BBE2-AB92-6C91-A83A28D88B5C}"/>
                </a:ext>
              </a:extLst>
            </p:cNvPr>
            <p:cNvSpPr txBox="1"/>
            <p:nvPr/>
          </p:nvSpPr>
          <p:spPr>
            <a:xfrm>
              <a:off x="7006190" y="1487010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6ED2322-5AA3-0C63-61BB-D341562810F2}"/>
                </a:ext>
              </a:extLst>
            </p:cNvPr>
            <p:cNvSpPr txBox="1"/>
            <p:nvPr/>
          </p:nvSpPr>
          <p:spPr>
            <a:xfrm>
              <a:off x="5792700" y="1155222"/>
              <a:ext cx="2120899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Predicted Class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E20B7A7-3813-0DA0-7A45-E9ED77A353A5}"/>
                </a:ext>
              </a:extLst>
            </p:cNvPr>
            <p:cNvSpPr txBox="1"/>
            <p:nvPr/>
          </p:nvSpPr>
          <p:spPr>
            <a:xfrm rot="16200000">
              <a:off x="3913642" y="2975391"/>
              <a:ext cx="1972766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True Class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4B29775-1E35-D43C-B8E6-92F796F1714C}"/>
                </a:ext>
              </a:extLst>
            </p:cNvPr>
            <p:cNvSpPr txBox="1"/>
            <p:nvPr/>
          </p:nvSpPr>
          <p:spPr>
            <a:xfrm>
              <a:off x="5429570" y="1729174"/>
              <a:ext cx="857889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TPR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E3CE3F5-C761-130F-01F0-EE50D5DD785B}"/>
                </a:ext>
              </a:extLst>
            </p:cNvPr>
            <p:cNvSpPr txBox="1"/>
            <p:nvPr/>
          </p:nvSpPr>
          <p:spPr>
            <a:xfrm>
              <a:off x="6856927" y="1729174"/>
              <a:ext cx="895626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FNR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7EA2FAB-20E9-3DC2-271A-9BF165731B16}"/>
                </a:ext>
              </a:extLst>
            </p:cNvPr>
            <p:cNvSpPr txBox="1"/>
            <p:nvPr/>
          </p:nvSpPr>
          <p:spPr>
            <a:xfrm>
              <a:off x="5429570" y="3156529"/>
              <a:ext cx="857889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FPR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AFE4D9D-3799-5654-45AC-132477C40B8A}"/>
                </a:ext>
              </a:extLst>
            </p:cNvPr>
            <p:cNvSpPr txBox="1"/>
            <p:nvPr/>
          </p:nvSpPr>
          <p:spPr>
            <a:xfrm>
              <a:off x="6856927" y="3156529"/>
              <a:ext cx="895626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TNR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2E63B11-F83F-44B0-9E0B-075CD791A89C}"/>
                </a:ext>
              </a:extLst>
            </p:cNvPr>
            <p:cNvSpPr txBox="1"/>
            <p:nvPr/>
          </p:nvSpPr>
          <p:spPr>
            <a:xfrm>
              <a:off x="8265992" y="2206971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1734F33-2D82-B220-B603-914616F3E08C}"/>
                </a:ext>
              </a:extLst>
            </p:cNvPr>
            <p:cNvSpPr txBox="1"/>
            <p:nvPr/>
          </p:nvSpPr>
          <p:spPr>
            <a:xfrm>
              <a:off x="8265992" y="3600874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D8C21BE-ECB0-8E0B-D00E-22C2EDE69ACC}"/>
              </a:ext>
            </a:extLst>
          </p:cNvPr>
          <p:cNvSpPr txBox="1"/>
          <p:nvPr/>
        </p:nvSpPr>
        <p:spPr>
          <a:xfrm>
            <a:off x="4586491" y="1282147"/>
            <a:ext cx="7605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charset="0"/>
                <a:ea typeface="Helvetica Light" charset="0"/>
                <a:cs typeface="Helvetica Light" charset="0"/>
              </a:rPr>
              <a:t>Each point along the ROC represents a different confusion matrix and different rates for TP, FP, TN, FN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C1C74-778D-D2A5-60DF-C5321154BC04}"/>
              </a:ext>
            </a:extLst>
          </p:cNvPr>
          <p:cNvSpPr txBox="1"/>
          <p:nvPr/>
        </p:nvSpPr>
        <p:spPr>
          <a:xfrm>
            <a:off x="5489876" y="2333351"/>
            <a:ext cx="1861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  <a:ea typeface="Helvetica Light" charset="0"/>
                <a:cs typeface="Helvetica Light" charset="0"/>
              </a:rPr>
              <a:t>Raw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47F555-6145-469C-3261-E58D13A9CFEE}"/>
              </a:ext>
            </a:extLst>
          </p:cNvPr>
          <p:cNvSpPr txBox="1"/>
          <p:nvPr/>
        </p:nvSpPr>
        <p:spPr>
          <a:xfrm>
            <a:off x="8901676" y="2333351"/>
            <a:ext cx="3106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  <a:ea typeface="Helvetica Light" charset="0"/>
                <a:cs typeface="Helvetica Light" charset="0"/>
              </a:rPr>
              <a:t>Rates / probabilities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C08BDB3-8F61-AE33-EEF3-368F76BCB8B8}"/>
              </a:ext>
            </a:extLst>
          </p:cNvPr>
          <p:cNvSpPr/>
          <p:nvPr/>
        </p:nvSpPr>
        <p:spPr>
          <a:xfrm>
            <a:off x="1347022" y="4484521"/>
            <a:ext cx="335218" cy="335218"/>
          </a:xfrm>
          <a:prstGeom prst="ellipse">
            <a:avLst/>
          </a:prstGeom>
          <a:noFill/>
          <a:ln w="28575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05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0D2A6-BB4B-4729-9091-A79FBBA95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B9C0-5208-1C52-C454-64A788087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 </a:t>
            </a:r>
            <a:r>
              <a:rPr lang="en-US" dirty="0">
                <a:sym typeface="Wingdings" pitchFamily="2" charset="2"/>
              </a:rPr>
              <a:t> Application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F661F2-2283-1F73-5B41-DCAF1C9E0A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632217" y="1738176"/>
            <a:ext cx="3861033" cy="357066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132FDA5-B122-1745-89FE-395ADE16B362}"/>
              </a:ext>
            </a:extLst>
          </p:cNvPr>
          <p:cNvSpPr/>
          <p:nvPr/>
        </p:nvSpPr>
        <p:spPr>
          <a:xfrm>
            <a:off x="1445381" y="4600709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C8B06EA-0A2D-0E6D-6E57-5EF6D93F9DDB}"/>
              </a:ext>
            </a:extLst>
          </p:cNvPr>
          <p:cNvGrpSpPr/>
          <p:nvPr/>
        </p:nvGrpSpPr>
        <p:grpSpPr>
          <a:xfrm>
            <a:off x="1445381" y="3710372"/>
            <a:ext cx="126504" cy="1006768"/>
            <a:chOff x="902064" y="1922402"/>
            <a:chExt cx="126504" cy="10067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C4F233D-B18E-C53B-6BC1-7E04E704AFEF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11B8DC6-932E-B507-F5BC-665D73615C13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A84A384-D566-04F8-39E7-63AF872DE469}"/>
              </a:ext>
            </a:extLst>
          </p:cNvPr>
          <p:cNvGrpSpPr/>
          <p:nvPr/>
        </p:nvGrpSpPr>
        <p:grpSpPr>
          <a:xfrm>
            <a:off x="1445381" y="2858608"/>
            <a:ext cx="126504" cy="1025275"/>
            <a:chOff x="902064" y="1070638"/>
            <a:chExt cx="126504" cy="102527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8FC6744-C035-C5B2-2C3C-29CF016BD075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E19E3CA-5AF6-3CF6-38DE-B5B22F641EED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386BD0-4C0E-14AF-8A75-2CF8A39DEDCA}"/>
              </a:ext>
            </a:extLst>
          </p:cNvPr>
          <p:cNvGrpSpPr/>
          <p:nvPr/>
        </p:nvGrpSpPr>
        <p:grpSpPr>
          <a:xfrm>
            <a:off x="2791389" y="1907933"/>
            <a:ext cx="126504" cy="1020326"/>
            <a:chOff x="2248072" y="119963"/>
            <a:chExt cx="126504" cy="102032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0616039-B247-4652-4D5D-1130B50703AA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82B4D08-7C3A-3049-9BC3-D0CF0938F142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78351AB-0720-097E-FB35-8033D08510BB}"/>
              </a:ext>
            </a:extLst>
          </p:cNvPr>
          <p:cNvGrpSpPr/>
          <p:nvPr/>
        </p:nvGrpSpPr>
        <p:grpSpPr>
          <a:xfrm>
            <a:off x="1508633" y="2858608"/>
            <a:ext cx="1409260" cy="126504"/>
            <a:chOff x="965316" y="1070638"/>
            <a:chExt cx="1409260" cy="126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BFF2346-40B1-63E3-E877-67543AF64B0D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845035C-4CA5-0D79-DF5E-AD5D3E222C88}"/>
                </a:ext>
              </a:extLst>
            </p:cNvPr>
            <p:cNvCxnSpPr>
              <a:stCxn id="20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7DB49E-3069-44E8-8302-E7041C9B680E}"/>
              </a:ext>
            </a:extLst>
          </p:cNvPr>
          <p:cNvGrpSpPr/>
          <p:nvPr/>
        </p:nvGrpSpPr>
        <p:grpSpPr>
          <a:xfrm>
            <a:off x="2820774" y="1907933"/>
            <a:ext cx="1456095" cy="126504"/>
            <a:chOff x="2277457" y="119963"/>
            <a:chExt cx="1456095" cy="12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6BB4105-F2CB-2AB1-8F8D-78B7363B0355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612E7C4-2712-6DCD-4E44-2769B08DCE4E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E96DE0-DD4E-2B7D-7318-0A9F290EF229}"/>
                  </a:ext>
                </a:extLst>
              </p:cNvPr>
              <p:cNvSpPr txBox="1"/>
              <p:nvPr/>
            </p:nvSpPr>
            <p:spPr>
              <a:xfrm>
                <a:off x="1528437" y="5005251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E96DE0-DD4E-2B7D-7318-0A9F290EF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437" y="5005251"/>
                <a:ext cx="2742336" cy="369332"/>
              </a:xfrm>
              <a:prstGeom prst="rect">
                <a:avLst/>
              </a:prstGeom>
              <a:blipFill>
                <a:blip r:embed="rId3"/>
                <a:stretch>
                  <a:fillRect l="-1843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0CE8008-AA6D-A991-0B55-357A24919E68}"/>
                  </a:ext>
                </a:extLst>
              </p:cNvPr>
              <p:cNvSpPr txBox="1"/>
              <p:nvPr/>
            </p:nvSpPr>
            <p:spPr>
              <a:xfrm rot="16200000">
                <a:off x="-675009" y="3136864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0CE8008-AA6D-A991-0B55-357A24919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75009" y="3136864"/>
                <a:ext cx="2797304" cy="369332"/>
              </a:xfrm>
              <a:prstGeom prst="rect">
                <a:avLst/>
              </a:prstGeom>
              <a:blipFill>
                <a:blip r:embed="rId4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8AE1EDFA-D986-62D3-8F82-23735DE04D05}"/>
              </a:ext>
            </a:extLst>
          </p:cNvPr>
          <p:cNvGrpSpPr/>
          <p:nvPr/>
        </p:nvGrpSpPr>
        <p:grpSpPr>
          <a:xfrm>
            <a:off x="4738211" y="2921860"/>
            <a:ext cx="3352063" cy="2604844"/>
            <a:chOff x="4718887" y="1155222"/>
            <a:chExt cx="4384029" cy="340677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C54FBDA-7290-F7B6-D396-FB8B1C007BB8}"/>
                </a:ext>
              </a:extLst>
            </p:cNvPr>
            <p:cNvSpPr/>
            <p:nvPr/>
          </p:nvSpPr>
          <p:spPr>
            <a:xfrm>
              <a:off x="5464073" y="1760519"/>
              <a:ext cx="1354570" cy="135457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50</a:t>
              </a:r>
              <a:endParaRPr lang="en-US" sz="1400" b="1" dirty="0">
                <a:latin typeface="Helvetica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E21D811-E028-5B87-DA0A-EBCC9FBDBA65}"/>
                </a:ext>
              </a:extLst>
            </p:cNvPr>
            <p:cNvSpPr/>
            <p:nvPr/>
          </p:nvSpPr>
          <p:spPr>
            <a:xfrm>
              <a:off x="6911422" y="1760519"/>
              <a:ext cx="1354570" cy="1354570"/>
            </a:xfrm>
            <a:prstGeom prst="rect">
              <a:avLst/>
            </a:prstGeom>
            <a:solidFill>
              <a:srgbClr val="00B04F">
                <a:alpha val="2549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FFDC8B8-95B5-66FB-D495-D0A5F8647541}"/>
                </a:ext>
              </a:extLst>
            </p:cNvPr>
            <p:cNvSpPr/>
            <p:nvPr/>
          </p:nvSpPr>
          <p:spPr>
            <a:xfrm>
              <a:off x="5464073" y="3207424"/>
              <a:ext cx="1354570" cy="13545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25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A4975AC-CFB6-0279-F5A4-BDD8E06BB767}"/>
                </a:ext>
              </a:extLst>
            </p:cNvPr>
            <p:cNvSpPr/>
            <p:nvPr/>
          </p:nvSpPr>
          <p:spPr>
            <a:xfrm>
              <a:off x="6911422" y="3207424"/>
              <a:ext cx="1354570" cy="1354570"/>
            </a:xfrm>
            <a:prstGeom prst="rect">
              <a:avLst/>
            </a:prstGeom>
            <a:solidFill>
              <a:srgbClr val="40404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25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490126C-124F-605C-C32D-3502A7E9B147}"/>
                </a:ext>
              </a:extLst>
            </p:cNvPr>
            <p:cNvSpPr txBox="1"/>
            <p:nvPr/>
          </p:nvSpPr>
          <p:spPr>
            <a:xfrm rot="16200000">
              <a:off x="4727314" y="2319373"/>
              <a:ext cx="1165738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E395173-7A7F-29BB-D7D6-457AC0416F04}"/>
                </a:ext>
              </a:extLst>
            </p:cNvPr>
            <p:cNvSpPr txBox="1"/>
            <p:nvPr/>
          </p:nvSpPr>
          <p:spPr>
            <a:xfrm rot="16200000">
              <a:off x="4727665" y="3703569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EB7D840-D54B-7583-9AB6-D62342F88C6F}"/>
                </a:ext>
              </a:extLst>
            </p:cNvPr>
            <p:cNvSpPr txBox="1"/>
            <p:nvPr/>
          </p:nvSpPr>
          <p:spPr>
            <a:xfrm>
              <a:off x="5577758" y="1487010"/>
              <a:ext cx="112720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93206F4-263C-81D9-B949-0539B81407EF}"/>
                </a:ext>
              </a:extLst>
            </p:cNvPr>
            <p:cNvSpPr txBox="1"/>
            <p:nvPr/>
          </p:nvSpPr>
          <p:spPr>
            <a:xfrm>
              <a:off x="7006190" y="1487010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A0A8007-DCED-D91C-A17F-DE5DDADE1116}"/>
                </a:ext>
              </a:extLst>
            </p:cNvPr>
            <p:cNvSpPr txBox="1"/>
            <p:nvPr/>
          </p:nvSpPr>
          <p:spPr>
            <a:xfrm>
              <a:off x="5792700" y="1155222"/>
              <a:ext cx="2120899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Predicted Class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E3822CA-B437-68FD-A406-51B55BCA5250}"/>
                </a:ext>
              </a:extLst>
            </p:cNvPr>
            <p:cNvSpPr txBox="1"/>
            <p:nvPr/>
          </p:nvSpPr>
          <p:spPr>
            <a:xfrm rot="16200000">
              <a:off x="3913642" y="2975391"/>
              <a:ext cx="1972766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True Class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7A474BC-1502-20ED-F972-54C18E778712}"/>
                </a:ext>
              </a:extLst>
            </p:cNvPr>
            <p:cNvSpPr txBox="1"/>
            <p:nvPr/>
          </p:nvSpPr>
          <p:spPr>
            <a:xfrm>
              <a:off x="5429570" y="1729174"/>
              <a:ext cx="63356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TP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0006DF8-AC0C-43E1-2CC2-A6E3EAC311B2}"/>
                </a:ext>
              </a:extLst>
            </p:cNvPr>
            <p:cNvSpPr txBox="1"/>
            <p:nvPr/>
          </p:nvSpPr>
          <p:spPr>
            <a:xfrm>
              <a:off x="6856927" y="1729174"/>
              <a:ext cx="671301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FN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A11946C-0158-1906-ED3C-B32C3764A750}"/>
                </a:ext>
              </a:extLst>
            </p:cNvPr>
            <p:cNvSpPr txBox="1"/>
            <p:nvPr/>
          </p:nvSpPr>
          <p:spPr>
            <a:xfrm>
              <a:off x="5429570" y="3156529"/>
              <a:ext cx="63356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FP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EFC89AE-E169-D5BD-DAF9-0822F744188B}"/>
                </a:ext>
              </a:extLst>
            </p:cNvPr>
            <p:cNvSpPr txBox="1"/>
            <p:nvPr/>
          </p:nvSpPr>
          <p:spPr>
            <a:xfrm>
              <a:off x="6856927" y="3156529"/>
              <a:ext cx="671301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TN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089AFDA-EB6C-C01E-652C-5A5C5E5DD3BB}"/>
                </a:ext>
              </a:extLst>
            </p:cNvPr>
            <p:cNvSpPr txBox="1"/>
            <p:nvPr/>
          </p:nvSpPr>
          <p:spPr>
            <a:xfrm>
              <a:off x="8265992" y="2206971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110A9F6-E762-96BB-E6D1-9EC6767C0259}"/>
                </a:ext>
              </a:extLst>
            </p:cNvPr>
            <p:cNvSpPr txBox="1"/>
            <p:nvPr/>
          </p:nvSpPr>
          <p:spPr>
            <a:xfrm>
              <a:off x="8265992" y="3600874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3431477-E891-15AE-42B3-34D153AB867A}"/>
              </a:ext>
            </a:extLst>
          </p:cNvPr>
          <p:cNvGrpSpPr/>
          <p:nvPr/>
        </p:nvGrpSpPr>
        <p:grpSpPr>
          <a:xfrm>
            <a:off x="8685743" y="2921860"/>
            <a:ext cx="3352063" cy="2604844"/>
            <a:chOff x="4718887" y="1155222"/>
            <a:chExt cx="4384029" cy="340677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ABCF5B4-B6D4-AFDA-84DF-0F515431B344}"/>
                </a:ext>
              </a:extLst>
            </p:cNvPr>
            <p:cNvSpPr/>
            <p:nvPr/>
          </p:nvSpPr>
          <p:spPr>
            <a:xfrm>
              <a:off x="5464073" y="1760519"/>
              <a:ext cx="1354570" cy="135457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1.0</a:t>
              </a:r>
              <a:endParaRPr lang="en-US" sz="1400" b="1" dirty="0">
                <a:latin typeface="Helvetica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F958EC2-5CD8-E471-E072-0EA111E78559}"/>
                </a:ext>
              </a:extLst>
            </p:cNvPr>
            <p:cNvSpPr/>
            <p:nvPr/>
          </p:nvSpPr>
          <p:spPr>
            <a:xfrm>
              <a:off x="6911422" y="1760519"/>
              <a:ext cx="1354570" cy="1354570"/>
            </a:xfrm>
            <a:prstGeom prst="rect">
              <a:avLst/>
            </a:prstGeom>
            <a:solidFill>
              <a:srgbClr val="00B04F">
                <a:alpha val="2549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0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21920CD-D5FE-5B11-F946-14B1C04C92E5}"/>
                </a:ext>
              </a:extLst>
            </p:cNvPr>
            <p:cNvSpPr/>
            <p:nvPr/>
          </p:nvSpPr>
          <p:spPr>
            <a:xfrm>
              <a:off x="5464073" y="3207424"/>
              <a:ext cx="1354570" cy="13545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0.5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505C6E5-0DE1-9C80-90CE-0D09A65CD76C}"/>
                </a:ext>
              </a:extLst>
            </p:cNvPr>
            <p:cNvSpPr/>
            <p:nvPr/>
          </p:nvSpPr>
          <p:spPr>
            <a:xfrm>
              <a:off x="6911422" y="3207424"/>
              <a:ext cx="1354570" cy="1354570"/>
            </a:xfrm>
            <a:prstGeom prst="rect">
              <a:avLst/>
            </a:prstGeom>
            <a:solidFill>
              <a:srgbClr val="40404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0.5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988CC85-7593-26FE-CB3B-E415E1C28CBD}"/>
                </a:ext>
              </a:extLst>
            </p:cNvPr>
            <p:cNvSpPr txBox="1"/>
            <p:nvPr/>
          </p:nvSpPr>
          <p:spPr>
            <a:xfrm rot="16200000">
              <a:off x="4727314" y="2319373"/>
              <a:ext cx="1165738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091147B-0AD0-767A-8B0B-266502F10D65}"/>
                </a:ext>
              </a:extLst>
            </p:cNvPr>
            <p:cNvSpPr txBox="1"/>
            <p:nvPr/>
          </p:nvSpPr>
          <p:spPr>
            <a:xfrm rot="16200000">
              <a:off x="4727665" y="3703569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A4B67B1-03D5-CA3F-8B3F-72298D19233F}"/>
                </a:ext>
              </a:extLst>
            </p:cNvPr>
            <p:cNvSpPr txBox="1"/>
            <p:nvPr/>
          </p:nvSpPr>
          <p:spPr>
            <a:xfrm>
              <a:off x="5577758" y="1487010"/>
              <a:ext cx="112720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B8E0B8A-AD90-D847-1969-64C048941D79}"/>
                </a:ext>
              </a:extLst>
            </p:cNvPr>
            <p:cNvSpPr txBox="1"/>
            <p:nvPr/>
          </p:nvSpPr>
          <p:spPr>
            <a:xfrm>
              <a:off x="7006190" y="1487010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03A0FEC-3438-161B-8FE7-5971421B2537}"/>
                </a:ext>
              </a:extLst>
            </p:cNvPr>
            <p:cNvSpPr txBox="1"/>
            <p:nvPr/>
          </p:nvSpPr>
          <p:spPr>
            <a:xfrm>
              <a:off x="5792700" y="1155222"/>
              <a:ext cx="2120899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Predicted Class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828A32-18CE-AD05-C71E-753F838EA820}"/>
                </a:ext>
              </a:extLst>
            </p:cNvPr>
            <p:cNvSpPr txBox="1"/>
            <p:nvPr/>
          </p:nvSpPr>
          <p:spPr>
            <a:xfrm rot="16200000">
              <a:off x="3913642" y="2975391"/>
              <a:ext cx="1972766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True Class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75F281B-2B4F-4F61-DA4C-2F3E0EC2300E}"/>
                </a:ext>
              </a:extLst>
            </p:cNvPr>
            <p:cNvSpPr txBox="1"/>
            <p:nvPr/>
          </p:nvSpPr>
          <p:spPr>
            <a:xfrm>
              <a:off x="5429570" y="1729174"/>
              <a:ext cx="857889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TPR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A83F5FF-52CC-F5F9-7093-CD05E6B3583F}"/>
                </a:ext>
              </a:extLst>
            </p:cNvPr>
            <p:cNvSpPr txBox="1"/>
            <p:nvPr/>
          </p:nvSpPr>
          <p:spPr>
            <a:xfrm>
              <a:off x="6856927" y="1729174"/>
              <a:ext cx="895626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FNR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FEB11BA-3DD3-F201-9813-99C5F5FA052B}"/>
                </a:ext>
              </a:extLst>
            </p:cNvPr>
            <p:cNvSpPr txBox="1"/>
            <p:nvPr/>
          </p:nvSpPr>
          <p:spPr>
            <a:xfrm>
              <a:off x="5429570" y="3156529"/>
              <a:ext cx="857889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FPR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02E8198-32EC-7952-259F-C8CD0F890032}"/>
                </a:ext>
              </a:extLst>
            </p:cNvPr>
            <p:cNvSpPr txBox="1"/>
            <p:nvPr/>
          </p:nvSpPr>
          <p:spPr>
            <a:xfrm>
              <a:off x="6856927" y="3156529"/>
              <a:ext cx="895626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TNR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AC63E27-5A63-CC87-7583-79DD00AA448B}"/>
                </a:ext>
              </a:extLst>
            </p:cNvPr>
            <p:cNvSpPr txBox="1"/>
            <p:nvPr/>
          </p:nvSpPr>
          <p:spPr>
            <a:xfrm>
              <a:off x="8265992" y="2206971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C6F5A52-BFAE-F45D-A15B-2D59CB8E9B06}"/>
                </a:ext>
              </a:extLst>
            </p:cNvPr>
            <p:cNvSpPr txBox="1"/>
            <p:nvPr/>
          </p:nvSpPr>
          <p:spPr>
            <a:xfrm>
              <a:off x="8265992" y="3600874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DCC618-DEA1-8F73-C609-2B3ED554C14F}"/>
              </a:ext>
            </a:extLst>
          </p:cNvPr>
          <p:cNvSpPr txBox="1"/>
          <p:nvPr/>
        </p:nvSpPr>
        <p:spPr>
          <a:xfrm>
            <a:off x="4586491" y="1282147"/>
            <a:ext cx="7605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charset="0"/>
                <a:ea typeface="Helvetica Light" charset="0"/>
                <a:cs typeface="Helvetica Light" charset="0"/>
              </a:rPr>
              <a:t>Each point along the ROC represents a different confusion matrix and different rates for TP, FP, TN, FN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1198B3-C5CC-AAFC-0BCB-766988A53E82}"/>
              </a:ext>
            </a:extLst>
          </p:cNvPr>
          <p:cNvSpPr txBox="1"/>
          <p:nvPr/>
        </p:nvSpPr>
        <p:spPr>
          <a:xfrm>
            <a:off x="5489876" y="2333351"/>
            <a:ext cx="1861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  <a:ea typeface="Helvetica Light" charset="0"/>
                <a:cs typeface="Helvetica Light" charset="0"/>
              </a:rPr>
              <a:t>Raw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ABBF9-A423-C47A-AAB9-FD56F4B61652}"/>
              </a:ext>
            </a:extLst>
          </p:cNvPr>
          <p:cNvSpPr txBox="1"/>
          <p:nvPr/>
        </p:nvSpPr>
        <p:spPr>
          <a:xfrm>
            <a:off x="8901676" y="2333351"/>
            <a:ext cx="3106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  <a:ea typeface="Helvetica Light" charset="0"/>
                <a:cs typeface="Helvetica Light" charset="0"/>
              </a:rPr>
              <a:t>Rates / probabilities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8C4E45-E56D-C9D3-57D9-3ADE912ABE66}"/>
              </a:ext>
            </a:extLst>
          </p:cNvPr>
          <p:cNvSpPr/>
          <p:nvPr/>
        </p:nvSpPr>
        <p:spPr>
          <a:xfrm>
            <a:off x="2687032" y="1803576"/>
            <a:ext cx="335218" cy="335218"/>
          </a:xfrm>
          <a:prstGeom prst="ellipse">
            <a:avLst/>
          </a:prstGeom>
          <a:noFill/>
          <a:ln w="28575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1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7EB6B65-A063-BF44-A81E-356CB377EB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8199966" y="161925"/>
            <a:ext cx="3861033" cy="3570662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BBBB8CF5-AF2B-BC43-B0E8-74F683DDBE11}"/>
              </a:ext>
            </a:extLst>
          </p:cNvPr>
          <p:cNvSpPr/>
          <p:nvPr/>
        </p:nvSpPr>
        <p:spPr>
          <a:xfrm>
            <a:off x="9013130" y="3024458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1E2B2B1-2E30-AB49-BC3D-94C4773BAA2B}"/>
              </a:ext>
            </a:extLst>
          </p:cNvPr>
          <p:cNvGrpSpPr/>
          <p:nvPr/>
        </p:nvGrpSpPr>
        <p:grpSpPr>
          <a:xfrm>
            <a:off x="9013130" y="2134121"/>
            <a:ext cx="126504" cy="1006768"/>
            <a:chOff x="902064" y="1922402"/>
            <a:chExt cx="126504" cy="100676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35471EB-953D-2D46-8788-E1A51225672E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CC2FB8B-A4DA-9546-8FDA-460A087812E5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702462-E136-9A4E-B54C-B45105D659DA}"/>
              </a:ext>
            </a:extLst>
          </p:cNvPr>
          <p:cNvGrpSpPr/>
          <p:nvPr/>
        </p:nvGrpSpPr>
        <p:grpSpPr>
          <a:xfrm>
            <a:off x="9013130" y="1282357"/>
            <a:ext cx="126504" cy="1025275"/>
            <a:chOff x="902064" y="1070638"/>
            <a:chExt cx="126504" cy="1025275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37ABB8D-3456-B14D-BEE0-F3C105FB7C90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C9891B1-B166-524B-8335-9450BBE44B53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864081-ADE4-EE48-B34D-33C4B0447043}"/>
              </a:ext>
            </a:extLst>
          </p:cNvPr>
          <p:cNvGrpSpPr/>
          <p:nvPr/>
        </p:nvGrpSpPr>
        <p:grpSpPr>
          <a:xfrm>
            <a:off x="10359138" y="331682"/>
            <a:ext cx="126504" cy="1020326"/>
            <a:chOff x="2248072" y="119963"/>
            <a:chExt cx="126504" cy="1020326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9B4F5A8-7499-994A-B33D-4A21FB816DC9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7349741-07AE-0C44-8E5F-EE8A72E354F5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8079CAD-9938-D94E-8E0E-AB5B9780FA83}"/>
              </a:ext>
            </a:extLst>
          </p:cNvPr>
          <p:cNvGrpSpPr/>
          <p:nvPr/>
        </p:nvGrpSpPr>
        <p:grpSpPr>
          <a:xfrm>
            <a:off x="9076382" y="1282357"/>
            <a:ext cx="1409260" cy="126504"/>
            <a:chOff x="965316" y="1070638"/>
            <a:chExt cx="1409260" cy="12650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CDFB917-EB0D-7143-99B8-5DF4D89F71F5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750E6D-A09F-A04E-8505-837FDB83CC06}"/>
                </a:ext>
              </a:extLst>
            </p:cNvPr>
            <p:cNvCxnSpPr>
              <a:stCxn id="33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3D6D7C4-3BDD-8C44-95C6-6E6ABDB3DBA4}"/>
              </a:ext>
            </a:extLst>
          </p:cNvPr>
          <p:cNvGrpSpPr/>
          <p:nvPr/>
        </p:nvGrpSpPr>
        <p:grpSpPr>
          <a:xfrm>
            <a:off x="10388523" y="331682"/>
            <a:ext cx="1456095" cy="126504"/>
            <a:chOff x="2277457" y="119963"/>
            <a:chExt cx="1456095" cy="12650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A97E8D0-3312-0D4C-8AC8-73345A8174E7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21E8207-0A83-0B44-B3DE-11435157305C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107DF8A-3B93-8742-96C9-EFE285C0920D}"/>
              </a:ext>
            </a:extLst>
          </p:cNvPr>
          <p:cNvSpPr txBox="1"/>
          <p:nvPr/>
        </p:nvSpPr>
        <p:spPr>
          <a:xfrm>
            <a:off x="4322350" y="1059276"/>
            <a:ext cx="1468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Estimate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9A1198-8AB8-5944-8F63-E57905816156}"/>
              </a:ext>
            </a:extLst>
          </p:cNvPr>
          <p:cNvSpPr txBox="1"/>
          <p:nvPr/>
        </p:nvSpPr>
        <p:spPr>
          <a:xfrm rot="16200000">
            <a:off x="-80704" y="3026605"/>
            <a:ext cx="953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Truth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Content Placeholder 8">
                <a:extLst>
                  <a:ext uri="{FF2B5EF4-FFF2-40B4-BE49-F238E27FC236}">
                    <a16:creationId xmlns:a16="http://schemas.microsoft.com/office/drawing/2014/main" id="{B10A809E-0D9D-6F45-9171-BD24D116A08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62072519"/>
                  </p:ext>
                </p:extLst>
              </p:nvPr>
            </p:nvGraphicFramePr>
            <p:xfrm>
              <a:off x="2153365" y="2260625"/>
              <a:ext cx="5811982" cy="207818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05991">
                      <a:extLst>
                        <a:ext uri="{9D8B030D-6E8A-4147-A177-3AD203B41FA5}">
                          <a16:colId xmlns:a16="http://schemas.microsoft.com/office/drawing/2014/main" val="4227622863"/>
                        </a:ext>
                      </a:extLst>
                    </a:gridCol>
                    <a:gridCol w="2905991">
                      <a:extLst>
                        <a:ext uri="{9D8B030D-6E8A-4147-A177-3AD203B41FA5}">
                          <a16:colId xmlns:a16="http://schemas.microsoft.com/office/drawing/2014/main" val="696407320"/>
                        </a:ext>
                      </a:extLst>
                    </a:gridCol>
                  </a:tblGrid>
                  <a:tr h="103909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3200" b="1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</m:oMath>
                            </m:oMathPara>
                          </a14:m>
                          <a:endParaRPr lang="en-US" sz="3200" b="1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76234663"/>
                      </a:ext>
                    </a:extLst>
                  </a:tr>
                  <a:tr h="103909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3200" b="1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3200" b="1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77907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Content Placeholder 8">
                <a:extLst>
                  <a:ext uri="{FF2B5EF4-FFF2-40B4-BE49-F238E27FC236}">
                    <a16:creationId xmlns:a16="http://schemas.microsoft.com/office/drawing/2014/main" id="{B10A809E-0D9D-6F45-9171-BD24D116A08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62072519"/>
                  </p:ext>
                </p:extLst>
              </p:nvPr>
            </p:nvGraphicFramePr>
            <p:xfrm>
              <a:off x="2153365" y="2260625"/>
              <a:ext cx="5811982" cy="207818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05991">
                      <a:extLst>
                        <a:ext uri="{9D8B030D-6E8A-4147-A177-3AD203B41FA5}">
                          <a16:colId xmlns:a16="http://schemas.microsoft.com/office/drawing/2014/main" val="4227622863"/>
                        </a:ext>
                      </a:extLst>
                    </a:gridCol>
                    <a:gridCol w="2905991">
                      <a:extLst>
                        <a:ext uri="{9D8B030D-6E8A-4147-A177-3AD203B41FA5}">
                          <a16:colId xmlns:a16="http://schemas.microsoft.com/office/drawing/2014/main" val="696407320"/>
                        </a:ext>
                      </a:extLst>
                    </a:gridCol>
                  </a:tblGrid>
                  <a:tr h="10390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5" t="-1220" r="-100000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3" t="-1220" r="-437" b="-1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6234663"/>
                      </a:ext>
                    </a:extLst>
                  </a:tr>
                  <a:tr h="10390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5" t="-101220" r="-100000" b="-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3" t="-101220" r="-437" b="-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77907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952F3BD8-3832-2544-A65C-C2F4A13CB0EE}"/>
              </a:ext>
            </a:extLst>
          </p:cNvPr>
          <p:cNvSpPr txBox="1"/>
          <p:nvPr/>
        </p:nvSpPr>
        <p:spPr>
          <a:xfrm>
            <a:off x="5170527" y="1653077"/>
            <a:ext cx="2720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Class 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2803C3-7968-214A-9912-0AA6270CDE2D}"/>
              </a:ext>
            </a:extLst>
          </p:cNvPr>
          <p:cNvSpPr txBox="1"/>
          <p:nvPr/>
        </p:nvSpPr>
        <p:spPr>
          <a:xfrm>
            <a:off x="807314" y="2520173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Class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ACFFA3-F6D4-C744-A7AC-A13B5332CB6A}"/>
              </a:ext>
            </a:extLst>
          </p:cNvPr>
          <p:cNvSpPr txBox="1"/>
          <p:nvPr/>
        </p:nvSpPr>
        <p:spPr>
          <a:xfrm>
            <a:off x="789770" y="3557842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Class 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1E45D74-06DF-F54A-A048-B8EC0ED371D1}"/>
              </a:ext>
            </a:extLst>
          </p:cNvPr>
          <p:cNvSpPr txBox="1"/>
          <p:nvPr/>
        </p:nvSpPr>
        <p:spPr>
          <a:xfrm>
            <a:off x="2223126" y="1672456"/>
            <a:ext cx="2720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Class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CD3F8A3-FE92-844E-9F41-A24579BB3C1A}"/>
                  </a:ext>
                </a:extLst>
              </p:cNvPr>
              <p:cNvSpPr/>
              <p:nvPr/>
            </p:nvSpPr>
            <p:spPr>
              <a:xfrm>
                <a:off x="8331314" y="3938510"/>
                <a:ext cx="1058430" cy="5579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CD3F8A3-FE92-844E-9F41-A24579BB3C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14" y="3938510"/>
                <a:ext cx="1058430" cy="557910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2729405-CAD7-D84D-92D8-7BD5C8449C01}"/>
                  </a:ext>
                </a:extLst>
              </p:cNvPr>
              <p:cNvSpPr txBox="1"/>
              <p:nvPr/>
            </p:nvSpPr>
            <p:spPr>
              <a:xfrm>
                <a:off x="9308414" y="3927747"/>
                <a:ext cx="2863058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8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  <a:p>
                <a:r>
                  <a:rPr lang="en-US" sz="2000" dirty="0">
                    <a:solidFill>
                      <a:srgbClr val="404040"/>
                    </a:solidFill>
                    <a:latin typeface="Helvetica Light" charset="0"/>
                    <a:ea typeface="Helvetica Light" charset="0"/>
                    <a:cs typeface="Helvetica Light" charset="0"/>
                  </a:rPr>
                  <a:t>Loss if prediction is class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Helvetica Light" charset="0"/>
                        <a:cs typeface="Helvetica Light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rgbClr val="404040"/>
                    </a:solidFill>
                    <a:latin typeface="Helvetica Light" charset="0"/>
                    <a:ea typeface="Helvetica Light" charset="0"/>
                    <a:cs typeface="Helvetica Light" charset="0"/>
                  </a:rPr>
                  <a:t> when truth is class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Helvetica Light" charset="0"/>
                        <a:cs typeface="Helvetica Light" charset="0"/>
                      </a:rPr>
                      <m:t>𝑗</m:t>
                    </m:r>
                  </m:oMath>
                </a14:m>
                <a:endParaRPr lang="en-US" sz="20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2729405-CAD7-D84D-92D8-7BD5C8449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8414" y="3927747"/>
                <a:ext cx="2863058" cy="1446550"/>
              </a:xfrm>
              <a:prstGeom prst="rect">
                <a:avLst/>
              </a:prstGeom>
              <a:blipFill>
                <a:blip r:embed="rId5"/>
                <a:stretch>
                  <a:fillRect l="-2203" t="-2609" b="-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2D95015E-691F-0D47-9039-14E5BCF0B917}"/>
              </a:ext>
            </a:extLst>
          </p:cNvPr>
          <p:cNvSpPr txBox="1"/>
          <p:nvPr/>
        </p:nvSpPr>
        <p:spPr>
          <a:xfrm>
            <a:off x="165099" y="5164210"/>
            <a:ext cx="89745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Assume for our problem a false negative is 100 times worse than a false positive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Correct predictions incur no penalties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345E5-6216-FF4A-9A3A-4A13691B0592}"/>
              </a:ext>
            </a:extLst>
          </p:cNvPr>
          <p:cNvSpPr txBox="1"/>
          <p:nvPr/>
        </p:nvSpPr>
        <p:spPr>
          <a:xfrm>
            <a:off x="2142497" y="3272233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False Positive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EC5E26-1C93-5241-ADA5-D62FD7335450}"/>
              </a:ext>
            </a:extLst>
          </p:cNvPr>
          <p:cNvSpPr txBox="1"/>
          <p:nvPr/>
        </p:nvSpPr>
        <p:spPr>
          <a:xfrm>
            <a:off x="5004668" y="2235289"/>
            <a:ext cx="1951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False negative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04BB257-A3B3-4A49-BDBE-040F2A6D2E5B}"/>
                  </a:ext>
                </a:extLst>
              </p:cNvPr>
              <p:cNvSpPr txBox="1"/>
              <p:nvPr/>
            </p:nvSpPr>
            <p:spPr>
              <a:xfrm>
                <a:off x="9096186" y="3429000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04BB257-A3B3-4A49-BDBE-040F2A6D2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186" y="3429000"/>
                <a:ext cx="2742336" cy="369332"/>
              </a:xfrm>
              <a:prstGeom prst="rect">
                <a:avLst/>
              </a:prstGeom>
              <a:blipFill>
                <a:blip r:embed="rId6"/>
                <a:stretch>
                  <a:fillRect l="-1382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2693963-7767-2946-9032-ADF4F1C03A86}"/>
                  </a:ext>
                </a:extLst>
              </p:cNvPr>
              <p:cNvSpPr txBox="1"/>
              <p:nvPr/>
            </p:nvSpPr>
            <p:spPr>
              <a:xfrm rot="16200000">
                <a:off x="6892740" y="1560613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2693963-7767-2946-9032-ADF4F1C03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892740" y="1560613"/>
                <a:ext cx="2797304" cy="369332"/>
              </a:xfrm>
              <a:prstGeom prst="rect">
                <a:avLst/>
              </a:prstGeom>
              <a:blipFill>
                <a:blip r:embed="rId7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E6AE5AE-1204-1049-BA09-6BCE0283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99" y="161925"/>
            <a:ext cx="8183033" cy="688975"/>
          </a:xfrm>
        </p:spPr>
        <p:txBody>
          <a:bodyPr/>
          <a:lstStyle/>
          <a:p>
            <a:r>
              <a:rPr lang="en-US" dirty="0"/>
              <a:t>Where to operate along ROC?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3D98C-5ED3-E598-4C78-64E2047D6C5B}"/>
              </a:ext>
            </a:extLst>
          </p:cNvPr>
          <p:cNvSpPr txBox="1"/>
          <p:nvPr/>
        </p:nvSpPr>
        <p:spPr>
          <a:xfrm>
            <a:off x="2142497" y="2235289"/>
            <a:ext cx="1780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ea typeface="Helvetica Light" charset="0"/>
                <a:cs typeface="Helvetica Light" charset="0"/>
              </a:rPr>
              <a:t>True Positive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1BE003-8FA9-64CF-C5EA-2AEAF9354D9D}"/>
              </a:ext>
            </a:extLst>
          </p:cNvPr>
          <p:cNvSpPr txBox="1"/>
          <p:nvPr/>
        </p:nvSpPr>
        <p:spPr>
          <a:xfrm>
            <a:off x="5030662" y="3272233"/>
            <a:ext cx="1866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ea typeface="Helvetica Light" charset="0"/>
                <a:cs typeface="Helvetica Light" charset="0"/>
              </a:rPr>
              <a:t>True Negative</a:t>
            </a:r>
          </a:p>
        </p:txBody>
      </p:sp>
    </p:spTree>
    <p:extLst>
      <p:ext uri="{BB962C8B-B14F-4D97-AF65-F5344CB8AC3E}">
        <p14:creationId xmlns:p14="http://schemas.microsoft.com/office/powerpoint/2010/main" val="223749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1" grpId="0"/>
      <p:bldP spid="49" grpId="0"/>
      <p:bldP spid="50" grpId="0"/>
      <p:bldP spid="51" grpId="0"/>
      <p:bldP spid="54" grpId="0"/>
      <p:bldP spid="55" grpId="0"/>
      <p:bldP spid="56" grpId="0"/>
      <p:bldP spid="3" grpId="0"/>
      <p:bldP spid="42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85AF6-88ED-60FD-8517-4440443A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88900692-5D91-5523-4268-B3EBCACF83A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6789797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9853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Action: select threshold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positive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negative</a:t>
                          </a:r>
                        </a:p>
                        <a:p>
                          <a:pPr algn="ctr"/>
                          <a:b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=(1−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sub>
                                </m:sSub>
                                <m:r>
                                  <a:rPr lang="en-US" b="0" i="1" baseline="0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Risk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τ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88900692-5D91-5523-4268-B3EBCACF83A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6789797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4" t="-2128" r="-3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94" t="-2128" r="-2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098" t="-2128" r="-101399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2128" r="-694" b="-2329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1518089-A5F4-E753-BDA7-423164FF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47" y="54789"/>
            <a:ext cx="8183033" cy="688975"/>
          </a:xfrm>
        </p:spPr>
        <p:txBody>
          <a:bodyPr/>
          <a:lstStyle/>
          <a:p>
            <a:r>
              <a:rPr lang="en-US" dirty="0"/>
              <a:t>Choose where to operate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60DBAA-F5F6-F941-4851-DC6722C941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8047566" y="447503"/>
            <a:ext cx="3861033" cy="357066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35CBA3A-F70D-8216-F0CB-1A30776BC08D}"/>
              </a:ext>
            </a:extLst>
          </p:cNvPr>
          <p:cNvSpPr/>
          <p:nvPr/>
        </p:nvSpPr>
        <p:spPr>
          <a:xfrm>
            <a:off x="8860730" y="3310036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53CCC4-8274-027E-476D-6BE31FB8C877}"/>
              </a:ext>
            </a:extLst>
          </p:cNvPr>
          <p:cNvGrpSpPr/>
          <p:nvPr/>
        </p:nvGrpSpPr>
        <p:grpSpPr>
          <a:xfrm>
            <a:off x="8860730" y="2419699"/>
            <a:ext cx="126504" cy="1006768"/>
            <a:chOff x="902064" y="1922402"/>
            <a:chExt cx="126504" cy="100676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CC5C340-5DED-0723-10A9-63DA93DB82A8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7114726-A600-A6B2-1A83-15A4B24C753A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D54ED5-B959-CCF2-7AB6-6A3B3B800334}"/>
              </a:ext>
            </a:extLst>
          </p:cNvPr>
          <p:cNvGrpSpPr/>
          <p:nvPr/>
        </p:nvGrpSpPr>
        <p:grpSpPr>
          <a:xfrm>
            <a:off x="8860730" y="1567935"/>
            <a:ext cx="126504" cy="1025275"/>
            <a:chOff x="902064" y="1070638"/>
            <a:chExt cx="126504" cy="102527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333914B-05A7-CC0E-91CF-85769110026F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1552B3-108B-F200-4079-F36D48C0FC31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3034812-E8B4-1B9E-746A-C66FB7224903}"/>
              </a:ext>
            </a:extLst>
          </p:cNvPr>
          <p:cNvGrpSpPr/>
          <p:nvPr/>
        </p:nvGrpSpPr>
        <p:grpSpPr>
          <a:xfrm>
            <a:off x="10206738" y="617260"/>
            <a:ext cx="126504" cy="1020326"/>
            <a:chOff x="2248072" y="119963"/>
            <a:chExt cx="126504" cy="102032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8F2BF93-1C82-FD67-13C3-CBDE342A1CFE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CE314B3-1F15-42D8-273D-81F76F8DE72A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1A9C3D-24CE-9FF7-DB48-CC52F23DAF2D}"/>
              </a:ext>
            </a:extLst>
          </p:cNvPr>
          <p:cNvGrpSpPr/>
          <p:nvPr/>
        </p:nvGrpSpPr>
        <p:grpSpPr>
          <a:xfrm>
            <a:off x="8923982" y="1567935"/>
            <a:ext cx="1409260" cy="126504"/>
            <a:chOff x="965316" y="1070638"/>
            <a:chExt cx="1409260" cy="12650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EC3F4B9-CDD2-83E8-9244-9C22E284C657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653A70-BACF-25E1-9F2B-2F01E85D636D}"/>
                </a:ext>
              </a:extLst>
            </p:cNvPr>
            <p:cNvCxnSpPr>
              <a:stCxn id="21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376ABC-14A0-3C13-8277-B8832B3A3884}"/>
              </a:ext>
            </a:extLst>
          </p:cNvPr>
          <p:cNvGrpSpPr/>
          <p:nvPr/>
        </p:nvGrpSpPr>
        <p:grpSpPr>
          <a:xfrm>
            <a:off x="10236123" y="617260"/>
            <a:ext cx="1456095" cy="126504"/>
            <a:chOff x="2277457" y="119963"/>
            <a:chExt cx="1456095" cy="1265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9369253-312E-7154-1865-EC81BBB82C91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EB33B57-3CF7-7160-7BB7-4399E58C62D0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475F51BF-8DE4-8267-DA27-827BFD0371DD}"/>
              </a:ext>
            </a:extLst>
          </p:cNvPr>
          <p:cNvSpPr/>
          <p:nvPr/>
        </p:nvSpPr>
        <p:spPr>
          <a:xfrm>
            <a:off x="9050486" y="2911609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5D6987-F13B-C153-FED7-F0C0ABBA135C}"/>
              </a:ext>
            </a:extLst>
          </p:cNvPr>
          <p:cNvSpPr/>
          <p:nvPr/>
        </p:nvSpPr>
        <p:spPr>
          <a:xfrm>
            <a:off x="9050486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0991927-DB95-4E1F-38E8-ED9F7A23DD6A}"/>
              </a:ext>
            </a:extLst>
          </p:cNvPr>
          <p:cNvSpPr/>
          <p:nvPr/>
        </p:nvSpPr>
        <p:spPr>
          <a:xfrm>
            <a:off x="10354352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D0D3646-95B6-9D60-78EF-FD515B644247}"/>
              </a:ext>
            </a:extLst>
          </p:cNvPr>
          <p:cNvSpPr/>
          <p:nvPr/>
        </p:nvSpPr>
        <p:spPr>
          <a:xfrm>
            <a:off x="10354352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B981874-8A18-AFA2-3B70-89CC24A513E7}"/>
              </a:ext>
            </a:extLst>
          </p:cNvPr>
          <p:cNvSpPr/>
          <p:nvPr/>
        </p:nvSpPr>
        <p:spPr>
          <a:xfrm>
            <a:off x="11590485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5F98E70-406D-1FD7-E1E7-400F365ACC29}"/>
                  </a:ext>
                </a:extLst>
              </p:cNvPr>
              <p:cNvSpPr txBox="1"/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AF0756-0D31-A548-9E2D-62D9D74E3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blipFill>
                <a:blip r:embed="rId7"/>
                <a:stretch>
                  <a:fillRect l="-184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E358E3A-DE3C-0507-FD5C-290329D67722}"/>
                  </a:ext>
                </a:extLst>
              </p:cNvPr>
              <p:cNvSpPr txBox="1"/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CE4F-5902-E548-8D5A-6EE7A713C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blipFill>
                <a:blip r:embed="rId8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46A5A83-C790-5556-ED52-DA3A84C3DF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0667" y="4376007"/>
            <a:ext cx="5009673" cy="21331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0FE8775-05E0-AE18-C112-0C7559FCA18F}"/>
                  </a:ext>
                </a:extLst>
              </p:cNvPr>
              <p:cNvSpPr txBox="1"/>
              <p:nvPr/>
            </p:nvSpPr>
            <p:spPr>
              <a:xfrm>
                <a:off x="194038" y="5763450"/>
                <a:ext cx="614309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0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600" b="0" i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i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Light" charset="0"/>
                            </a:rPr>
                            <m:t>τ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Light" charset="0"/>
                            </a:rPr>
                            <m:t>𝑘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0FE8775-05E0-AE18-C112-0C7559FCA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38" y="5763450"/>
                <a:ext cx="6143092" cy="492443"/>
              </a:xfrm>
              <a:prstGeom prst="rect">
                <a:avLst/>
              </a:prstGeom>
              <a:blipFill>
                <a:blip r:embed="rId10"/>
                <a:stretch>
                  <a:fillRect l="-825" r="-1649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6089F9-F2C3-08E6-3541-BCA718886C9D}"/>
                  </a:ext>
                </a:extLst>
              </p:cNvPr>
              <p:cNvSpPr txBox="1"/>
              <p:nvPr/>
            </p:nvSpPr>
            <p:spPr>
              <a:xfrm>
                <a:off x="268940" y="4797472"/>
                <a:ext cx="5950090" cy="938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sz="2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6089F9-F2C3-08E6-3541-BCA718886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0" y="4797472"/>
                <a:ext cx="5950090" cy="938014"/>
              </a:xfrm>
              <a:prstGeom prst="rect">
                <a:avLst/>
              </a:prstGeom>
              <a:blipFill>
                <a:blip r:embed="rId11"/>
                <a:stretch>
                  <a:fillRect l="-1066" t="-141333" r="-1706" b="-18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5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05968686-43E1-8845-B270-C33F8276AF8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03141796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9853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Action: select threshold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positive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negative</a:t>
                          </a:r>
                        </a:p>
                        <a:p>
                          <a:pPr algn="ctr"/>
                          <a:b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=(1−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sub>
                                </m:sSub>
                                <m:r>
                                  <a:rPr lang="en-US" b="0" i="1" baseline="0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Risk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τ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05968686-43E1-8845-B270-C33F8276AF8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03141796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4" t="-2128" r="-3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94" t="-2128" r="-2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098" t="-2128" r="-101399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2128" r="-694" b="-2329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85D58A6-F089-034E-8E3C-9C89069B9A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8047566" y="447503"/>
            <a:ext cx="3861033" cy="357066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957CA8A-B370-ED48-99A6-DE2787914F12}"/>
              </a:ext>
            </a:extLst>
          </p:cNvPr>
          <p:cNvSpPr/>
          <p:nvPr/>
        </p:nvSpPr>
        <p:spPr>
          <a:xfrm>
            <a:off x="8860730" y="3310036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E34A1A0-0A60-254D-8D1B-6B345CBCD8B0}"/>
              </a:ext>
            </a:extLst>
          </p:cNvPr>
          <p:cNvGrpSpPr/>
          <p:nvPr/>
        </p:nvGrpSpPr>
        <p:grpSpPr>
          <a:xfrm>
            <a:off x="8860730" y="2419699"/>
            <a:ext cx="126504" cy="1006768"/>
            <a:chOff x="902064" y="1922402"/>
            <a:chExt cx="126504" cy="100676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5760420-3F12-E549-8190-A10BFE6AD98E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DEC0268-C815-114F-A714-D17A9968D09A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4DB743-E265-F343-AE72-4D523B51DDDB}"/>
              </a:ext>
            </a:extLst>
          </p:cNvPr>
          <p:cNvGrpSpPr/>
          <p:nvPr/>
        </p:nvGrpSpPr>
        <p:grpSpPr>
          <a:xfrm>
            <a:off x="8860730" y="1567935"/>
            <a:ext cx="126504" cy="1025275"/>
            <a:chOff x="902064" y="1070638"/>
            <a:chExt cx="126504" cy="102527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3A9CD6B-AF45-7146-BE32-B6F3235519AB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66784C6-B9C9-DB4A-90B4-88361F274190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25F4893-778C-C442-B356-24316EF64C5E}"/>
              </a:ext>
            </a:extLst>
          </p:cNvPr>
          <p:cNvGrpSpPr/>
          <p:nvPr/>
        </p:nvGrpSpPr>
        <p:grpSpPr>
          <a:xfrm>
            <a:off x="10206738" y="617260"/>
            <a:ext cx="126504" cy="1020326"/>
            <a:chOff x="2248072" y="119963"/>
            <a:chExt cx="126504" cy="102032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33A3221-D9B3-DF4E-B5BA-813C6CCC5440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F63B11D-E890-4745-9728-70114D7619DE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04D7E1-3903-2943-827E-2425708D1791}"/>
              </a:ext>
            </a:extLst>
          </p:cNvPr>
          <p:cNvGrpSpPr/>
          <p:nvPr/>
        </p:nvGrpSpPr>
        <p:grpSpPr>
          <a:xfrm>
            <a:off x="8923982" y="1567935"/>
            <a:ext cx="1409260" cy="126504"/>
            <a:chOff x="965316" y="1070638"/>
            <a:chExt cx="1409260" cy="12650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7D2732A-20C2-134E-B279-DB8BD0C665C3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A08C8B5-99E1-974D-A275-D53E31EB8511}"/>
                </a:ext>
              </a:extLst>
            </p:cNvPr>
            <p:cNvCxnSpPr>
              <a:stCxn id="21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98B203C-9011-ED47-88F3-9A48BA91D31B}"/>
              </a:ext>
            </a:extLst>
          </p:cNvPr>
          <p:cNvGrpSpPr/>
          <p:nvPr/>
        </p:nvGrpSpPr>
        <p:grpSpPr>
          <a:xfrm>
            <a:off x="10236123" y="617260"/>
            <a:ext cx="1456095" cy="126504"/>
            <a:chOff x="2277457" y="119963"/>
            <a:chExt cx="1456095" cy="1265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0B5DA7A-0284-1E4E-BE2E-CBD3E9282F0D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0379419-DB32-AC4A-8E76-9F9E62F03795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2E994385-E520-DD49-A0D3-2F4FA4674CC6}"/>
              </a:ext>
            </a:extLst>
          </p:cNvPr>
          <p:cNvSpPr/>
          <p:nvPr/>
        </p:nvSpPr>
        <p:spPr>
          <a:xfrm>
            <a:off x="9050486" y="2911609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F921D2-5C30-734D-AF55-95EEE1365D0F}"/>
              </a:ext>
            </a:extLst>
          </p:cNvPr>
          <p:cNvSpPr/>
          <p:nvPr/>
        </p:nvSpPr>
        <p:spPr>
          <a:xfrm>
            <a:off x="9050486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14217D8-6DC4-6E4E-941E-F499D312FFF0}"/>
              </a:ext>
            </a:extLst>
          </p:cNvPr>
          <p:cNvSpPr/>
          <p:nvPr/>
        </p:nvSpPr>
        <p:spPr>
          <a:xfrm>
            <a:off x="10354352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48D9A2B-94AF-E443-9ED6-CEE54EC43783}"/>
              </a:ext>
            </a:extLst>
          </p:cNvPr>
          <p:cNvSpPr/>
          <p:nvPr/>
        </p:nvSpPr>
        <p:spPr>
          <a:xfrm>
            <a:off x="10354352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64FFDDA-A02C-7E4E-9A52-06F67FB56AD5}"/>
              </a:ext>
            </a:extLst>
          </p:cNvPr>
          <p:cNvSpPr/>
          <p:nvPr/>
        </p:nvSpPr>
        <p:spPr>
          <a:xfrm>
            <a:off x="11590485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02C31E0-F68E-0B4E-8318-917A2A21D90D}"/>
                  </a:ext>
                </a:extLst>
              </p:cNvPr>
              <p:cNvSpPr txBox="1"/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02C31E0-F68E-0B4E-8318-917A2A21D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blipFill>
                <a:blip r:embed="rId7"/>
                <a:stretch>
                  <a:fillRect l="-184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9B3F4DA-B8CF-1E41-B2F0-532EA46A20D3}"/>
                  </a:ext>
                </a:extLst>
              </p:cNvPr>
              <p:cNvSpPr txBox="1"/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9B3F4DA-B8CF-1E41-B2F0-532EA46A2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blipFill>
                <a:blip r:embed="rId8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Picture 47">
            <a:extLst>
              <a:ext uri="{FF2B5EF4-FFF2-40B4-BE49-F238E27FC236}">
                <a16:creationId xmlns:a16="http://schemas.microsoft.com/office/drawing/2014/main" id="{E1BEF676-0AC8-B6C8-735E-766AEF00D9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0667" y="4376007"/>
            <a:ext cx="5009673" cy="21331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2D653A-9648-2AFE-C896-20D21A7CD907}"/>
                  </a:ext>
                </a:extLst>
              </p:cNvPr>
              <p:cNvSpPr txBox="1"/>
              <p:nvPr/>
            </p:nvSpPr>
            <p:spPr>
              <a:xfrm>
                <a:off x="194038" y="5763450"/>
                <a:ext cx="614309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0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600" b="0" i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i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Light" charset="0"/>
                            </a:rPr>
                            <m:t>τ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Light" charset="0"/>
                            </a:rPr>
                            <m:t>𝑘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2D653A-9648-2AFE-C896-20D21A7CD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38" y="5763450"/>
                <a:ext cx="6143092" cy="492443"/>
              </a:xfrm>
              <a:prstGeom prst="rect">
                <a:avLst/>
              </a:prstGeom>
              <a:blipFill>
                <a:blip r:embed="rId10"/>
                <a:stretch>
                  <a:fillRect l="-825" r="-1649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00945B-B37D-7F81-F3C7-E8B5B777DF59}"/>
                  </a:ext>
                </a:extLst>
              </p:cNvPr>
              <p:cNvSpPr txBox="1"/>
              <p:nvPr/>
            </p:nvSpPr>
            <p:spPr>
              <a:xfrm>
                <a:off x="268940" y="4797472"/>
                <a:ext cx="5950090" cy="938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sz="2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00945B-B37D-7F81-F3C7-E8B5B777D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0" y="4797472"/>
                <a:ext cx="5950090" cy="938014"/>
              </a:xfrm>
              <a:prstGeom prst="rect">
                <a:avLst/>
              </a:prstGeom>
              <a:blipFill>
                <a:blip r:embed="rId11"/>
                <a:stretch>
                  <a:fillRect l="-1066" t="-141333" r="-1706" b="-18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itle 1">
            <a:extLst>
              <a:ext uri="{FF2B5EF4-FFF2-40B4-BE49-F238E27FC236}">
                <a16:creationId xmlns:a16="http://schemas.microsoft.com/office/drawing/2014/main" id="{F015811F-B744-3B28-315B-09A673812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47" y="54789"/>
            <a:ext cx="8183033" cy="688975"/>
          </a:xfrm>
        </p:spPr>
        <p:txBody>
          <a:bodyPr/>
          <a:lstStyle/>
          <a:p>
            <a:r>
              <a:rPr lang="en-US" dirty="0"/>
              <a:t>Choose where to operate</a:t>
            </a:r>
          </a:p>
        </p:txBody>
      </p:sp>
    </p:spTree>
    <p:extLst>
      <p:ext uri="{BB962C8B-B14F-4D97-AF65-F5344CB8AC3E}">
        <p14:creationId xmlns:p14="http://schemas.microsoft.com/office/powerpoint/2010/main" val="339297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05968686-43E1-8845-B270-C33F8276AF8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9514891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9853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Action: select threshold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positive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negative</a:t>
                          </a:r>
                        </a:p>
                        <a:p>
                          <a:pPr algn="ctr"/>
                          <a:b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=(1−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sub>
                                </m:sSub>
                                <m:r>
                                  <a:rPr lang="en-US" b="0" i="1" baseline="0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Risk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τ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33.5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05968686-43E1-8845-B270-C33F8276AF8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9514891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4" t="-2128" r="-3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94" t="-2128" r="-2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098" t="-2128" r="-101399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2128" r="-694" b="-2329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33.5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85D58A6-F089-034E-8E3C-9C89069B9A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8047566" y="447503"/>
            <a:ext cx="3861033" cy="357066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957CA8A-B370-ED48-99A6-DE2787914F12}"/>
              </a:ext>
            </a:extLst>
          </p:cNvPr>
          <p:cNvSpPr/>
          <p:nvPr/>
        </p:nvSpPr>
        <p:spPr>
          <a:xfrm>
            <a:off x="8860730" y="3310036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E34A1A0-0A60-254D-8D1B-6B345CBCD8B0}"/>
              </a:ext>
            </a:extLst>
          </p:cNvPr>
          <p:cNvGrpSpPr/>
          <p:nvPr/>
        </p:nvGrpSpPr>
        <p:grpSpPr>
          <a:xfrm>
            <a:off x="8860730" y="2419699"/>
            <a:ext cx="126504" cy="1006768"/>
            <a:chOff x="902064" y="1922402"/>
            <a:chExt cx="126504" cy="100676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5760420-3F12-E549-8190-A10BFE6AD98E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DEC0268-C815-114F-A714-D17A9968D09A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4DB743-E265-F343-AE72-4D523B51DDDB}"/>
              </a:ext>
            </a:extLst>
          </p:cNvPr>
          <p:cNvGrpSpPr/>
          <p:nvPr/>
        </p:nvGrpSpPr>
        <p:grpSpPr>
          <a:xfrm>
            <a:off x="8860730" y="1567935"/>
            <a:ext cx="126504" cy="1025275"/>
            <a:chOff x="902064" y="1070638"/>
            <a:chExt cx="126504" cy="102527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3A9CD6B-AF45-7146-BE32-B6F3235519AB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66784C6-B9C9-DB4A-90B4-88361F274190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25F4893-778C-C442-B356-24316EF64C5E}"/>
              </a:ext>
            </a:extLst>
          </p:cNvPr>
          <p:cNvGrpSpPr/>
          <p:nvPr/>
        </p:nvGrpSpPr>
        <p:grpSpPr>
          <a:xfrm>
            <a:off x="10206738" y="617260"/>
            <a:ext cx="126504" cy="1020326"/>
            <a:chOff x="2248072" y="119963"/>
            <a:chExt cx="126504" cy="102032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33A3221-D9B3-DF4E-B5BA-813C6CCC5440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F63B11D-E890-4745-9728-70114D7619DE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04D7E1-3903-2943-827E-2425708D1791}"/>
              </a:ext>
            </a:extLst>
          </p:cNvPr>
          <p:cNvGrpSpPr/>
          <p:nvPr/>
        </p:nvGrpSpPr>
        <p:grpSpPr>
          <a:xfrm>
            <a:off x="8923982" y="1567935"/>
            <a:ext cx="1409260" cy="126504"/>
            <a:chOff x="965316" y="1070638"/>
            <a:chExt cx="1409260" cy="12650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7D2732A-20C2-134E-B279-DB8BD0C665C3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A08C8B5-99E1-974D-A275-D53E31EB8511}"/>
                </a:ext>
              </a:extLst>
            </p:cNvPr>
            <p:cNvCxnSpPr>
              <a:stCxn id="21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98B203C-9011-ED47-88F3-9A48BA91D31B}"/>
              </a:ext>
            </a:extLst>
          </p:cNvPr>
          <p:cNvGrpSpPr/>
          <p:nvPr/>
        </p:nvGrpSpPr>
        <p:grpSpPr>
          <a:xfrm>
            <a:off x="10236123" y="617260"/>
            <a:ext cx="1456095" cy="126504"/>
            <a:chOff x="2277457" y="119963"/>
            <a:chExt cx="1456095" cy="1265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0B5DA7A-0284-1E4E-BE2E-CBD3E9282F0D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0379419-DB32-AC4A-8E76-9F9E62F03795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2E994385-E520-DD49-A0D3-2F4FA4674CC6}"/>
              </a:ext>
            </a:extLst>
          </p:cNvPr>
          <p:cNvSpPr/>
          <p:nvPr/>
        </p:nvSpPr>
        <p:spPr>
          <a:xfrm>
            <a:off x="9050486" y="2911609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F921D2-5C30-734D-AF55-95EEE1365D0F}"/>
              </a:ext>
            </a:extLst>
          </p:cNvPr>
          <p:cNvSpPr/>
          <p:nvPr/>
        </p:nvSpPr>
        <p:spPr>
          <a:xfrm>
            <a:off x="9050486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14217D8-6DC4-6E4E-941E-F499D312FFF0}"/>
              </a:ext>
            </a:extLst>
          </p:cNvPr>
          <p:cNvSpPr/>
          <p:nvPr/>
        </p:nvSpPr>
        <p:spPr>
          <a:xfrm>
            <a:off x="10354352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48D9A2B-94AF-E443-9ED6-CEE54EC43783}"/>
              </a:ext>
            </a:extLst>
          </p:cNvPr>
          <p:cNvSpPr/>
          <p:nvPr/>
        </p:nvSpPr>
        <p:spPr>
          <a:xfrm>
            <a:off x="10354352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64FFDDA-A02C-7E4E-9A52-06F67FB56AD5}"/>
              </a:ext>
            </a:extLst>
          </p:cNvPr>
          <p:cNvSpPr/>
          <p:nvPr/>
        </p:nvSpPr>
        <p:spPr>
          <a:xfrm>
            <a:off x="11590485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1E0A48-D8A0-3245-AD01-C4D2F599820C}"/>
              </a:ext>
            </a:extLst>
          </p:cNvPr>
          <p:cNvSpPr/>
          <p:nvPr/>
        </p:nvSpPr>
        <p:spPr>
          <a:xfrm>
            <a:off x="101847" y="3470406"/>
            <a:ext cx="7296496" cy="54775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892F04-C485-8048-BCAD-0F5D97B238AE}"/>
              </a:ext>
            </a:extLst>
          </p:cNvPr>
          <p:cNvSpPr txBox="1"/>
          <p:nvPr/>
        </p:nvSpPr>
        <p:spPr>
          <a:xfrm>
            <a:off x="7345271" y="3578859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4F"/>
                </a:solidFill>
                <a:latin typeface="Helvetica" pitchFamily="2" charset="0"/>
                <a:ea typeface="Helvetica Light" charset="0"/>
                <a:cs typeface="Helvetica Light" charset="0"/>
              </a:rPr>
              <a:t>Least risk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AF0756-0D31-A548-9E2D-62D9D74E3D34}"/>
                  </a:ext>
                </a:extLst>
              </p:cNvPr>
              <p:cNvSpPr txBox="1"/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AF0756-0D31-A548-9E2D-62D9D74E3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blipFill>
                <a:blip r:embed="rId7"/>
                <a:stretch>
                  <a:fillRect l="-184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CE4F-5902-E548-8D5A-6EE7A713C35E}"/>
                  </a:ext>
                </a:extLst>
              </p:cNvPr>
              <p:cNvSpPr txBox="1"/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CE4F-5902-E548-8D5A-6EE7A713C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blipFill>
                <a:blip r:embed="rId8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65FBDDC-9721-D8F2-274A-9084921EDB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0667" y="4376007"/>
            <a:ext cx="5009673" cy="21331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1DFE24-EB40-8F17-C9B7-5FED6813B2B4}"/>
                  </a:ext>
                </a:extLst>
              </p:cNvPr>
              <p:cNvSpPr txBox="1"/>
              <p:nvPr/>
            </p:nvSpPr>
            <p:spPr>
              <a:xfrm>
                <a:off x="194038" y="5763450"/>
                <a:ext cx="614309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0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600" b="0" i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i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Light" charset="0"/>
                            </a:rPr>
                            <m:t>τ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Light" charset="0"/>
                            </a:rPr>
                            <m:t>𝑘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1DFE24-EB40-8F17-C9B7-5FED6813B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38" y="5763450"/>
                <a:ext cx="6143092" cy="492443"/>
              </a:xfrm>
              <a:prstGeom prst="rect">
                <a:avLst/>
              </a:prstGeom>
              <a:blipFill>
                <a:blip r:embed="rId10"/>
                <a:stretch>
                  <a:fillRect l="-825" r="-1649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D68174-ED3F-E9CF-C6BF-6BAF54BB4A1B}"/>
                  </a:ext>
                </a:extLst>
              </p:cNvPr>
              <p:cNvSpPr txBox="1"/>
              <p:nvPr/>
            </p:nvSpPr>
            <p:spPr>
              <a:xfrm>
                <a:off x="268940" y="4797472"/>
                <a:ext cx="5950090" cy="938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Helvetica Light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sz="2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D68174-ED3F-E9CF-C6BF-6BAF54BB4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0" y="4797472"/>
                <a:ext cx="5950090" cy="938014"/>
              </a:xfrm>
              <a:prstGeom prst="rect">
                <a:avLst/>
              </a:prstGeom>
              <a:blipFill>
                <a:blip r:embed="rId11"/>
                <a:stretch>
                  <a:fillRect l="-1066" t="-141333" r="-1706" b="-18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itle 1">
            <a:extLst>
              <a:ext uri="{FF2B5EF4-FFF2-40B4-BE49-F238E27FC236}">
                <a16:creationId xmlns:a16="http://schemas.microsoft.com/office/drawing/2014/main" id="{47796D01-51F5-17FB-0A48-DAFC77C15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47" y="54789"/>
            <a:ext cx="8183033" cy="688975"/>
          </a:xfrm>
        </p:spPr>
        <p:txBody>
          <a:bodyPr/>
          <a:lstStyle/>
          <a:p>
            <a:r>
              <a:rPr lang="en-US" dirty="0"/>
              <a:t>Choose where to operate</a:t>
            </a:r>
          </a:p>
        </p:txBody>
      </p:sp>
    </p:spTree>
    <p:extLst>
      <p:ext uri="{BB962C8B-B14F-4D97-AF65-F5344CB8AC3E}">
        <p14:creationId xmlns:p14="http://schemas.microsoft.com/office/powerpoint/2010/main" val="397157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86A73-C619-5792-678A-F1DD4F69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46" y="2185852"/>
            <a:ext cx="10999288" cy="1797322"/>
          </a:xfrm>
        </p:spPr>
        <p:txBody>
          <a:bodyPr/>
          <a:lstStyle/>
          <a:p>
            <a:r>
              <a:rPr lang="en-US" dirty="0"/>
              <a:t>This makes a critical assumption about how the data are distributed by class…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95AD1-E2CA-EB37-2A72-01C4B9DF5291}"/>
              </a:ext>
            </a:extLst>
          </p:cNvPr>
          <p:cNvSpPr txBox="1"/>
          <p:nvPr/>
        </p:nvSpPr>
        <p:spPr>
          <a:xfrm>
            <a:off x="766355" y="4093029"/>
            <a:ext cx="10450286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rPr>
              <a:t>Note: in the previous examples, if we wanted risk to equal expected loss, we would need to have assigned a probability of 0.5 to each class</a:t>
            </a:r>
          </a:p>
        </p:txBody>
      </p:sp>
    </p:spTree>
    <p:extLst>
      <p:ext uri="{BB962C8B-B14F-4D97-AF65-F5344CB8AC3E}">
        <p14:creationId xmlns:p14="http://schemas.microsoft.com/office/powerpoint/2010/main" val="47295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FF591-2B48-4476-2259-918BE5A68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C1B2-0425-7F53-2F63-EDB9A0621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 </a:t>
            </a:r>
            <a:r>
              <a:rPr lang="en-US" dirty="0">
                <a:sym typeface="Wingdings" pitchFamily="2" charset="2"/>
              </a:rPr>
              <a:t> Application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F13812-A89B-C47F-65E7-5E166EB8AE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632217" y="1738176"/>
            <a:ext cx="3861033" cy="357066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67B0A37-A093-A6E2-A398-EF4C5AF23490}"/>
              </a:ext>
            </a:extLst>
          </p:cNvPr>
          <p:cNvSpPr/>
          <p:nvPr/>
        </p:nvSpPr>
        <p:spPr>
          <a:xfrm>
            <a:off x="1445381" y="4600709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CAA88D-17B1-DC06-64E9-AC58D39A4737}"/>
              </a:ext>
            </a:extLst>
          </p:cNvPr>
          <p:cNvGrpSpPr/>
          <p:nvPr/>
        </p:nvGrpSpPr>
        <p:grpSpPr>
          <a:xfrm>
            <a:off x="1445381" y="3710372"/>
            <a:ext cx="126504" cy="1006768"/>
            <a:chOff x="902064" y="1922402"/>
            <a:chExt cx="126504" cy="10067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024838B-CE9E-B65C-5DC4-E7E58030EC38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CDEF04D-D560-571B-A5F1-E5517E661C9A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153958B-040E-D32E-AFC8-2073669B0D34}"/>
              </a:ext>
            </a:extLst>
          </p:cNvPr>
          <p:cNvGrpSpPr/>
          <p:nvPr/>
        </p:nvGrpSpPr>
        <p:grpSpPr>
          <a:xfrm>
            <a:off x="1445381" y="2858608"/>
            <a:ext cx="126504" cy="1025275"/>
            <a:chOff x="902064" y="1070638"/>
            <a:chExt cx="126504" cy="102527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E146BBD-B4A3-50AA-5D19-B0E88417516D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4A0669-9026-49B8-B47A-D8BBAB52DCCB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6CA268-C124-53FC-DD47-0A0F24479433}"/>
              </a:ext>
            </a:extLst>
          </p:cNvPr>
          <p:cNvGrpSpPr/>
          <p:nvPr/>
        </p:nvGrpSpPr>
        <p:grpSpPr>
          <a:xfrm>
            <a:off x="2791389" y="1907933"/>
            <a:ext cx="126504" cy="1020326"/>
            <a:chOff x="2248072" y="119963"/>
            <a:chExt cx="126504" cy="102032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787F8F3-9FB1-138A-4D95-A505B24F31C1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661599D-33F9-8E5D-AA20-917E5B47A5E5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C1B9BF5-77E4-1603-F84F-0D692303E6EF}"/>
              </a:ext>
            </a:extLst>
          </p:cNvPr>
          <p:cNvGrpSpPr/>
          <p:nvPr/>
        </p:nvGrpSpPr>
        <p:grpSpPr>
          <a:xfrm>
            <a:off x="1508633" y="2858608"/>
            <a:ext cx="1409260" cy="126504"/>
            <a:chOff x="965316" y="1070638"/>
            <a:chExt cx="1409260" cy="126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64414F2-B0D7-40DB-E67A-F33E943681D7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90D2EFA-2690-F4B3-E167-9F3DA2805BD7}"/>
                </a:ext>
              </a:extLst>
            </p:cNvPr>
            <p:cNvCxnSpPr>
              <a:stCxn id="20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2D4A94D-495F-B249-8243-35043694B320}"/>
              </a:ext>
            </a:extLst>
          </p:cNvPr>
          <p:cNvGrpSpPr/>
          <p:nvPr/>
        </p:nvGrpSpPr>
        <p:grpSpPr>
          <a:xfrm>
            <a:off x="2820774" y="1907933"/>
            <a:ext cx="1456095" cy="126504"/>
            <a:chOff x="2277457" y="119963"/>
            <a:chExt cx="1456095" cy="12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850A503-D2DC-FE95-5660-090A2F88DF05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4586DC4-866E-C6AD-6A2A-BBCBED5B9B23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B6734DA-0F82-FB94-C684-D8C317CA7F3A}"/>
                  </a:ext>
                </a:extLst>
              </p:cNvPr>
              <p:cNvSpPr txBox="1"/>
              <p:nvPr/>
            </p:nvSpPr>
            <p:spPr>
              <a:xfrm>
                <a:off x="1528437" y="5005251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E96DE0-DD4E-2B7D-7318-0A9F290EF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437" y="5005251"/>
                <a:ext cx="2742336" cy="369332"/>
              </a:xfrm>
              <a:prstGeom prst="rect">
                <a:avLst/>
              </a:prstGeom>
              <a:blipFill>
                <a:blip r:embed="rId3"/>
                <a:stretch>
                  <a:fillRect l="-1843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426EA5-CEFC-B6F3-463E-440F34D24340}"/>
                  </a:ext>
                </a:extLst>
              </p:cNvPr>
              <p:cNvSpPr txBox="1"/>
              <p:nvPr/>
            </p:nvSpPr>
            <p:spPr>
              <a:xfrm rot="16200000">
                <a:off x="-675009" y="3136864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0CE8008-AA6D-A991-0B55-357A24919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75009" y="3136864"/>
                <a:ext cx="2797304" cy="369332"/>
              </a:xfrm>
              <a:prstGeom prst="rect">
                <a:avLst/>
              </a:prstGeom>
              <a:blipFill>
                <a:blip r:embed="rId4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B6F6155D-10A8-46FD-B2B7-2EA71E6E68E4}"/>
              </a:ext>
            </a:extLst>
          </p:cNvPr>
          <p:cNvGrpSpPr/>
          <p:nvPr/>
        </p:nvGrpSpPr>
        <p:grpSpPr>
          <a:xfrm>
            <a:off x="4738211" y="2921860"/>
            <a:ext cx="3352063" cy="2604844"/>
            <a:chOff x="4718887" y="1155222"/>
            <a:chExt cx="4384029" cy="340677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60828C6-C395-3313-EDC8-012DF77F81EB}"/>
                </a:ext>
              </a:extLst>
            </p:cNvPr>
            <p:cNvSpPr/>
            <p:nvPr/>
          </p:nvSpPr>
          <p:spPr>
            <a:xfrm>
              <a:off x="5464073" y="1760519"/>
              <a:ext cx="1354570" cy="135457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50</a:t>
              </a:r>
              <a:endParaRPr lang="en-US" sz="1400" b="1" dirty="0">
                <a:latin typeface="Helvetica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A0964A6-C3AB-E751-1C1A-E112684DA536}"/>
                </a:ext>
              </a:extLst>
            </p:cNvPr>
            <p:cNvSpPr/>
            <p:nvPr/>
          </p:nvSpPr>
          <p:spPr>
            <a:xfrm>
              <a:off x="6911422" y="1760519"/>
              <a:ext cx="1354570" cy="1354570"/>
            </a:xfrm>
            <a:prstGeom prst="rect">
              <a:avLst/>
            </a:prstGeom>
            <a:solidFill>
              <a:srgbClr val="00B04F">
                <a:alpha val="2549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9FD0AAA-6103-26CB-22CF-87CB468F203C}"/>
                </a:ext>
              </a:extLst>
            </p:cNvPr>
            <p:cNvSpPr/>
            <p:nvPr/>
          </p:nvSpPr>
          <p:spPr>
            <a:xfrm>
              <a:off x="5464073" y="3207424"/>
              <a:ext cx="1354570" cy="13545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25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61B9675-149C-E078-ACDD-DBE13A1F731E}"/>
                </a:ext>
              </a:extLst>
            </p:cNvPr>
            <p:cNvSpPr/>
            <p:nvPr/>
          </p:nvSpPr>
          <p:spPr>
            <a:xfrm>
              <a:off x="6911422" y="3207424"/>
              <a:ext cx="1354570" cy="1354570"/>
            </a:xfrm>
            <a:prstGeom prst="rect">
              <a:avLst/>
            </a:prstGeom>
            <a:solidFill>
              <a:srgbClr val="40404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25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2839E79-FF33-AB04-5DBC-1158040967ED}"/>
                </a:ext>
              </a:extLst>
            </p:cNvPr>
            <p:cNvSpPr txBox="1"/>
            <p:nvPr/>
          </p:nvSpPr>
          <p:spPr>
            <a:xfrm rot="16200000">
              <a:off x="4727314" y="2319373"/>
              <a:ext cx="1165738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2086F81-EEE8-D6CC-1E26-035A1832F0D9}"/>
                </a:ext>
              </a:extLst>
            </p:cNvPr>
            <p:cNvSpPr txBox="1"/>
            <p:nvPr/>
          </p:nvSpPr>
          <p:spPr>
            <a:xfrm rot="16200000">
              <a:off x="4727665" y="3703569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E696F6E-0F28-7E58-781C-56B6211D5DEE}"/>
                </a:ext>
              </a:extLst>
            </p:cNvPr>
            <p:cNvSpPr txBox="1"/>
            <p:nvPr/>
          </p:nvSpPr>
          <p:spPr>
            <a:xfrm>
              <a:off x="5577758" y="1487010"/>
              <a:ext cx="112720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4FF3617-FFB8-51FA-1432-CE1AC8241BE3}"/>
                </a:ext>
              </a:extLst>
            </p:cNvPr>
            <p:cNvSpPr txBox="1"/>
            <p:nvPr/>
          </p:nvSpPr>
          <p:spPr>
            <a:xfrm>
              <a:off x="7006190" y="1487010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C31C28-0C50-7C00-0C14-8641C5645821}"/>
                </a:ext>
              </a:extLst>
            </p:cNvPr>
            <p:cNvSpPr txBox="1"/>
            <p:nvPr/>
          </p:nvSpPr>
          <p:spPr>
            <a:xfrm>
              <a:off x="5792700" y="1155222"/>
              <a:ext cx="2120899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Predicted Class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38A81F2-B9F9-5B6E-70D0-D4512D4CC4BD}"/>
                </a:ext>
              </a:extLst>
            </p:cNvPr>
            <p:cNvSpPr txBox="1"/>
            <p:nvPr/>
          </p:nvSpPr>
          <p:spPr>
            <a:xfrm rot="16200000">
              <a:off x="3913642" y="2975391"/>
              <a:ext cx="1972766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True Class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D8CBF3C-446B-468C-FD87-85DA5014C5E6}"/>
                </a:ext>
              </a:extLst>
            </p:cNvPr>
            <p:cNvSpPr txBox="1"/>
            <p:nvPr/>
          </p:nvSpPr>
          <p:spPr>
            <a:xfrm>
              <a:off x="5429570" y="1729174"/>
              <a:ext cx="63356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TP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6BF456-770F-494A-ECFF-86055CDAB7B8}"/>
                </a:ext>
              </a:extLst>
            </p:cNvPr>
            <p:cNvSpPr txBox="1"/>
            <p:nvPr/>
          </p:nvSpPr>
          <p:spPr>
            <a:xfrm>
              <a:off x="6856927" y="1729174"/>
              <a:ext cx="671301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FN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DB008F5-B718-98B9-E8FD-913E70C3EB00}"/>
                </a:ext>
              </a:extLst>
            </p:cNvPr>
            <p:cNvSpPr txBox="1"/>
            <p:nvPr/>
          </p:nvSpPr>
          <p:spPr>
            <a:xfrm>
              <a:off x="5429570" y="3156529"/>
              <a:ext cx="63356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FP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7B0A08C-A8E5-52A3-83A1-58E6DEF26F43}"/>
                </a:ext>
              </a:extLst>
            </p:cNvPr>
            <p:cNvSpPr txBox="1"/>
            <p:nvPr/>
          </p:nvSpPr>
          <p:spPr>
            <a:xfrm>
              <a:off x="6856927" y="3156529"/>
              <a:ext cx="671301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TN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3D325D9-71AD-536D-7BFA-44A0FF4B6301}"/>
                </a:ext>
              </a:extLst>
            </p:cNvPr>
            <p:cNvSpPr txBox="1"/>
            <p:nvPr/>
          </p:nvSpPr>
          <p:spPr>
            <a:xfrm>
              <a:off x="8265992" y="2206971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815975E-ADEA-2E9C-0AE1-8E3AB0015B31}"/>
                </a:ext>
              </a:extLst>
            </p:cNvPr>
            <p:cNvSpPr txBox="1"/>
            <p:nvPr/>
          </p:nvSpPr>
          <p:spPr>
            <a:xfrm>
              <a:off x="8265992" y="3600874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619BFE-B2AD-E210-969D-8B281D2FEA52}"/>
              </a:ext>
            </a:extLst>
          </p:cNvPr>
          <p:cNvGrpSpPr/>
          <p:nvPr/>
        </p:nvGrpSpPr>
        <p:grpSpPr>
          <a:xfrm>
            <a:off x="8685743" y="2921860"/>
            <a:ext cx="3352063" cy="2604844"/>
            <a:chOff x="4718887" y="1155222"/>
            <a:chExt cx="4384029" cy="340677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FC9B3FE-1644-D228-45A9-2BEDEA3FA949}"/>
                </a:ext>
              </a:extLst>
            </p:cNvPr>
            <p:cNvSpPr/>
            <p:nvPr/>
          </p:nvSpPr>
          <p:spPr>
            <a:xfrm>
              <a:off x="5464073" y="1760519"/>
              <a:ext cx="1354570" cy="135457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1.0</a:t>
              </a:r>
              <a:endParaRPr lang="en-US" sz="1400" b="1" dirty="0">
                <a:latin typeface="Helvetica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83D23C0-2CBA-163E-B5BD-D58825C86546}"/>
                </a:ext>
              </a:extLst>
            </p:cNvPr>
            <p:cNvSpPr/>
            <p:nvPr/>
          </p:nvSpPr>
          <p:spPr>
            <a:xfrm>
              <a:off x="6911422" y="1760519"/>
              <a:ext cx="1354570" cy="1354570"/>
            </a:xfrm>
            <a:prstGeom prst="rect">
              <a:avLst/>
            </a:prstGeom>
            <a:solidFill>
              <a:srgbClr val="00B04F">
                <a:alpha val="2549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0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3CEC701-EC42-3A0F-9002-C8A46E74637D}"/>
                </a:ext>
              </a:extLst>
            </p:cNvPr>
            <p:cNvSpPr/>
            <p:nvPr/>
          </p:nvSpPr>
          <p:spPr>
            <a:xfrm>
              <a:off x="5464073" y="3207424"/>
              <a:ext cx="1354570" cy="13545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0.5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F5E1A39-95EB-4B05-2D9F-FBFBC7870F2A}"/>
                </a:ext>
              </a:extLst>
            </p:cNvPr>
            <p:cNvSpPr/>
            <p:nvPr/>
          </p:nvSpPr>
          <p:spPr>
            <a:xfrm>
              <a:off x="6911422" y="3207424"/>
              <a:ext cx="1354570" cy="1354570"/>
            </a:xfrm>
            <a:prstGeom prst="rect">
              <a:avLst/>
            </a:prstGeom>
            <a:solidFill>
              <a:srgbClr val="40404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0.5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F539474-45FE-BA7A-E494-6F1E243A9322}"/>
                </a:ext>
              </a:extLst>
            </p:cNvPr>
            <p:cNvSpPr txBox="1"/>
            <p:nvPr/>
          </p:nvSpPr>
          <p:spPr>
            <a:xfrm rot="16200000">
              <a:off x="4727314" y="2319373"/>
              <a:ext cx="1165738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5D39251-AF1B-3F77-4A0A-8AFAB8AB87AC}"/>
                </a:ext>
              </a:extLst>
            </p:cNvPr>
            <p:cNvSpPr txBox="1"/>
            <p:nvPr/>
          </p:nvSpPr>
          <p:spPr>
            <a:xfrm rot="16200000">
              <a:off x="4727665" y="3703569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4572D24-111C-7B67-E9D4-A17B4945C6A8}"/>
                </a:ext>
              </a:extLst>
            </p:cNvPr>
            <p:cNvSpPr txBox="1"/>
            <p:nvPr/>
          </p:nvSpPr>
          <p:spPr>
            <a:xfrm>
              <a:off x="5577758" y="1487010"/>
              <a:ext cx="112720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627BB62-D391-5F4A-E243-AB5141644559}"/>
                </a:ext>
              </a:extLst>
            </p:cNvPr>
            <p:cNvSpPr txBox="1"/>
            <p:nvPr/>
          </p:nvSpPr>
          <p:spPr>
            <a:xfrm>
              <a:off x="7006190" y="1487010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64E3C97-E576-A612-B452-05F0A22708E9}"/>
                </a:ext>
              </a:extLst>
            </p:cNvPr>
            <p:cNvSpPr txBox="1"/>
            <p:nvPr/>
          </p:nvSpPr>
          <p:spPr>
            <a:xfrm>
              <a:off x="5792700" y="1155222"/>
              <a:ext cx="2120899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Predicted Class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0206F7B-7D1A-615C-0D5E-DAB852C58494}"/>
                </a:ext>
              </a:extLst>
            </p:cNvPr>
            <p:cNvSpPr txBox="1"/>
            <p:nvPr/>
          </p:nvSpPr>
          <p:spPr>
            <a:xfrm rot="16200000">
              <a:off x="3913642" y="2975391"/>
              <a:ext cx="1972766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True Class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FE14357-4E98-F519-AC80-93211CD25444}"/>
                </a:ext>
              </a:extLst>
            </p:cNvPr>
            <p:cNvSpPr txBox="1"/>
            <p:nvPr/>
          </p:nvSpPr>
          <p:spPr>
            <a:xfrm>
              <a:off x="5429570" y="1729174"/>
              <a:ext cx="857889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TPR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8125E10-6FFD-07E1-0DDF-BB5FE4339DFB}"/>
                </a:ext>
              </a:extLst>
            </p:cNvPr>
            <p:cNvSpPr txBox="1"/>
            <p:nvPr/>
          </p:nvSpPr>
          <p:spPr>
            <a:xfrm>
              <a:off x="6856927" y="1729174"/>
              <a:ext cx="895626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FNR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C1F3B41-8B31-4051-86FC-EBBB4C4712CB}"/>
                </a:ext>
              </a:extLst>
            </p:cNvPr>
            <p:cNvSpPr txBox="1"/>
            <p:nvPr/>
          </p:nvSpPr>
          <p:spPr>
            <a:xfrm>
              <a:off x="5429570" y="3156529"/>
              <a:ext cx="857889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FPR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A32A885-E821-486B-753E-434503705092}"/>
                </a:ext>
              </a:extLst>
            </p:cNvPr>
            <p:cNvSpPr txBox="1"/>
            <p:nvPr/>
          </p:nvSpPr>
          <p:spPr>
            <a:xfrm>
              <a:off x="6856927" y="3156529"/>
              <a:ext cx="895626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TNR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D692F4E-E03C-AE07-57EB-28C3167CBDEA}"/>
                </a:ext>
              </a:extLst>
            </p:cNvPr>
            <p:cNvSpPr txBox="1"/>
            <p:nvPr/>
          </p:nvSpPr>
          <p:spPr>
            <a:xfrm>
              <a:off x="8265992" y="2206971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8CA54BF-05E2-2F4A-AC50-60ADC54CCE22}"/>
                </a:ext>
              </a:extLst>
            </p:cNvPr>
            <p:cNvSpPr txBox="1"/>
            <p:nvPr/>
          </p:nvSpPr>
          <p:spPr>
            <a:xfrm>
              <a:off x="8265992" y="3600874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51ECD72-3B16-284D-D84D-709DDDDD0BD0}"/>
              </a:ext>
            </a:extLst>
          </p:cNvPr>
          <p:cNvSpPr txBox="1"/>
          <p:nvPr/>
        </p:nvSpPr>
        <p:spPr>
          <a:xfrm>
            <a:off x="4586491" y="1282147"/>
            <a:ext cx="7605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charset="0"/>
                <a:ea typeface="Helvetica Light" charset="0"/>
                <a:cs typeface="Helvetica Light" charset="0"/>
              </a:rPr>
              <a:t>Each point along the ROC represents a different confusion matrix and different rates for TP, FP, TN, FN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4BF54-CFC9-D417-2FB0-D1632B643332}"/>
              </a:ext>
            </a:extLst>
          </p:cNvPr>
          <p:cNvSpPr txBox="1"/>
          <p:nvPr/>
        </p:nvSpPr>
        <p:spPr>
          <a:xfrm>
            <a:off x="5489876" y="2333351"/>
            <a:ext cx="1861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  <a:ea typeface="Helvetica Light" charset="0"/>
                <a:cs typeface="Helvetica Light" charset="0"/>
              </a:rPr>
              <a:t>Raw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6C3AD-A51A-E5CA-5A55-34D096CD8D8D}"/>
              </a:ext>
            </a:extLst>
          </p:cNvPr>
          <p:cNvSpPr txBox="1"/>
          <p:nvPr/>
        </p:nvSpPr>
        <p:spPr>
          <a:xfrm>
            <a:off x="8901676" y="2333351"/>
            <a:ext cx="3106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  <a:ea typeface="Helvetica Light" charset="0"/>
                <a:cs typeface="Helvetica Light" charset="0"/>
              </a:rPr>
              <a:t>Rates / probabilities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224C01-4F0C-0BBC-BD2D-81804134E89D}"/>
              </a:ext>
            </a:extLst>
          </p:cNvPr>
          <p:cNvSpPr/>
          <p:nvPr/>
        </p:nvSpPr>
        <p:spPr>
          <a:xfrm>
            <a:off x="2687032" y="1803576"/>
            <a:ext cx="335218" cy="335218"/>
          </a:xfrm>
          <a:prstGeom prst="ellipse">
            <a:avLst/>
          </a:prstGeom>
          <a:noFill/>
          <a:ln w="28575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7C0E7-E35A-8E9D-CE6B-0EBF2CE04746}"/>
              </a:ext>
            </a:extLst>
          </p:cNvPr>
          <p:cNvSpPr txBox="1"/>
          <p:nvPr/>
        </p:nvSpPr>
        <p:spPr>
          <a:xfrm>
            <a:off x="4544577" y="5787813"/>
            <a:ext cx="3740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charset="0"/>
                <a:ea typeface="Helvetica Light" charset="0"/>
                <a:cs typeface="Helvetica Light" charset="0"/>
              </a:rPr>
              <a:t>Precision = 50 / 75 = 0.67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E8CEC09-2F84-A8FD-F467-E41D09FFBC6F}"/>
                  </a:ext>
                </a:extLst>
              </p:cNvPr>
              <p:cNvSpPr/>
              <p:nvPr/>
            </p:nvSpPr>
            <p:spPr>
              <a:xfrm>
                <a:off x="8926762" y="5785967"/>
                <a:ext cx="3102196" cy="646331"/>
              </a:xfrm>
              <a:prstGeom prst="rect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Helvetica Light" panose="020B0403020202020204" pitchFamily="34" charset="0"/>
                  </a:rPr>
                  <a:t>Classes are equiprobable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E8CEC09-2F84-A8FD-F467-E41D09FFBC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6762" y="5785967"/>
                <a:ext cx="3102196" cy="646331"/>
              </a:xfrm>
              <a:prstGeom prst="rect">
                <a:avLst/>
              </a:prstGeom>
              <a:blipFill>
                <a:blip r:embed="rId5"/>
                <a:stretch>
                  <a:fillRect l="-1626" t="-3846"/>
                </a:stretch>
              </a:blip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914C3CD-298D-9EEE-1310-EA16F11F07CC}"/>
              </a:ext>
            </a:extLst>
          </p:cNvPr>
          <p:cNvCxnSpPr>
            <a:cxnSpLocks/>
            <a:endCxn id="44" idx="3"/>
          </p:cNvCxnSpPr>
          <p:nvPr/>
        </p:nvCxnSpPr>
        <p:spPr>
          <a:xfrm flipH="1" flipV="1">
            <a:off x="8090274" y="4991879"/>
            <a:ext cx="836488" cy="76319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7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7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30EC9-21C6-A97D-DEE0-C52367675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1A174-3318-A2D3-D772-1A5154FE1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 </a:t>
            </a:r>
            <a:r>
              <a:rPr lang="en-US" dirty="0">
                <a:sym typeface="Wingdings" pitchFamily="2" charset="2"/>
              </a:rPr>
              <a:t> Application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7E9166-1ED4-7093-E90A-AA2A9E1F93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632217" y="1738176"/>
            <a:ext cx="3861033" cy="357066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604F6F8-E44C-8E4F-3375-B8A4B25D2EF8}"/>
              </a:ext>
            </a:extLst>
          </p:cNvPr>
          <p:cNvSpPr/>
          <p:nvPr/>
        </p:nvSpPr>
        <p:spPr>
          <a:xfrm>
            <a:off x="1445381" y="4600709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6905A3B-6B9A-3960-0BE5-24DE5B2AC923}"/>
              </a:ext>
            </a:extLst>
          </p:cNvPr>
          <p:cNvGrpSpPr/>
          <p:nvPr/>
        </p:nvGrpSpPr>
        <p:grpSpPr>
          <a:xfrm>
            <a:off x="1445381" y="3710372"/>
            <a:ext cx="126504" cy="1006768"/>
            <a:chOff x="902064" y="1922402"/>
            <a:chExt cx="126504" cy="10067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31E76E9-B9E9-EB28-C0ED-5949E072D9D0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C3B3D5D-C09E-0195-B214-D8BFD2B5084D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F25A7F-B188-5D82-1F24-9D21320A952A}"/>
              </a:ext>
            </a:extLst>
          </p:cNvPr>
          <p:cNvGrpSpPr/>
          <p:nvPr/>
        </p:nvGrpSpPr>
        <p:grpSpPr>
          <a:xfrm>
            <a:off x="1445381" y="2858608"/>
            <a:ext cx="126504" cy="1025275"/>
            <a:chOff x="902064" y="1070638"/>
            <a:chExt cx="126504" cy="102527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8026225-2C74-E9CB-16A9-940F539C8C64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525FEC5-E4CC-CFDF-DF66-57E3BB312E38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B1DD25-71D8-CA22-AE38-B87755EA0A56}"/>
              </a:ext>
            </a:extLst>
          </p:cNvPr>
          <p:cNvGrpSpPr/>
          <p:nvPr/>
        </p:nvGrpSpPr>
        <p:grpSpPr>
          <a:xfrm>
            <a:off x="2791389" y="1907933"/>
            <a:ext cx="126504" cy="1020326"/>
            <a:chOff x="2248072" y="119963"/>
            <a:chExt cx="126504" cy="102032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06D5261-054A-3DFA-9739-428A7DAFDD54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6F36088-2019-C620-306E-E3EFB1A1D90E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8D9A61D-F382-0868-41B0-32F0D07336A3}"/>
              </a:ext>
            </a:extLst>
          </p:cNvPr>
          <p:cNvGrpSpPr/>
          <p:nvPr/>
        </p:nvGrpSpPr>
        <p:grpSpPr>
          <a:xfrm>
            <a:off x="1508633" y="2858608"/>
            <a:ext cx="1409260" cy="126504"/>
            <a:chOff x="965316" y="1070638"/>
            <a:chExt cx="1409260" cy="126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631C133-B053-03CC-AC6C-5978784D6FD1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A838F95-E72E-4DEC-1C7A-6E90153AD7BC}"/>
                </a:ext>
              </a:extLst>
            </p:cNvPr>
            <p:cNvCxnSpPr>
              <a:stCxn id="20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46689C3-85EC-8367-59F7-EECDC6FF64F2}"/>
              </a:ext>
            </a:extLst>
          </p:cNvPr>
          <p:cNvGrpSpPr/>
          <p:nvPr/>
        </p:nvGrpSpPr>
        <p:grpSpPr>
          <a:xfrm>
            <a:off x="2820774" y="1907933"/>
            <a:ext cx="1456095" cy="126504"/>
            <a:chOff x="2277457" y="119963"/>
            <a:chExt cx="1456095" cy="12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BEB921-CE9E-3A3C-E340-B3CA4B99363C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5BD5653-2C00-5E8A-E9FC-66C4AE8F811E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A8938E-26E1-1B39-F20D-A9982DA8CA7F}"/>
                  </a:ext>
                </a:extLst>
              </p:cNvPr>
              <p:cNvSpPr txBox="1"/>
              <p:nvPr/>
            </p:nvSpPr>
            <p:spPr>
              <a:xfrm>
                <a:off x="1528437" y="5005251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E96DE0-DD4E-2B7D-7318-0A9F290EF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437" y="5005251"/>
                <a:ext cx="2742336" cy="369332"/>
              </a:xfrm>
              <a:prstGeom prst="rect">
                <a:avLst/>
              </a:prstGeom>
              <a:blipFill>
                <a:blip r:embed="rId3"/>
                <a:stretch>
                  <a:fillRect l="-1843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E176BE-A3B4-AD9B-F02E-45E22E582699}"/>
                  </a:ext>
                </a:extLst>
              </p:cNvPr>
              <p:cNvSpPr txBox="1"/>
              <p:nvPr/>
            </p:nvSpPr>
            <p:spPr>
              <a:xfrm rot="16200000">
                <a:off x="-675009" y="3136864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0CE8008-AA6D-A991-0B55-357A24919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75009" y="3136864"/>
                <a:ext cx="2797304" cy="369332"/>
              </a:xfrm>
              <a:prstGeom prst="rect">
                <a:avLst/>
              </a:prstGeom>
              <a:blipFill>
                <a:blip r:embed="rId4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F51D9ED1-7D80-06D5-133E-C61A61BBECB8}"/>
              </a:ext>
            </a:extLst>
          </p:cNvPr>
          <p:cNvGrpSpPr/>
          <p:nvPr/>
        </p:nvGrpSpPr>
        <p:grpSpPr>
          <a:xfrm>
            <a:off x="4738211" y="2921860"/>
            <a:ext cx="3352063" cy="2604844"/>
            <a:chOff x="4718887" y="1155222"/>
            <a:chExt cx="4384029" cy="340677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410DBD6-D7C3-8F1B-7958-0F0B34CC9823}"/>
                </a:ext>
              </a:extLst>
            </p:cNvPr>
            <p:cNvSpPr/>
            <p:nvPr/>
          </p:nvSpPr>
          <p:spPr>
            <a:xfrm>
              <a:off x="5464073" y="1760519"/>
              <a:ext cx="1354570" cy="135457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5</a:t>
              </a:r>
              <a:endParaRPr lang="en-US" sz="1400" b="1" dirty="0">
                <a:latin typeface="Helvetica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850BAFF-A856-9A96-6CF1-134C95C3E60C}"/>
                </a:ext>
              </a:extLst>
            </p:cNvPr>
            <p:cNvSpPr/>
            <p:nvPr/>
          </p:nvSpPr>
          <p:spPr>
            <a:xfrm>
              <a:off x="6911422" y="1760519"/>
              <a:ext cx="1354570" cy="1354570"/>
            </a:xfrm>
            <a:prstGeom prst="rect">
              <a:avLst/>
            </a:prstGeom>
            <a:solidFill>
              <a:srgbClr val="00B04F">
                <a:alpha val="2549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6B62DCA-3BFA-3494-B957-C9482F62C09B}"/>
                </a:ext>
              </a:extLst>
            </p:cNvPr>
            <p:cNvSpPr/>
            <p:nvPr/>
          </p:nvSpPr>
          <p:spPr>
            <a:xfrm>
              <a:off x="5464073" y="3207424"/>
              <a:ext cx="1354570" cy="13545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25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6753024-C760-CEF1-475F-A60A91774BE5}"/>
                </a:ext>
              </a:extLst>
            </p:cNvPr>
            <p:cNvSpPr/>
            <p:nvPr/>
          </p:nvSpPr>
          <p:spPr>
            <a:xfrm>
              <a:off x="6911422" y="3207424"/>
              <a:ext cx="1354570" cy="1354570"/>
            </a:xfrm>
            <a:prstGeom prst="rect">
              <a:avLst/>
            </a:prstGeom>
            <a:solidFill>
              <a:srgbClr val="40404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25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F436D3C-F451-68AA-DCEC-9497CCA44168}"/>
                </a:ext>
              </a:extLst>
            </p:cNvPr>
            <p:cNvSpPr txBox="1"/>
            <p:nvPr/>
          </p:nvSpPr>
          <p:spPr>
            <a:xfrm rot="16200000">
              <a:off x="4727314" y="2319373"/>
              <a:ext cx="1165738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FAAE0A-41A5-2F90-62C5-4F92B7BDE874}"/>
                </a:ext>
              </a:extLst>
            </p:cNvPr>
            <p:cNvSpPr txBox="1"/>
            <p:nvPr/>
          </p:nvSpPr>
          <p:spPr>
            <a:xfrm rot="16200000">
              <a:off x="4727665" y="3703569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59D0624-E891-D668-A42B-7BDA32D3711C}"/>
                </a:ext>
              </a:extLst>
            </p:cNvPr>
            <p:cNvSpPr txBox="1"/>
            <p:nvPr/>
          </p:nvSpPr>
          <p:spPr>
            <a:xfrm>
              <a:off x="5577758" y="1487010"/>
              <a:ext cx="112720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9B4A8AE-D103-BC3B-FCA2-DC9E5B143D93}"/>
                </a:ext>
              </a:extLst>
            </p:cNvPr>
            <p:cNvSpPr txBox="1"/>
            <p:nvPr/>
          </p:nvSpPr>
          <p:spPr>
            <a:xfrm>
              <a:off x="7006190" y="1487010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14349D-7BCF-4176-5643-A90B63CBD3DF}"/>
                </a:ext>
              </a:extLst>
            </p:cNvPr>
            <p:cNvSpPr txBox="1"/>
            <p:nvPr/>
          </p:nvSpPr>
          <p:spPr>
            <a:xfrm>
              <a:off x="5792700" y="1155222"/>
              <a:ext cx="2120899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Predicted Class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2A1B4B-8454-A5D7-2DBF-57C4C843E1AE}"/>
                </a:ext>
              </a:extLst>
            </p:cNvPr>
            <p:cNvSpPr txBox="1"/>
            <p:nvPr/>
          </p:nvSpPr>
          <p:spPr>
            <a:xfrm rot="16200000">
              <a:off x="3913642" y="2975391"/>
              <a:ext cx="1972766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True Class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93417D7-11C0-753E-2E60-586DD59D3AE5}"/>
                </a:ext>
              </a:extLst>
            </p:cNvPr>
            <p:cNvSpPr txBox="1"/>
            <p:nvPr/>
          </p:nvSpPr>
          <p:spPr>
            <a:xfrm>
              <a:off x="5429570" y="1729174"/>
              <a:ext cx="63356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TP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27FCB03-3CD4-6414-FE0A-14945BA6E586}"/>
                </a:ext>
              </a:extLst>
            </p:cNvPr>
            <p:cNvSpPr txBox="1"/>
            <p:nvPr/>
          </p:nvSpPr>
          <p:spPr>
            <a:xfrm>
              <a:off x="6856927" y="1729174"/>
              <a:ext cx="671301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FN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AA2AB63-29F8-C2CE-1ED6-5D5E219F964C}"/>
                </a:ext>
              </a:extLst>
            </p:cNvPr>
            <p:cNvSpPr txBox="1"/>
            <p:nvPr/>
          </p:nvSpPr>
          <p:spPr>
            <a:xfrm>
              <a:off x="5429570" y="3156529"/>
              <a:ext cx="63356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FP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433F222-2A88-5845-7CFD-F52FDC10D5C5}"/>
                </a:ext>
              </a:extLst>
            </p:cNvPr>
            <p:cNvSpPr txBox="1"/>
            <p:nvPr/>
          </p:nvSpPr>
          <p:spPr>
            <a:xfrm>
              <a:off x="6856927" y="3156529"/>
              <a:ext cx="671301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TN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7C0166-1FB8-2829-F9E1-ECEB4A7A2881}"/>
                </a:ext>
              </a:extLst>
            </p:cNvPr>
            <p:cNvSpPr txBox="1"/>
            <p:nvPr/>
          </p:nvSpPr>
          <p:spPr>
            <a:xfrm>
              <a:off x="8265992" y="2206971"/>
              <a:ext cx="650336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[5]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127C21C-676A-C5F9-E595-167EDEB6DF24}"/>
                </a:ext>
              </a:extLst>
            </p:cNvPr>
            <p:cNvSpPr txBox="1"/>
            <p:nvPr/>
          </p:nvSpPr>
          <p:spPr>
            <a:xfrm>
              <a:off x="8265992" y="3600874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1093CB3-BEF7-B0D5-235E-D5A15FEA2C10}"/>
              </a:ext>
            </a:extLst>
          </p:cNvPr>
          <p:cNvGrpSpPr/>
          <p:nvPr/>
        </p:nvGrpSpPr>
        <p:grpSpPr>
          <a:xfrm>
            <a:off x="8685743" y="2921860"/>
            <a:ext cx="3352063" cy="2604844"/>
            <a:chOff x="4718887" y="1155222"/>
            <a:chExt cx="4384029" cy="340677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AFE9015-D857-0475-6139-9BE3111125D4}"/>
                </a:ext>
              </a:extLst>
            </p:cNvPr>
            <p:cNvSpPr/>
            <p:nvPr/>
          </p:nvSpPr>
          <p:spPr>
            <a:xfrm>
              <a:off x="5464073" y="1760519"/>
              <a:ext cx="1354570" cy="135457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1.0</a:t>
              </a:r>
              <a:endParaRPr lang="en-US" sz="1400" b="1" dirty="0">
                <a:latin typeface="Helvetica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B8C8126-A75E-D385-7F2B-F7D46141B16A}"/>
                </a:ext>
              </a:extLst>
            </p:cNvPr>
            <p:cNvSpPr/>
            <p:nvPr/>
          </p:nvSpPr>
          <p:spPr>
            <a:xfrm>
              <a:off x="6911422" y="1760519"/>
              <a:ext cx="1354570" cy="1354570"/>
            </a:xfrm>
            <a:prstGeom prst="rect">
              <a:avLst/>
            </a:prstGeom>
            <a:solidFill>
              <a:srgbClr val="00B04F">
                <a:alpha val="2549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0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036F13B-3454-CA6C-36C8-827BF92AC8B4}"/>
                </a:ext>
              </a:extLst>
            </p:cNvPr>
            <p:cNvSpPr/>
            <p:nvPr/>
          </p:nvSpPr>
          <p:spPr>
            <a:xfrm>
              <a:off x="5464073" y="3207424"/>
              <a:ext cx="1354570" cy="13545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Helvetica" pitchFamily="2" charset="0"/>
                  <a:ea typeface="Helvetica Light" charset="0"/>
                  <a:cs typeface="Helvetica Light" charset="0"/>
                </a:rPr>
                <a:t>0.5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2200173-2BDF-A034-DBBE-449E2BA5FF07}"/>
                </a:ext>
              </a:extLst>
            </p:cNvPr>
            <p:cNvSpPr/>
            <p:nvPr/>
          </p:nvSpPr>
          <p:spPr>
            <a:xfrm>
              <a:off x="6911422" y="3207424"/>
              <a:ext cx="1354570" cy="1354570"/>
            </a:xfrm>
            <a:prstGeom prst="rect">
              <a:avLst/>
            </a:prstGeom>
            <a:solidFill>
              <a:srgbClr val="40404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  <a:ea typeface="Helvetica Light" charset="0"/>
                  <a:cs typeface="Helvetica Light" charset="0"/>
                </a:rPr>
                <a:t>0.5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5BA28C7-E85C-B203-DBAD-9F055199EC18}"/>
                </a:ext>
              </a:extLst>
            </p:cNvPr>
            <p:cNvSpPr txBox="1"/>
            <p:nvPr/>
          </p:nvSpPr>
          <p:spPr>
            <a:xfrm rot="16200000">
              <a:off x="4727314" y="2319373"/>
              <a:ext cx="1165738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07FDD1F-11C8-DA66-C34B-94EC320E530C}"/>
                </a:ext>
              </a:extLst>
            </p:cNvPr>
            <p:cNvSpPr txBox="1"/>
            <p:nvPr/>
          </p:nvSpPr>
          <p:spPr>
            <a:xfrm rot="16200000">
              <a:off x="4727665" y="3703569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DC0D9AA-9ACC-EFE0-DBC4-8B6F339E9626}"/>
                </a:ext>
              </a:extLst>
            </p:cNvPr>
            <p:cNvSpPr txBox="1"/>
            <p:nvPr/>
          </p:nvSpPr>
          <p:spPr>
            <a:xfrm>
              <a:off x="5577758" y="1487010"/>
              <a:ext cx="112720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9E4A200-2B62-63EF-D415-95BB2AF8D747}"/>
                </a:ext>
              </a:extLst>
            </p:cNvPr>
            <p:cNvSpPr txBox="1"/>
            <p:nvPr/>
          </p:nvSpPr>
          <p:spPr>
            <a:xfrm>
              <a:off x="7006190" y="1487010"/>
              <a:ext cx="1165033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Class 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BBD006E-7F38-EB5C-5FD2-BD73E01C2876}"/>
                </a:ext>
              </a:extLst>
            </p:cNvPr>
            <p:cNvSpPr txBox="1"/>
            <p:nvPr/>
          </p:nvSpPr>
          <p:spPr>
            <a:xfrm>
              <a:off x="5792700" y="1155222"/>
              <a:ext cx="2120899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Predicted Class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259815D-668F-B95D-9C3D-0EFA6C9013BA}"/>
                </a:ext>
              </a:extLst>
            </p:cNvPr>
            <p:cNvSpPr txBox="1"/>
            <p:nvPr/>
          </p:nvSpPr>
          <p:spPr>
            <a:xfrm rot="16200000">
              <a:off x="3913642" y="2975391"/>
              <a:ext cx="1972766" cy="36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True Class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A6D12AD-FD9C-4841-986E-BA60FB4474E9}"/>
                </a:ext>
              </a:extLst>
            </p:cNvPr>
            <p:cNvSpPr txBox="1"/>
            <p:nvPr/>
          </p:nvSpPr>
          <p:spPr>
            <a:xfrm>
              <a:off x="5429570" y="1729174"/>
              <a:ext cx="857889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TPR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546EB92-BC95-C19E-A249-E3768ACC3B78}"/>
                </a:ext>
              </a:extLst>
            </p:cNvPr>
            <p:cNvSpPr txBox="1"/>
            <p:nvPr/>
          </p:nvSpPr>
          <p:spPr>
            <a:xfrm>
              <a:off x="6856927" y="1729174"/>
              <a:ext cx="895626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FNR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C4CBDD9-AC3C-2C23-5763-FB28732FC962}"/>
                </a:ext>
              </a:extLst>
            </p:cNvPr>
            <p:cNvSpPr txBox="1"/>
            <p:nvPr/>
          </p:nvSpPr>
          <p:spPr>
            <a:xfrm>
              <a:off x="5429570" y="3156529"/>
              <a:ext cx="857889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FPR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5D9B10A-EB54-9A90-954B-F4080615BD92}"/>
                </a:ext>
              </a:extLst>
            </p:cNvPr>
            <p:cNvSpPr txBox="1"/>
            <p:nvPr/>
          </p:nvSpPr>
          <p:spPr>
            <a:xfrm>
              <a:off x="6856927" y="3156529"/>
              <a:ext cx="895626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TNR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989420B-08E3-0398-3BCA-2F19AFB0F5FF}"/>
                </a:ext>
              </a:extLst>
            </p:cNvPr>
            <p:cNvSpPr txBox="1"/>
            <p:nvPr/>
          </p:nvSpPr>
          <p:spPr>
            <a:xfrm>
              <a:off x="8265992" y="2206971"/>
              <a:ext cx="650336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[5]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839C12F-902C-2764-03D2-7AB4EA86DA7B}"/>
                </a:ext>
              </a:extLst>
            </p:cNvPr>
            <p:cNvSpPr txBox="1"/>
            <p:nvPr/>
          </p:nvSpPr>
          <p:spPr>
            <a:xfrm>
              <a:off x="8265992" y="3600874"/>
              <a:ext cx="836924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 Light" charset="0"/>
                  <a:ea typeface="Helvetica Light" charset="0"/>
                  <a:cs typeface="Helvetica Light" charset="0"/>
                </a:rPr>
                <a:t>[50]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59372F5-7FF1-BDB1-B0EA-58B441365AFA}"/>
              </a:ext>
            </a:extLst>
          </p:cNvPr>
          <p:cNvSpPr txBox="1"/>
          <p:nvPr/>
        </p:nvSpPr>
        <p:spPr>
          <a:xfrm>
            <a:off x="4586491" y="1282147"/>
            <a:ext cx="7605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charset="0"/>
                <a:ea typeface="Helvetica Light" charset="0"/>
                <a:cs typeface="Helvetica Light" charset="0"/>
              </a:rPr>
              <a:t>Each point along the ROC represents a different confusion matrix and different rates for TP, FP, TN, FN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65658C-4C2C-C9DD-C61C-22CF8ED2CF43}"/>
              </a:ext>
            </a:extLst>
          </p:cNvPr>
          <p:cNvSpPr txBox="1"/>
          <p:nvPr/>
        </p:nvSpPr>
        <p:spPr>
          <a:xfrm>
            <a:off x="5489876" y="2333351"/>
            <a:ext cx="1861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  <a:ea typeface="Helvetica Light" charset="0"/>
                <a:cs typeface="Helvetica Light" charset="0"/>
              </a:rPr>
              <a:t>Raw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9B791-07D1-CF0D-20BD-19AF18235AB5}"/>
              </a:ext>
            </a:extLst>
          </p:cNvPr>
          <p:cNvSpPr txBox="1"/>
          <p:nvPr/>
        </p:nvSpPr>
        <p:spPr>
          <a:xfrm>
            <a:off x="8901676" y="2333351"/>
            <a:ext cx="3106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  <a:ea typeface="Helvetica Light" charset="0"/>
                <a:cs typeface="Helvetica Light" charset="0"/>
              </a:rPr>
              <a:t>Rates / probabilities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5981B73-AC84-ACF2-9EC9-688CE7DA24F3}"/>
              </a:ext>
            </a:extLst>
          </p:cNvPr>
          <p:cNvSpPr/>
          <p:nvPr/>
        </p:nvSpPr>
        <p:spPr>
          <a:xfrm>
            <a:off x="2687032" y="1803576"/>
            <a:ext cx="335218" cy="335218"/>
          </a:xfrm>
          <a:prstGeom prst="ellipse">
            <a:avLst/>
          </a:prstGeom>
          <a:noFill/>
          <a:ln w="28575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5F6176-DE60-0CC0-5876-A68FF75BC75A}"/>
              </a:ext>
            </a:extLst>
          </p:cNvPr>
          <p:cNvSpPr txBox="1"/>
          <p:nvPr/>
        </p:nvSpPr>
        <p:spPr>
          <a:xfrm>
            <a:off x="4544577" y="5787813"/>
            <a:ext cx="3568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charset="0"/>
                <a:ea typeface="Helvetica Light" charset="0"/>
                <a:cs typeface="Helvetica Light" charset="0"/>
              </a:rPr>
              <a:t>Precision = 5 / 30 = 0.17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4D2EA9D-5EDF-59D1-284E-8431B2FE2C26}"/>
                  </a:ext>
                </a:extLst>
              </p:cNvPr>
              <p:cNvSpPr/>
              <p:nvPr/>
            </p:nvSpPr>
            <p:spPr>
              <a:xfrm>
                <a:off x="8955463" y="5530995"/>
                <a:ext cx="2274725" cy="1027589"/>
              </a:xfrm>
              <a:prstGeom prst="rect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600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6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f>
                        <m:fPr>
                          <m:ctrlPr>
                            <a:rPr lang="en-US" sz="1600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  <m:r>
                        <a:rPr lang="en-US" sz="16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sz="1600" b="0" i="1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600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16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f>
                        <m:fPr>
                          <m:ctrlPr>
                            <a:rPr lang="en-US" sz="1600" b="0" i="0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num>
                        <m:den>
                          <m:r>
                            <a:rPr lang="en-US" sz="1600" b="0" i="0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  <m:r>
                        <a:rPr lang="en-US" sz="16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=0.89</m:t>
                      </m:r>
                    </m:oMath>
                  </m:oMathPara>
                </a14:m>
                <a:endParaRPr lang="en-US" sz="16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4D2EA9D-5EDF-59D1-284E-8431B2FE2C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463" y="5530995"/>
                <a:ext cx="2274725" cy="1027589"/>
              </a:xfrm>
              <a:prstGeom prst="rect">
                <a:avLst/>
              </a:prstGeom>
              <a:blipFill>
                <a:blip r:embed="rId5"/>
                <a:stretch>
                  <a:fillRect b="-1205"/>
                </a:stretch>
              </a:blip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196D2D9-D2D3-83CA-49E8-933FB3CDC202}"/>
              </a:ext>
            </a:extLst>
          </p:cNvPr>
          <p:cNvCxnSpPr>
            <a:cxnSpLocks/>
          </p:cNvCxnSpPr>
          <p:nvPr/>
        </p:nvCxnSpPr>
        <p:spPr>
          <a:xfrm flipH="1" flipV="1">
            <a:off x="8090274" y="4991879"/>
            <a:ext cx="836488" cy="76319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01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F24C4-C3CE-51A1-7AAA-3DD12897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EDBB7-61BA-816F-F180-5E05E18A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46" y="2185852"/>
            <a:ext cx="10999288" cy="1797322"/>
          </a:xfrm>
        </p:spPr>
        <p:txBody>
          <a:bodyPr/>
          <a:lstStyle/>
          <a:p>
            <a:r>
              <a:rPr lang="en-US" dirty="0">
                <a:solidFill>
                  <a:srgbClr val="00B04F"/>
                </a:solidFill>
              </a:rPr>
              <a:t>ROC curves are not sensitive to class imbalances </a:t>
            </a:r>
            <a:r>
              <a:rPr lang="en-US" dirty="0"/>
              <a:t>– TPR and FPR are class-conditional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EF18C-1A73-DB17-3C4B-0A2D29206211}"/>
              </a:ext>
            </a:extLst>
          </p:cNvPr>
          <p:cNvSpPr txBox="1"/>
          <p:nvPr/>
        </p:nvSpPr>
        <p:spPr>
          <a:xfrm>
            <a:off x="766355" y="4218534"/>
            <a:ext cx="10450286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rPr>
              <a:t>This means we need to factor in the prevalence of each class</a:t>
            </a:r>
          </a:p>
        </p:txBody>
      </p:sp>
    </p:spTree>
    <p:extLst>
      <p:ext uri="{BB962C8B-B14F-4D97-AF65-F5344CB8AC3E}">
        <p14:creationId xmlns:p14="http://schemas.microsoft.com/office/powerpoint/2010/main" val="112339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9D989-819E-1A87-6D4B-89D26795F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3B2D1D6-CCAE-B34E-11D9-0A284853C9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8199966" y="161925"/>
            <a:ext cx="3861033" cy="3570662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C962E6AF-F45F-DC9B-90F3-69279EAC6794}"/>
              </a:ext>
            </a:extLst>
          </p:cNvPr>
          <p:cNvSpPr/>
          <p:nvPr/>
        </p:nvSpPr>
        <p:spPr>
          <a:xfrm>
            <a:off x="9013130" y="3024458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4856D2-9D3E-DAB0-DF8F-D6EF19BF41FD}"/>
              </a:ext>
            </a:extLst>
          </p:cNvPr>
          <p:cNvGrpSpPr/>
          <p:nvPr/>
        </p:nvGrpSpPr>
        <p:grpSpPr>
          <a:xfrm>
            <a:off x="9013130" y="2134121"/>
            <a:ext cx="126504" cy="1006768"/>
            <a:chOff x="902064" y="1922402"/>
            <a:chExt cx="126504" cy="100676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514C8DB-8CEF-F95C-1D4B-34315B1D5ED0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FC3930D-2BEA-6C77-1F9D-2348CE6DA70B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2775BA3-D044-C720-7E68-BB6CC2D7D4F5}"/>
              </a:ext>
            </a:extLst>
          </p:cNvPr>
          <p:cNvGrpSpPr/>
          <p:nvPr/>
        </p:nvGrpSpPr>
        <p:grpSpPr>
          <a:xfrm>
            <a:off x="9013130" y="1282357"/>
            <a:ext cx="126504" cy="1025275"/>
            <a:chOff x="902064" y="1070638"/>
            <a:chExt cx="126504" cy="1025275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B414028-2E8E-4B5F-4AD2-A1AB138A3167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91F86C6-7AF3-C1B7-0F97-15F150C409BF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D1D3A22-ECEA-B766-644A-0EF85D11B501}"/>
              </a:ext>
            </a:extLst>
          </p:cNvPr>
          <p:cNvGrpSpPr/>
          <p:nvPr/>
        </p:nvGrpSpPr>
        <p:grpSpPr>
          <a:xfrm>
            <a:off x="10359138" y="331682"/>
            <a:ext cx="126504" cy="1020326"/>
            <a:chOff x="2248072" y="119963"/>
            <a:chExt cx="126504" cy="1020326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D728C4D-D4B2-705E-36CA-F5AFC5031AD3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278EB83-F9BB-44BF-FED5-4AAC4F4F2E12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A53D95C-47BD-B913-AAF5-EFC6E2729DE5}"/>
              </a:ext>
            </a:extLst>
          </p:cNvPr>
          <p:cNvGrpSpPr/>
          <p:nvPr/>
        </p:nvGrpSpPr>
        <p:grpSpPr>
          <a:xfrm>
            <a:off x="9076382" y="1282357"/>
            <a:ext cx="1409260" cy="126504"/>
            <a:chOff x="965316" y="1070638"/>
            <a:chExt cx="1409260" cy="12650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C6395CD-18C1-977B-B272-35D78D8E33A2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C432FD6-2BCF-B9DF-1DFA-CED573B974B3}"/>
                </a:ext>
              </a:extLst>
            </p:cNvPr>
            <p:cNvCxnSpPr>
              <a:stCxn id="33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EFCFB51-76CC-AD71-9564-F089992B2F39}"/>
              </a:ext>
            </a:extLst>
          </p:cNvPr>
          <p:cNvGrpSpPr/>
          <p:nvPr/>
        </p:nvGrpSpPr>
        <p:grpSpPr>
          <a:xfrm>
            <a:off x="10388523" y="331682"/>
            <a:ext cx="1456095" cy="126504"/>
            <a:chOff x="2277457" y="119963"/>
            <a:chExt cx="1456095" cy="12650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B561BCB-756B-885D-8960-E1F56BAEA17B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4204C56-A94C-9F99-CCDD-5EB691904963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86BF6712-4B4C-3FD9-96BC-10E9A9155E9B}"/>
              </a:ext>
            </a:extLst>
          </p:cNvPr>
          <p:cNvSpPr txBox="1"/>
          <p:nvPr/>
        </p:nvSpPr>
        <p:spPr>
          <a:xfrm>
            <a:off x="4322350" y="1059276"/>
            <a:ext cx="1468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Estimate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4A469D-D756-B137-0100-0C083B0E482B}"/>
              </a:ext>
            </a:extLst>
          </p:cNvPr>
          <p:cNvSpPr txBox="1"/>
          <p:nvPr/>
        </p:nvSpPr>
        <p:spPr>
          <a:xfrm rot="16200000">
            <a:off x="-80704" y="3026605"/>
            <a:ext cx="953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0404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Truth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Content Placeholder 8">
                <a:extLst>
                  <a:ext uri="{FF2B5EF4-FFF2-40B4-BE49-F238E27FC236}">
                    <a16:creationId xmlns:a16="http://schemas.microsoft.com/office/drawing/2014/main" id="{E653A270-412B-BB97-E10B-F2F3DFDECC30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153365" y="2260625"/>
              <a:ext cx="5811982" cy="207818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05991">
                      <a:extLst>
                        <a:ext uri="{9D8B030D-6E8A-4147-A177-3AD203B41FA5}">
                          <a16:colId xmlns:a16="http://schemas.microsoft.com/office/drawing/2014/main" val="4227622863"/>
                        </a:ext>
                      </a:extLst>
                    </a:gridCol>
                    <a:gridCol w="2905991">
                      <a:extLst>
                        <a:ext uri="{9D8B030D-6E8A-4147-A177-3AD203B41FA5}">
                          <a16:colId xmlns:a16="http://schemas.microsoft.com/office/drawing/2014/main" val="696407320"/>
                        </a:ext>
                      </a:extLst>
                    </a:gridCol>
                  </a:tblGrid>
                  <a:tr h="103909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3200" b="1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</m:oMath>
                            </m:oMathPara>
                          </a14:m>
                          <a:endParaRPr lang="en-US" sz="3200" b="1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76234663"/>
                      </a:ext>
                    </a:extLst>
                  </a:tr>
                  <a:tr h="103909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3200" b="1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3200" b="1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77907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Content Placeholder 8">
                <a:extLst>
                  <a:ext uri="{FF2B5EF4-FFF2-40B4-BE49-F238E27FC236}">
                    <a16:creationId xmlns:a16="http://schemas.microsoft.com/office/drawing/2014/main" id="{E653A270-412B-BB97-E10B-F2F3DFDECC30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153365" y="2260625"/>
              <a:ext cx="5811982" cy="207818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05991">
                      <a:extLst>
                        <a:ext uri="{9D8B030D-6E8A-4147-A177-3AD203B41FA5}">
                          <a16:colId xmlns:a16="http://schemas.microsoft.com/office/drawing/2014/main" val="4227622863"/>
                        </a:ext>
                      </a:extLst>
                    </a:gridCol>
                    <a:gridCol w="2905991">
                      <a:extLst>
                        <a:ext uri="{9D8B030D-6E8A-4147-A177-3AD203B41FA5}">
                          <a16:colId xmlns:a16="http://schemas.microsoft.com/office/drawing/2014/main" val="696407320"/>
                        </a:ext>
                      </a:extLst>
                    </a:gridCol>
                  </a:tblGrid>
                  <a:tr h="10390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5" t="-1220" r="-100000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3" t="-1220" r="-437" b="-1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6234663"/>
                      </a:ext>
                    </a:extLst>
                  </a:tr>
                  <a:tr h="10390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5" t="-101220" r="-100000" b="-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3" t="-101220" r="-437" b="-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77907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4706C8A2-D7C8-E413-AC3C-78A278B54454}"/>
              </a:ext>
            </a:extLst>
          </p:cNvPr>
          <p:cNvSpPr txBox="1"/>
          <p:nvPr/>
        </p:nvSpPr>
        <p:spPr>
          <a:xfrm>
            <a:off x="5170527" y="1653077"/>
            <a:ext cx="2720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Class 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F35DDF-ED2F-DF56-590E-16E7C62D9B41}"/>
              </a:ext>
            </a:extLst>
          </p:cNvPr>
          <p:cNvSpPr txBox="1"/>
          <p:nvPr/>
        </p:nvSpPr>
        <p:spPr>
          <a:xfrm>
            <a:off x="807314" y="2520173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Class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507684-2272-41DB-E04D-29E13429E8CE}"/>
              </a:ext>
            </a:extLst>
          </p:cNvPr>
          <p:cNvSpPr txBox="1"/>
          <p:nvPr/>
        </p:nvSpPr>
        <p:spPr>
          <a:xfrm>
            <a:off x="789770" y="3557842"/>
            <a:ext cx="205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Class 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96539E-C538-8F0C-00F8-14B88B534FF1}"/>
              </a:ext>
            </a:extLst>
          </p:cNvPr>
          <p:cNvSpPr txBox="1"/>
          <p:nvPr/>
        </p:nvSpPr>
        <p:spPr>
          <a:xfrm>
            <a:off x="2223126" y="1672456"/>
            <a:ext cx="2720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Class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FB71CC25-2837-41E7-AE45-0C94A52637CA}"/>
                  </a:ext>
                </a:extLst>
              </p:cNvPr>
              <p:cNvSpPr/>
              <p:nvPr/>
            </p:nvSpPr>
            <p:spPr>
              <a:xfrm>
                <a:off x="8331314" y="3938510"/>
                <a:ext cx="1058430" cy="5579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CD3F8A3-FE92-844E-9F41-A24579BB3C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14" y="3938510"/>
                <a:ext cx="1058430" cy="557910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B7BF49D-4A28-177B-34B8-18B05548E8FE}"/>
                  </a:ext>
                </a:extLst>
              </p:cNvPr>
              <p:cNvSpPr txBox="1"/>
              <p:nvPr/>
            </p:nvSpPr>
            <p:spPr>
              <a:xfrm>
                <a:off x="9308414" y="3927747"/>
                <a:ext cx="2863058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𝜆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8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  <a:p>
                <a:r>
                  <a:rPr lang="en-US" sz="2000" dirty="0">
                    <a:solidFill>
                      <a:srgbClr val="404040"/>
                    </a:solidFill>
                    <a:latin typeface="Helvetica Light" charset="0"/>
                    <a:ea typeface="Helvetica Light" charset="0"/>
                    <a:cs typeface="Helvetica Light" charset="0"/>
                  </a:rPr>
                  <a:t>Loss if prediction is class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Helvetica Light" charset="0"/>
                        <a:cs typeface="Helvetica Light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rgbClr val="404040"/>
                    </a:solidFill>
                    <a:latin typeface="Helvetica Light" charset="0"/>
                    <a:ea typeface="Helvetica Light" charset="0"/>
                    <a:cs typeface="Helvetica Light" charset="0"/>
                  </a:rPr>
                  <a:t> when truth is class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Helvetica Light" charset="0"/>
                        <a:cs typeface="Helvetica Light" charset="0"/>
                      </a:rPr>
                      <m:t>𝑗</m:t>
                    </m:r>
                  </m:oMath>
                </a14:m>
                <a:endParaRPr lang="en-US" sz="20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B7BF49D-4A28-177B-34B8-18B05548E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8414" y="3927747"/>
                <a:ext cx="2863058" cy="1446550"/>
              </a:xfrm>
              <a:prstGeom prst="rect">
                <a:avLst/>
              </a:prstGeom>
              <a:blipFill>
                <a:blip r:embed="rId5"/>
                <a:stretch>
                  <a:fillRect l="-2203" t="-2609" b="-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FB9CA142-1008-B17E-C8AF-2D6AEDEAD350}"/>
              </a:ext>
            </a:extLst>
          </p:cNvPr>
          <p:cNvSpPr txBox="1"/>
          <p:nvPr/>
        </p:nvSpPr>
        <p:spPr>
          <a:xfrm>
            <a:off x="165099" y="5164210"/>
            <a:ext cx="8974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Helvetica Light" charset="0"/>
                <a:ea typeface="Helvetica Light" charset="0"/>
                <a:cs typeface="Helvetica Light" charset="0"/>
              </a:rPr>
              <a:t>Class prevalence also needs to be factored in!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8531E1-452B-DCB3-A2D8-23E65E26EBCE}"/>
              </a:ext>
            </a:extLst>
          </p:cNvPr>
          <p:cNvSpPr txBox="1"/>
          <p:nvPr/>
        </p:nvSpPr>
        <p:spPr>
          <a:xfrm>
            <a:off x="2142497" y="3272233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False Positive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2B19BC-554E-070F-1165-5DFBC7EBF47E}"/>
              </a:ext>
            </a:extLst>
          </p:cNvPr>
          <p:cNvSpPr txBox="1"/>
          <p:nvPr/>
        </p:nvSpPr>
        <p:spPr>
          <a:xfrm>
            <a:off x="5004668" y="2235289"/>
            <a:ext cx="1951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  <a:ea typeface="Helvetica Light" charset="0"/>
                <a:cs typeface="Helvetica Light" charset="0"/>
              </a:rPr>
              <a:t>False negative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55363B6-1E43-ACF5-BEFE-CB22F2E1D6B7}"/>
                  </a:ext>
                </a:extLst>
              </p:cNvPr>
              <p:cNvSpPr txBox="1"/>
              <p:nvPr/>
            </p:nvSpPr>
            <p:spPr>
              <a:xfrm>
                <a:off x="9096186" y="3429000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04BB257-A3B3-4A49-BDBE-040F2A6D2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186" y="3429000"/>
                <a:ext cx="2742336" cy="369332"/>
              </a:xfrm>
              <a:prstGeom prst="rect">
                <a:avLst/>
              </a:prstGeom>
              <a:blipFill>
                <a:blip r:embed="rId6"/>
                <a:stretch>
                  <a:fillRect l="-1382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E186AA1-B058-4B22-E2E7-DF6AD0E4F15F}"/>
                  </a:ext>
                </a:extLst>
              </p:cNvPr>
              <p:cNvSpPr txBox="1"/>
              <p:nvPr/>
            </p:nvSpPr>
            <p:spPr>
              <a:xfrm rot="16200000">
                <a:off x="6892740" y="1560613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2693963-7767-2946-9032-ADF4F1C03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892740" y="1560613"/>
                <a:ext cx="2797304" cy="369332"/>
              </a:xfrm>
              <a:prstGeom prst="rect">
                <a:avLst/>
              </a:prstGeom>
              <a:blipFill>
                <a:blip r:embed="rId7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0684A1C-AE62-CF50-CACB-133403EF0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99" y="161925"/>
            <a:ext cx="8183033" cy="688975"/>
          </a:xfrm>
        </p:spPr>
        <p:txBody>
          <a:bodyPr/>
          <a:lstStyle/>
          <a:p>
            <a:r>
              <a:rPr lang="en-US" dirty="0"/>
              <a:t>Where to operate along ROC?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170D0-D2B6-BD5C-8F53-8DBF1647D9A0}"/>
              </a:ext>
            </a:extLst>
          </p:cNvPr>
          <p:cNvSpPr txBox="1"/>
          <p:nvPr/>
        </p:nvSpPr>
        <p:spPr>
          <a:xfrm>
            <a:off x="2142497" y="2235289"/>
            <a:ext cx="1780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ea typeface="Helvetica Light" charset="0"/>
                <a:cs typeface="Helvetica Light" charset="0"/>
              </a:rPr>
              <a:t>True Positive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A5D2EE-2D28-3060-01FA-3EEADD6BFB7F}"/>
              </a:ext>
            </a:extLst>
          </p:cNvPr>
          <p:cNvSpPr txBox="1"/>
          <p:nvPr/>
        </p:nvSpPr>
        <p:spPr>
          <a:xfrm>
            <a:off x="5030662" y="3272233"/>
            <a:ext cx="1866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  <a:ea typeface="Helvetica Light" charset="0"/>
                <a:cs typeface="Helvetica Light" charset="0"/>
              </a:rPr>
              <a:t>True Negative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D26F518-6210-1458-DEF1-4C3360E8C420}"/>
                  </a:ext>
                </a:extLst>
              </p:cNvPr>
              <p:cNvSpPr/>
              <p:nvPr/>
            </p:nvSpPr>
            <p:spPr>
              <a:xfrm>
                <a:off x="538727" y="2874686"/>
                <a:ext cx="16918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B04F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D26F518-6210-1458-DEF1-4C3360E8C4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27" y="2874686"/>
                <a:ext cx="169180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F88776-328C-9D63-9DAE-3360ED4C1974}"/>
                  </a:ext>
                </a:extLst>
              </p:cNvPr>
              <p:cNvSpPr/>
              <p:nvPr/>
            </p:nvSpPr>
            <p:spPr>
              <a:xfrm>
                <a:off x="538727" y="3963258"/>
                <a:ext cx="16971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B04F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F88776-328C-9D63-9DAE-3360ED4C19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27" y="3963258"/>
                <a:ext cx="169713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4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4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DFD83-B011-173A-B665-2C01F7B32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4F773808-5617-69EF-B1E4-14DCBDCF35A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37528452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9853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Action: select threshold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positive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negative</a:t>
                          </a:r>
                        </a:p>
                        <a:p>
                          <a:pPr algn="ctr"/>
                          <a:b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=(1−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sub>
                                </m:sSub>
                                <m:r>
                                  <a:rPr lang="en-US" b="0" i="1" baseline="0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Risk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τ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4F773808-5617-69EF-B1E4-14DCBDCF35A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37528452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4" t="-2128" r="-3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94" t="-2128" r="-2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098" t="-2128" r="-101399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2128" r="-694" b="-2329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30E5FD62-BE2A-9D39-9A3C-77CD10EF5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47" y="54789"/>
            <a:ext cx="8183033" cy="688975"/>
          </a:xfrm>
        </p:spPr>
        <p:txBody>
          <a:bodyPr/>
          <a:lstStyle/>
          <a:p>
            <a:r>
              <a:rPr lang="en-US" dirty="0"/>
              <a:t>Choose where to operate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A34DDE-CAEE-9FEE-57FE-6568E871EA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8047566" y="447503"/>
            <a:ext cx="3861033" cy="357066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38FAEDF-EAA8-1150-11E2-781D4F0376B4}"/>
              </a:ext>
            </a:extLst>
          </p:cNvPr>
          <p:cNvSpPr/>
          <p:nvPr/>
        </p:nvSpPr>
        <p:spPr>
          <a:xfrm>
            <a:off x="8860730" y="3310036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CFF2EE-F332-2EE9-A254-CE3EC5BC97BE}"/>
              </a:ext>
            </a:extLst>
          </p:cNvPr>
          <p:cNvGrpSpPr/>
          <p:nvPr/>
        </p:nvGrpSpPr>
        <p:grpSpPr>
          <a:xfrm>
            <a:off x="8860730" y="2419699"/>
            <a:ext cx="126504" cy="1006768"/>
            <a:chOff x="902064" y="1922402"/>
            <a:chExt cx="126504" cy="100676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92CB772-B677-AAF4-E175-C68686318902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547639F-116C-6606-36A2-7EC9AF93E554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BBB6215-C81B-1301-181A-C54F49B1559E}"/>
              </a:ext>
            </a:extLst>
          </p:cNvPr>
          <p:cNvGrpSpPr/>
          <p:nvPr/>
        </p:nvGrpSpPr>
        <p:grpSpPr>
          <a:xfrm>
            <a:off x="8860730" y="1567935"/>
            <a:ext cx="126504" cy="1025275"/>
            <a:chOff x="902064" y="1070638"/>
            <a:chExt cx="126504" cy="102527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20D2DC-3028-1F5B-FAE0-49D95A0A3F9F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BAC03BC-F0F2-8ECE-50B3-7BCA9F41A0D7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7F12D0B-BE65-55CC-8DC1-29878BBE4284}"/>
              </a:ext>
            </a:extLst>
          </p:cNvPr>
          <p:cNvGrpSpPr/>
          <p:nvPr/>
        </p:nvGrpSpPr>
        <p:grpSpPr>
          <a:xfrm>
            <a:off x="10206738" y="617260"/>
            <a:ext cx="126504" cy="1020326"/>
            <a:chOff x="2248072" y="119963"/>
            <a:chExt cx="126504" cy="102032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80D0858-22DE-2486-30EC-C05C817ABF10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670CB28-3C85-38E3-978A-71F66CBDA830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1DAF06-7677-D049-D7A8-569D51326F02}"/>
              </a:ext>
            </a:extLst>
          </p:cNvPr>
          <p:cNvGrpSpPr/>
          <p:nvPr/>
        </p:nvGrpSpPr>
        <p:grpSpPr>
          <a:xfrm>
            <a:off x="8923982" y="1567935"/>
            <a:ext cx="1409260" cy="126504"/>
            <a:chOff x="965316" y="1070638"/>
            <a:chExt cx="1409260" cy="12650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83167AA-4139-8F6A-F046-AF0000CE5288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17D2453-7F70-46A2-D842-536B682E0305}"/>
                </a:ext>
              </a:extLst>
            </p:cNvPr>
            <p:cNvCxnSpPr>
              <a:stCxn id="21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837B79-D275-64B1-4ACD-DBE32AD4A1FD}"/>
              </a:ext>
            </a:extLst>
          </p:cNvPr>
          <p:cNvGrpSpPr/>
          <p:nvPr/>
        </p:nvGrpSpPr>
        <p:grpSpPr>
          <a:xfrm>
            <a:off x="10236123" y="617260"/>
            <a:ext cx="1456095" cy="126504"/>
            <a:chOff x="2277457" y="119963"/>
            <a:chExt cx="1456095" cy="1265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A88EFE2-6781-0DDB-0EF2-11C076FC640B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FAD8CE-6D63-5F48-4415-1CDAFA9C0A5F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5E89C598-F21D-5C6E-01E6-D0EB4D6F0C1B}"/>
              </a:ext>
            </a:extLst>
          </p:cNvPr>
          <p:cNvSpPr/>
          <p:nvPr/>
        </p:nvSpPr>
        <p:spPr>
          <a:xfrm>
            <a:off x="9050486" y="2911609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8BF3BB0-ECF7-84EB-FC95-BDD1B1007DEB}"/>
              </a:ext>
            </a:extLst>
          </p:cNvPr>
          <p:cNvSpPr/>
          <p:nvPr/>
        </p:nvSpPr>
        <p:spPr>
          <a:xfrm>
            <a:off x="9050486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7773494-5774-7CB1-F414-62D8A4341C16}"/>
              </a:ext>
            </a:extLst>
          </p:cNvPr>
          <p:cNvSpPr/>
          <p:nvPr/>
        </p:nvSpPr>
        <p:spPr>
          <a:xfrm>
            <a:off x="10354352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625F863-4222-88EA-949B-0D7998A188F3}"/>
              </a:ext>
            </a:extLst>
          </p:cNvPr>
          <p:cNvSpPr/>
          <p:nvPr/>
        </p:nvSpPr>
        <p:spPr>
          <a:xfrm>
            <a:off x="10354352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C496E3F-B70E-157B-F54C-DEE0BECF1AF9}"/>
              </a:ext>
            </a:extLst>
          </p:cNvPr>
          <p:cNvSpPr/>
          <p:nvPr/>
        </p:nvSpPr>
        <p:spPr>
          <a:xfrm>
            <a:off x="11590485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4E63AB1-DFC3-4CE4-C35F-DFF942B92CE3}"/>
                  </a:ext>
                </a:extLst>
              </p:cNvPr>
              <p:cNvSpPr txBox="1"/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AF0756-0D31-A548-9E2D-62D9D74E3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blipFill>
                <a:blip r:embed="rId7"/>
                <a:stretch>
                  <a:fillRect l="-184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D1830A9-02D6-5325-D3A6-EF5E7AB031E8}"/>
                  </a:ext>
                </a:extLst>
              </p:cNvPr>
              <p:cNvSpPr txBox="1"/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CE4F-5902-E548-8D5A-6EE7A713C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blipFill>
                <a:blip r:embed="rId8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7266332-CA2A-A927-3436-E19C884EEC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0667" y="4376007"/>
            <a:ext cx="5009673" cy="21331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1EC4647-D348-8BA2-5412-B6A9DAE1DFFE}"/>
                  </a:ext>
                </a:extLst>
              </p:cNvPr>
              <p:cNvSpPr txBox="1"/>
              <p:nvPr/>
            </p:nvSpPr>
            <p:spPr>
              <a:xfrm>
                <a:off x="-74902" y="5883401"/>
                <a:ext cx="658699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sSub>
                        <m:sSub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sub>
                      </m:sSub>
                      <m:d>
                        <m:d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1EC4647-D348-8BA2-5412-B6A9DAE1D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902" y="5883401"/>
                <a:ext cx="6586995" cy="461665"/>
              </a:xfrm>
              <a:prstGeom prst="rect">
                <a:avLst/>
              </a:prstGeom>
              <a:blipFill>
                <a:blip r:embed="rId10"/>
                <a:stretch>
                  <a:fillRect l="-385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B03E65C-EAFA-C476-81C5-EBD3B3410D70}"/>
                  </a:ext>
                </a:extLst>
              </p:cNvPr>
              <p:cNvSpPr txBox="1"/>
              <p:nvPr/>
            </p:nvSpPr>
            <p:spPr>
              <a:xfrm>
                <a:off x="0" y="4797472"/>
                <a:ext cx="5994205" cy="7817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bg1">
                      <a:lumMod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B03E65C-EAFA-C476-81C5-EBD3B3410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97472"/>
                <a:ext cx="5994205" cy="781752"/>
              </a:xfrm>
              <a:prstGeom prst="rect">
                <a:avLst/>
              </a:prstGeom>
              <a:blipFill>
                <a:blip r:embed="rId11"/>
                <a:stretch>
                  <a:fillRect l="-424" t="-138095" r="-1059" b="-18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DA69083-522A-4A31-41F6-A9E99F9D4DF0}"/>
                  </a:ext>
                </a:extLst>
              </p:cNvPr>
              <p:cNvSpPr/>
              <p:nvPr/>
            </p:nvSpPr>
            <p:spPr>
              <a:xfrm>
                <a:off x="4540025" y="5405338"/>
                <a:ext cx="16172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DA69083-522A-4A31-41F6-A9E99F9D4D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025" y="5405338"/>
                <a:ext cx="161723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D5D443-0AFD-4035-A87B-FCBB5DA67CE7}"/>
                  </a:ext>
                </a:extLst>
              </p:cNvPr>
              <p:cNvSpPr/>
              <p:nvPr/>
            </p:nvSpPr>
            <p:spPr>
              <a:xfrm>
                <a:off x="7565165" y="4094839"/>
                <a:ext cx="2072042" cy="707886"/>
              </a:xfrm>
              <a:prstGeom prst="rect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sz="2000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0.9</m:t>
                      </m:r>
                      <m:r>
                        <a:rPr lang="en-US" sz="2000" b="0" i="0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2000" i="1" dirty="0">
                  <a:solidFill>
                    <a:srgbClr val="00B04F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sz="2000" b="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en-US" sz="2000" b="0" i="1" dirty="0">
                  <a:solidFill>
                    <a:srgbClr val="00B04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D5D443-0AFD-4035-A87B-FCBB5DA67C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165" y="4094839"/>
                <a:ext cx="2072042" cy="7078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91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2" grpId="0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49BB-DC9F-A22C-C96C-19F3F1A3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58F1378D-B491-E636-BD6A-7BFDE61751C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54670431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9853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Action: select threshold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positive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negative</a:t>
                          </a:r>
                        </a:p>
                        <a:p>
                          <a:pPr algn="ctr"/>
                          <a:b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=(1−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sub>
                                </m:sSub>
                                <m:r>
                                  <a:rPr lang="en-US" b="0" i="1" baseline="0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Risk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τ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58F1378D-B491-E636-BD6A-7BFDE61751C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54670431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4" t="-2128" r="-3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94" t="-2128" r="-2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098" t="-2128" r="-101399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2128" r="-694" b="-2329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BB3F4D6E-A2E5-A2DF-FFA9-7550BDD2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47" y="54789"/>
            <a:ext cx="8183033" cy="688975"/>
          </a:xfrm>
        </p:spPr>
        <p:txBody>
          <a:bodyPr/>
          <a:lstStyle/>
          <a:p>
            <a:r>
              <a:rPr lang="en-US" dirty="0"/>
              <a:t>Choose where to operate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63F0B0-AF47-FB6A-CAC0-BE7BCB31BE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8047566" y="447503"/>
            <a:ext cx="3861033" cy="357066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3C88D6E1-6B3B-7233-E50F-BB0612CC7C9F}"/>
              </a:ext>
            </a:extLst>
          </p:cNvPr>
          <p:cNvSpPr/>
          <p:nvPr/>
        </p:nvSpPr>
        <p:spPr>
          <a:xfrm>
            <a:off x="8860730" y="3310036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DA9D21-C5D7-AE30-2B7B-60E207197A8F}"/>
              </a:ext>
            </a:extLst>
          </p:cNvPr>
          <p:cNvGrpSpPr/>
          <p:nvPr/>
        </p:nvGrpSpPr>
        <p:grpSpPr>
          <a:xfrm>
            <a:off x="8860730" y="2419699"/>
            <a:ext cx="126504" cy="1006768"/>
            <a:chOff x="902064" y="1922402"/>
            <a:chExt cx="126504" cy="100676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963BB28-73B7-99BD-28B0-555504BDD31F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007EA16-90B2-0898-FE65-E82363226B74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DFD253-A1C8-BA45-7AD5-448D975CF9FF}"/>
              </a:ext>
            </a:extLst>
          </p:cNvPr>
          <p:cNvGrpSpPr/>
          <p:nvPr/>
        </p:nvGrpSpPr>
        <p:grpSpPr>
          <a:xfrm>
            <a:off x="8860730" y="1567935"/>
            <a:ext cx="126504" cy="1025275"/>
            <a:chOff x="902064" y="1070638"/>
            <a:chExt cx="126504" cy="102527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BEE3BD6-CF96-AD2F-FA2D-CCBD369082FE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215DC17-D6E6-F42E-D60A-934CA6633C76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081C7C-1DBF-4DC6-1701-42FE9467777E}"/>
              </a:ext>
            </a:extLst>
          </p:cNvPr>
          <p:cNvGrpSpPr/>
          <p:nvPr/>
        </p:nvGrpSpPr>
        <p:grpSpPr>
          <a:xfrm>
            <a:off x="10206738" y="617260"/>
            <a:ext cx="126504" cy="1020326"/>
            <a:chOff x="2248072" y="119963"/>
            <a:chExt cx="126504" cy="102032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86FEC4E-7DA8-7E06-9DF1-BFC3EEC3F6BE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4301764-3F47-47B4-AE01-83E64EE0BB4A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EC0AE45-BC22-E7C7-B007-CBB151AA5E46}"/>
              </a:ext>
            </a:extLst>
          </p:cNvPr>
          <p:cNvGrpSpPr/>
          <p:nvPr/>
        </p:nvGrpSpPr>
        <p:grpSpPr>
          <a:xfrm>
            <a:off x="8923982" y="1567935"/>
            <a:ext cx="1409260" cy="126504"/>
            <a:chOff x="965316" y="1070638"/>
            <a:chExt cx="1409260" cy="12650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01DAA7D-8F39-7EDB-C7E0-9ACAD550CC20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CFE25A9-5D3B-A6DC-1707-1E49BDDD32DF}"/>
                </a:ext>
              </a:extLst>
            </p:cNvPr>
            <p:cNvCxnSpPr>
              <a:stCxn id="21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220CA06-D935-8BED-BF8B-A2A20AF87993}"/>
              </a:ext>
            </a:extLst>
          </p:cNvPr>
          <p:cNvGrpSpPr/>
          <p:nvPr/>
        </p:nvGrpSpPr>
        <p:grpSpPr>
          <a:xfrm>
            <a:off x="10236123" y="617260"/>
            <a:ext cx="1456095" cy="126504"/>
            <a:chOff x="2277457" y="119963"/>
            <a:chExt cx="1456095" cy="1265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4A4851C-B811-1B41-E389-457E3FA01A85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7B0CED0-8378-5ECC-99B1-D05ABE17F2A9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3D6A520F-6AFE-D220-FE81-6FB788961EFE}"/>
              </a:ext>
            </a:extLst>
          </p:cNvPr>
          <p:cNvSpPr/>
          <p:nvPr/>
        </p:nvSpPr>
        <p:spPr>
          <a:xfrm>
            <a:off x="9050486" y="2911609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300954C-C76A-2919-1F94-975ED9CB9AB8}"/>
              </a:ext>
            </a:extLst>
          </p:cNvPr>
          <p:cNvSpPr/>
          <p:nvPr/>
        </p:nvSpPr>
        <p:spPr>
          <a:xfrm>
            <a:off x="9050486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A9386D4-670D-721C-5629-A4C64D2E3E48}"/>
              </a:ext>
            </a:extLst>
          </p:cNvPr>
          <p:cNvSpPr/>
          <p:nvPr/>
        </p:nvSpPr>
        <p:spPr>
          <a:xfrm>
            <a:off x="10354352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C6F6A3-3144-3917-1E26-01BAFD497D92}"/>
              </a:ext>
            </a:extLst>
          </p:cNvPr>
          <p:cNvSpPr/>
          <p:nvPr/>
        </p:nvSpPr>
        <p:spPr>
          <a:xfrm>
            <a:off x="10354352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D5633CC-E910-E1EF-81E7-6423F25EEC0C}"/>
              </a:ext>
            </a:extLst>
          </p:cNvPr>
          <p:cNvSpPr/>
          <p:nvPr/>
        </p:nvSpPr>
        <p:spPr>
          <a:xfrm>
            <a:off x="11590485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30D7D3D-44B3-E526-C33A-DF3E531075F0}"/>
                  </a:ext>
                </a:extLst>
              </p:cNvPr>
              <p:cNvSpPr txBox="1"/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AF0756-0D31-A548-9E2D-62D9D74E3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blipFill>
                <a:blip r:embed="rId7"/>
                <a:stretch>
                  <a:fillRect l="-184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004AF52-1EBD-6BB2-516C-0171FF64FCE1}"/>
                  </a:ext>
                </a:extLst>
              </p:cNvPr>
              <p:cNvSpPr txBox="1"/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CE4F-5902-E548-8D5A-6EE7A713C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blipFill>
                <a:blip r:embed="rId8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33CAA5B-4438-317F-D6E0-819486B9C9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0667" y="4376007"/>
            <a:ext cx="5009673" cy="21331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5903D5-94FE-3901-A9E2-8C5C4C5D2729}"/>
                  </a:ext>
                </a:extLst>
              </p:cNvPr>
              <p:cNvSpPr txBox="1"/>
              <p:nvPr/>
            </p:nvSpPr>
            <p:spPr>
              <a:xfrm>
                <a:off x="-74902" y="5883401"/>
                <a:ext cx="658699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sSub>
                        <m:sSub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sub>
                      </m:sSub>
                      <m:d>
                        <m:d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5903D5-94FE-3901-A9E2-8C5C4C5D2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902" y="5883401"/>
                <a:ext cx="6586995" cy="461665"/>
              </a:xfrm>
              <a:prstGeom prst="rect">
                <a:avLst/>
              </a:prstGeom>
              <a:blipFill>
                <a:blip r:embed="rId10"/>
                <a:stretch>
                  <a:fillRect l="-385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81C67C7-CADF-DDEA-343A-D119C7D8453B}"/>
                  </a:ext>
                </a:extLst>
              </p:cNvPr>
              <p:cNvSpPr txBox="1"/>
              <p:nvPr/>
            </p:nvSpPr>
            <p:spPr>
              <a:xfrm>
                <a:off x="0" y="4797472"/>
                <a:ext cx="5994205" cy="7817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bg1">
                      <a:lumMod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81C67C7-CADF-DDEA-343A-D119C7D84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97472"/>
                <a:ext cx="5994205" cy="781752"/>
              </a:xfrm>
              <a:prstGeom prst="rect">
                <a:avLst/>
              </a:prstGeom>
              <a:blipFill>
                <a:blip r:embed="rId11"/>
                <a:stretch>
                  <a:fillRect l="-424" t="-138095" r="-1059" b="-18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8AE5959-664F-08C7-FE0A-B99CC92AD5E6}"/>
                  </a:ext>
                </a:extLst>
              </p:cNvPr>
              <p:cNvSpPr/>
              <p:nvPr/>
            </p:nvSpPr>
            <p:spPr>
              <a:xfrm>
                <a:off x="4540025" y="5405338"/>
                <a:ext cx="16172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8AE5959-664F-08C7-FE0A-B99CC92AD5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025" y="5405338"/>
                <a:ext cx="161723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240DAA9-3C2C-5B84-51B4-A00A1A343336}"/>
                  </a:ext>
                </a:extLst>
              </p:cNvPr>
              <p:cNvSpPr/>
              <p:nvPr/>
            </p:nvSpPr>
            <p:spPr>
              <a:xfrm>
                <a:off x="7565165" y="4094839"/>
                <a:ext cx="2072042" cy="707886"/>
              </a:xfrm>
              <a:prstGeom prst="rect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sz="2000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000" b="0" i="0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</m:oMath>
                  </m:oMathPara>
                </a14:m>
                <a:endParaRPr lang="en-US" sz="2000" i="1" dirty="0">
                  <a:solidFill>
                    <a:srgbClr val="00B04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000" b="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i="1" dirty="0">
                  <a:solidFill>
                    <a:srgbClr val="00B04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240DAA9-3C2C-5B84-51B4-A00A1A343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165" y="4094839"/>
                <a:ext cx="2072042" cy="7078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6879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0366A-5303-C161-3B92-C97A2AE4C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8A5800A1-5875-348F-CB57-CC445565ABF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98592066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9853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Action: select threshold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positive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negative</a:t>
                          </a:r>
                        </a:p>
                        <a:p>
                          <a:pPr algn="ctr"/>
                          <a:b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=(1−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sub>
                                </m:sSub>
                                <m:r>
                                  <a:rPr lang="en-US" b="0" i="1" baseline="0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Risk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τ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8A5800A1-5875-348F-CB57-CC445565ABF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98592066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4" t="-2128" r="-3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94" t="-2128" r="-2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098" t="-2128" r="-101399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2128" r="-694" b="-2329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E0A149CA-E8F3-28F8-2736-0647F0B7D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47" y="54789"/>
            <a:ext cx="8183033" cy="688975"/>
          </a:xfrm>
        </p:spPr>
        <p:txBody>
          <a:bodyPr/>
          <a:lstStyle/>
          <a:p>
            <a:r>
              <a:rPr lang="en-US" dirty="0"/>
              <a:t>Choose where to operate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DDF672-3DC0-ACB6-A801-6200BECC5D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8047566" y="447503"/>
            <a:ext cx="3861033" cy="357066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A52964BC-1B9C-4AB1-6622-401EB9B1F687}"/>
              </a:ext>
            </a:extLst>
          </p:cNvPr>
          <p:cNvSpPr/>
          <p:nvPr/>
        </p:nvSpPr>
        <p:spPr>
          <a:xfrm>
            <a:off x="8860730" y="3310036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7BF57A-0678-5019-793B-74CFC5FF71B5}"/>
              </a:ext>
            </a:extLst>
          </p:cNvPr>
          <p:cNvGrpSpPr/>
          <p:nvPr/>
        </p:nvGrpSpPr>
        <p:grpSpPr>
          <a:xfrm>
            <a:off x="8860730" y="2419699"/>
            <a:ext cx="126504" cy="1006768"/>
            <a:chOff x="902064" y="1922402"/>
            <a:chExt cx="126504" cy="100676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DA3EE77-B852-5EB1-C8D2-ACC7442191F3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1352A3A-0ADE-0996-84AC-686F58EEB1A6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CD95359-8405-5BD8-8E24-014E93945637}"/>
              </a:ext>
            </a:extLst>
          </p:cNvPr>
          <p:cNvGrpSpPr/>
          <p:nvPr/>
        </p:nvGrpSpPr>
        <p:grpSpPr>
          <a:xfrm>
            <a:off x="8860730" y="1567935"/>
            <a:ext cx="126504" cy="1025275"/>
            <a:chOff x="902064" y="1070638"/>
            <a:chExt cx="126504" cy="102527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7352CC7-CE1C-8635-C9CA-CD5F32A4E19A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1D56BD-B72D-ABA9-FF11-898411BCE62F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9E48C23-C29D-5B12-8233-3395BC4094C9}"/>
              </a:ext>
            </a:extLst>
          </p:cNvPr>
          <p:cNvGrpSpPr/>
          <p:nvPr/>
        </p:nvGrpSpPr>
        <p:grpSpPr>
          <a:xfrm>
            <a:off x="10206738" y="617260"/>
            <a:ext cx="126504" cy="1020326"/>
            <a:chOff x="2248072" y="119963"/>
            <a:chExt cx="126504" cy="102032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6707E42-CB6C-BF3B-1887-7A6531F213B8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0F32422-4865-B4CD-EF2B-3A94EDFF6FD0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77BD5AA-9629-BE34-C776-F0FBF6033B56}"/>
              </a:ext>
            </a:extLst>
          </p:cNvPr>
          <p:cNvGrpSpPr/>
          <p:nvPr/>
        </p:nvGrpSpPr>
        <p:grpSpPr>
          <a:xfrm>
            <a:off x="8923982" y="1567935"/>
            <a:ext cx="1409260" cy="126504"/>
            <a:chOff x="965316" y="1070638"/>
            <a:chExt cx="1409260" cy="12650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EFC040B-61D7-8114-5AC3-47C51F193D79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B60F3C-7890-FE16-0E7D-4BD509BC82D0}"/>
                </a:ext>
              </a:extLst>
            </p:cNvPr>
            <p:cNvCxnSpPr>
              <a:stCxn id="21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9EE6995-2072-05CF-F752-9FDC2A5E2D64}"/>
              </a:ext>
            </a:extLst>
          </p:cNvPr>
          <p:cNvGrpSpPr/>
          <p:nvPr/>
        </p:nvGrpSpPr>
        <p:grpSpPr>
          <a:xfrm>
            <a:off x="10236123" y="617260"/>
            <a:ext cx="1456095" cy="126504"/>
            <a:chOff x="2277457" y="119963"/>
            <a:chExt cx="1456095" cy="1265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D75A40E-26C9-08FF-4762-1E5EFE818E9B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9C600EB-DE08-140E-D3ED-0AE22334F1B1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71676465-298F-0279-A5E1-DB8EC12C36B1}"/>
              </a:ext>
            </a:extLst>
          </p:cNvPr>
          <p:cNvSpPr/>
          <p:nvPr/>
        </p:nvSpPr>
        <p:spPr>
          <a:xfrm>
            <a:off x="9050486" y="2911609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39730F-6635-1FA2-6DB4-5D97393217FB}"/>
              </a:ext>
            </a:extLst>
          </p:cNvPr>
          <p:cNvSpPr/>
          <p:nvPr/>
        </p:nvSpPr>
        <p:spPr>
          <a:xfrm>
            <a:off x="9050486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E970C09-A321-DCC9-8DF4-7EF1BECD0A6A}"/>
              </a:ext>
            </a:extLst>
          </p:cNvPr>
          <p:cNvSpPr/>
          <p:nvPr/>
        </p:nvSpPr>
        <p:spPr>
          <a:xfrm>
            <a:off x="10354352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D4D6BDC-A3D5-E58B-8E39-393353DFD74F}"/>
              </a:ext>
            </a:extLst>
          </p:cNvPr>
          <p:cNvSpPr/>
          <p:nvPr/>
        </p:nvSpPr>
        <p:spPr>
          <a:xfrm>
            <a:off x="10354352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476810A-7271-91D3-F954-EEBD808EDA32}"/>
              </a:ext>
            </a:extLst>
          </p:cNvPr>
          <p:cNvSpPr/>
          <p:nvPr/>
        </p:nvSpPr>
        <p:spPr>
          <a:xfrm>
            <a:off x="11590485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DF51801-159D-563C-D393-3390726DF9C5}"/>
                  </a:ext>
                </a:extLst>
              </p:cNvPr>
              <p:cNvSpPr txBox="1"/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AF0756-0D31-A548-9E2D-62D9D74E3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blipFill>
                <a:blip r:embed="rId7"/>
                <a:stretch>
                  <a:fillRect l="-184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BF13296-7E63-8B77-A8DF-06B7BEBAFBC8}"/>
                  </a:ext>
                </a:extLst>
              </p:cNvPr>
              <p:cNvSpPr txBox="1"/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CE4F-5902-E548-8D5A-6EE7A713C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blipFill>
                <a:blip r:embed="rId8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046BC1A-9E52-64AC-1FE4-43A523F36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0667" y="4376007"/>
            <a:ext cx="5009673" cy="21331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7AE87BC-7C61-D920-52C5-32C2CA7C8258}"/>
                  </a:ext>
                </a:extLst>
              </p:cNvPr>
              <p:cNvSpPr txBox="1"/>
              <p:nvPr/>
            </p:nvSpPr>
            <p:spPr>
              <a:xfrm>
                <a:off x="-74902" y="5883401"/>
                <a:ext cx="658699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sSub>
                        <m:sSub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sub>
                      </m:sSub>
                      <m:d>
                        <m:d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7AE87BC-7C61-D920-52C5-32C2CA7C8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902" y="5883401"/>
                <a:ext cx="6586995" cy="461665"/>
              </a:xfrm>
              <a:prstGeom prst="rect">
                <a:avLst/>
              </a:prstGeom>
              <a:blipFill>
                <a:blip r:embed="rId10"/>
                <a:stretch>
                  <a:fillRect l="-385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CB9D46-8DCD-0F3A-70D9-8F1C2370B5F4}"/>
                  </a:ext>
                </a:extLst>
              </p:cNvPr>
              <p:cNvSpPr txBox="1"/>
              <p:nvPr/>
            </p:nvSpPr>
            <p:spPr>
              <a:xfrm>
                <a:off x="0" y="4797472"/>
                <a:ext cx="5994205" cy="7817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bg1">
                      <a:lumMod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CB9D46-8DCD-0F3A-70D9-8F1C2370B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97472"/>
                <a:ext cx="5994205" cy="781752"/>
              </a:xfrm>
              <a:prstGeom prst="rect">
                <a:avLst/>
              </a:prstGeom>
              <a:blipFill>
                <a:blip r:embed="rId11"/>
                <a:stretch>
                  <a:fillRect l="-424" t="-138095" r="-1059" b="-18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66E0F33-9956-F38B-A523-DC3DE5F6F340}"/>
                  </a:ext>
                </a:extLst>
              </p:cNvPr>
              <p:cNvSpPr/>
              <p:nvPr/>
            </p:nvSpPr>
            <p:spPr>
              <a:xfrm>
                <a:off x="4540025" y="5405338"/>
                <a:ext cx="16172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66E0F33-9956-F38B-A523-DC3DE5F6F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025" y="5405338"/>
                <a:ext cx="161723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DE402D-1B67-60A1-83BA-14E20B481069}"/>
                  </a:ext>
                </a:extLst>
              </p:cNvPr>
              <p:cNvSpPr/>
              <p:nvPr/>
            </p:nvSpPr>
            <p:spPr>
              <a:xfrm>
                <a:off x="7565165" y="4094839"/>
                <a:ext cx="2072042" cy="707886"/>
              </a:xfrm>
              <a:prstGeom prst="rect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sz="2000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000" b="0" i="0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</m:oMath>
                  </m:oMathPara>
                </a14:m>
                <a:endParaRPr lang="en-US" sz="2000" i="1" dirty="0">
                  <a:solidFill>
                    <a:srgbClr val="00B04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000" b="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i="1" dirty="0">
                  <a:solidFill>
                    <a:srgbClr val="00B04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DE402D-1B67-60A1-83BA-14E20B4810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165" y="4094839"/>
                <a:ext cx="2072042" cy="7078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3391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66AF4-2A0A-F5EE-D970-73EFEB5A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86968CAC-619D-AB48-AAA1-7A22268DCA9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69881766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9853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Action: select threshold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positive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negative</a:t>
                          </a:r>
                        </a:p>
                        <a:p>
                          <a:pPr algn="ctr"/>
                          <a:b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=(1−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sub>
                                </m:sSub>
                                <m:r>
                                  <a:rPr lang="en-US" b="0" i="1" baseline="0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Risk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τ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86968CAC-619D-AB48-AAA1-7A22268DCA9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69881766"/>
                  </p:ext>
                </p:extLst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4" t="-2128" r="-3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94" t="-2128" r="-2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098" t="-2128" r="-101399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2128" r="-694" b="-2329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9851802F-D7D1-E41F-59D5-1CD5F4726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47" y="54789"/>
            <a:ext cx="8183033" cy="688975"/>
          </a:xfrm>
        </p:spPr>
        <p:txBody>
          <a:bodyPr/>
          <a:lstStyle/>
          <a:p>
            <a:r>
              <a:rPr lang="en-US" dirty="0"/>
              <a:t>Choose where to operate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171B33-093F-EF5F-7099-37FE409017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8047566" y="447503"/>
            <a:ext cx="3861033" cy="357066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347DC1C-FDBD-C322-F103-D7498D3D632F}"/>
              </a:ext>
            </a:extLst>
          </p:cNvPr>
          <p:cNvSpPr/>
          <p:nvPr/>
        </p:nvSpPr>
        <p:spPr>
          <a:xfrm>
            <a:off x="8860730" y="3310036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724C9E-E636-A930-04AD-4BEDE00C035B}"/>
              </a:ext>
            </a:extLst>
          </p:cNvPr>
          <p:cNvGrpSpPr/>
          <p:nvPr/>
        </p:nvGrpSpPr>
        <p:grpSpPr>
          <a:xfrm>
            <a:off x="8860730" y="2419699"/>
            <a:ext cx="126504" cy="1006768"/>
            <a:chOff x="902064" y="1922402"/>
            <a:chExt cx="126504" cy="100676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8EA5402-10EB-0F5C-B8D3-FEFC623690D1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26A574C-C1CF-DA9D-8DB7-D87D32C0BFB3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5DF1617-D182-32D2-8942-93DB6AD6DBDE}"/>
              </a:ext>
            </a:extLst>
          </p:cNvPr>
          <p:cNvGrpSpPr/>
          <p:nvPr/>
        </p:nvGrpSpPr>
        <p:grpSpPr>
          <a:xfrm>
            <a:off x="8860730" y="1567935"/>
            <a:ext cx="126504" cy="1025275"/>
            <a:chOff x="902064" y="1070638"/>
            <a:chExt cx="126504" cy="102527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514807-9CB5-E8A2-8207-DD7B45F5ECFC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85938F-766B-E7DF-BFFB-C47384E290F8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13DD02D-63A1-0D75-6BF4-FFC5FCF504D7}"/>
              </a:ext>
            </a:extLst>
          </p:cNvPr>
          <p:cNvGrpSpPr/>
          <p:nvPr/>
        </p:nvGrpSpPr>
        <p:grpSpPr>
          <a:xfrm>
            <a:off x="10206738" y="617260"/>
            <a:ext cx="126504" cy="1020326"/>
            <a:chOff x="2248072" y="119963"/>
            <a:chExt cx="126504" cy="102032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FF9D20C-7E7D-2532-9D98-4BC688758648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49E6158-BEC1-9308-0D6B-84A80FC033DA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A0D32E-BDF4-9AE4-0AB4-6BF559E566C4}"/>
              </a:ext>
            </a:extLst>
          </p:cNvPr>
          <p:cNvGrpSpPr/>
          <p:nvPr/>
        </p:nvGrpSpPr>
        <p:grpSpPr>
          <a:xfrm>
            <a:off x="8923982" y="1567935"/>
            <a:ext cx="1409260" cy="126504"/>
            <a:chOff x="965316" y="1070638"/>
            <a:chExt cx="1409260" cy="12650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3E3C64C-6468-5045-E735-2350C9569D8D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349FF95-3BBF-45F4-97AD-ECE41E53A442}"/>
                </a:ext>
              </a:extLst>
            </p:cNvPr>
            <p:cNvCxnSpPr>
              <a:stCxn id="21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35F1B4-9559-770A-8E2C-89C1CFA988FA}"/>
              </a:ext>
            </a:extLst>
          </p:cNvPr>
          <p:cNvGrpSpPr/>
          <p:nvPr/>
        </p:nvGrpSpPr>
        <p:grpSpPr>
          <a:xfrm>
            <a:off x="10236123" y="617260"/>
            <a:ext cx="1456095" cy="126504"/>
            <a:chOff x="2277457" y="119963"/>
            <a:chExt cx="1456095" cy="1265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1B8B2E4-DEB3-29D4-33D3-F3CA5EACE233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955FB69-BB70-5934-09A2-AB0DC2EA9518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29981488-1208-B43B-FF60-EA02651D813D}"/>
              </a:ext>
            </a:extLst>
          </p:cNvPr>
          <p:cNvSpPr/>
          <p:nvPr/>
        </p:nvSpPr>
        <p:spPr>
          <a:xfrm>
            <a:off x="9050486" y="2911609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84E45A8-1AF0-DE27-6AA1-E8E24E242393}"/>
              </a:ext>
            </a:extLst>
          </p:cNvPr>
          <p:cNvSpPr/>
          <p:nvPr/>
        </p:nvSpPr>
        <p:spPr>
          <a:xfrm>
            <a:off x="9050486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ECF0096-BF07-88D8-4AE2-7208BA42242D}"/>
              </a:ext>
            </a:extLst>
          </p:cNvPr>
          <p:cNvSpPr/>
          <p:nvPr/>
        </p:nvSpPr>
        <p:spPr>
          <a:xfrm>
            <a:off x="10354352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51A30C9-CA05-8DB3-69DE-B6857D4130B9}"/>
              </a:ext>
            </a:extLst>
          </p:cNvPr>
          <p:cNvSpPr/>
          <p:nvPr/>
        </p:nvSpPr>
        <p:spPr>
          <a:xfrm>
            <a:off x="10354352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9381AD4-C10D-3D72-6730-D85F8F908B6E}"/>
              </a:ext>
            </a:extLst>
          </p:cNvPr>
          <p:cNvSpPr/>
          <p:nvPr/>
        </p:nvSpPr>
        <p:spPr>
          <a:xfrm>
            <a:off x="11590485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D4A1733-A405-524B-8E23-2648E05436AA}"/>
                  </a:ext>
                </a:extLst>
              </p:cNvPr>
              <p:cNvSpPr txBox="1"/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AF0756-0D31-A548-9E2D-62D9D74E3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blipFill>
                <a:blip r:embed="rId7"/>
                <a:stretch>
                  <a:fillRect l="-184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1A2AE11-C7CF-2528-9F68-042AB545C24C}"/>
                  </a:ext>
                </a:extLst>
              </p:cNvPr>
              <p:cNvSpPr txBox="1"/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CE4F-5902-E548-8D5A-6EE7A713C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blipFill>
                <a:blip r:embed="rId8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AAF134A-EE58-CC02-0C2F-8F4EDC5DEC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0667" y="4376007"/>
            <a:ext cx="5009673" cy="21331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8ED03BA-B64D-8EB5-C302-BD60BD7BF5AC}"/>
                  </a:ext>
                </a:extLst>
              </p:cNvPr>
              <p:cNvSpPr txBox="1"/>
              <p:nvPr/>
            </p:nvSpPr>
            <p:spPr>
              <a:xfrm>
                <a:off x="-74902" y="5883401"/>
                <a:ext cx="658699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sSub>
                        <m:sSub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sub>
                      </m:sSub>
                      <m:d>
                        <m:d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8ED03BA-B64D-8EB5-C302-BD60BD7BF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902" y="5883401"/>
                <a:ext cx="6586995" cy="461665"/>
              </a:xfrm>
              <a:prstGeom prst="rect">
                <a:avLst/>
              </a:prstGeom>
              <a:blipFill>
                <a:blip r:embed="rId10"/>
                <a:stretch>
                  <a:fillRect l="-385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6FCC21B-DBC4-713F-0B2A-676E15704E5F}"/>
                  </a:ext>
                </a:extLst>
              </p:cNvPr>
              <p:cNvSpPr txBox="1"/>
              <p:nvPr/>
            </p:nvSpPr>
            <p:spPr>
              <a:xfrm>
                <a:off x="0" y="4797472"/>
                <a:ext cx="5994205" cy="7817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bg1">
                      <a:lumMod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6FCC21B-DBC4-713F-0B2A-676E15704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97472"/>
                <a:ext cx="5994205" cy="781752"/>
              </a:xfrm>
              <a:prstGeom prst="rect">
                <a:avLst/>
              </a:prstGeom>
              <a:blipFill>
                <a:blip r:embed="rId11"/>
                <a:stretch>
                  <a:fillRect l="-424" t="-138095" r="-1059" b="-18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2296EFB-5410-04E2-8510-F4803DFEC518}"/>
                  </a:ext>
                </a:extLst>
              </p:cNvPr>
              <p:cNvSpPr/>
              <p:nvPr/>
            </p:nvSpPr>
            <p:spPr>
              <a:xfrm>
                <a:off x="4540025" y="5405338"/>
                <a:ext cx="16172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2296EFB-5410-04E2-8510-F4803DFEC5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025" y="5405338"/>
                <a:ext cx="161723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CCCBDE0-09DD-1D05-107A-2B729E4235CA}"/>
                  </a:ext>
                </a:extLst>
              </p:cNvPr>
              <p:cNvSpPr/>
              <p:nvPr/>
            </p:nvSpPr>
            <p:spPr>
              <a:xfrm>
                <a:off x="7565165" y="4094839"/>
                <a:ext cx="2072042" cy="707886"/>
              </a:xfrm>
              <a:prstGeom prst="rect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sz="2000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000" b="0" i="0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</m:oMath>
                  </m:oMathPara>
                </a14:m>
                <a:endParaRPr lang="en-US" sz="2000" i="1" dirty="0">
                  <a:solidFill>
                    <a:srgbClr val="00B04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000" b="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i="1" dirty="0">
                  <a:solidFill>
                    <a:srgbClr val="00B04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CCCBDE0-09DD-1D05-107A-2B729E4235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165" y="4094839"/>
                <a:ext cx="2072042" cy="7078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70835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9A965-F1A6-1FDB-A68D-5716FF57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34F34B7F-FC48-CD23-CE48-D36061E0A4FA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9853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Action: select threshold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positive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Probability of false negative</a:t>
                          </a:r>
                        </a:p>
                        <a:p>
                          <a:pPr algn="ctr"/>
                          <a:b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=(1−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sub>
                                </m:sSub>
                                <m:r>
                                  <a:rPr lang="en-US" b="0" i="1" baseline="0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Risk</a:t>
                          </a: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τ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404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Light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40404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rgbClr val="404040"/>
                            </a:solidFill>
                            <a:latin typeface="Helvetica Light" panose="020B04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0.83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04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0.99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34F34B7F-FC48-CD23-CE48-D36061E0A4FA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01847" y="743766"/>
              <a:ext cx="7296496" cy="3779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24124">
                      <a:extLst>
                        <a:ext uri="{9D8B030D-6E8A-4147-A177-3AD203B41FA5}">
                          <a16:colId xmlns:a16="http://schemas.microsoft.com/office/drawing/2014/main" val="28948973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321490107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2298471940"/>
                        </a:ext>
                      </a:extLst>
                    </a:gridCol>
                    <a:gridCol w="1824124">
                      <a:extLst>
                        <a:ext uri="{9D8B030D-6E8A-4147-A177-3AD203B41FA5}">
                          <a16:colId xmlns:a16="http://schemas.microsoft.com/office/drawing/2014/main" val="389923007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4" t="-2128" r="-3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94" t="-2128" r="-200000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098" t="-2128" r="-101399" b="-23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2128" r="-694" b="-2329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408479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2634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7216856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0.33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0.83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60291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0.50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85576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rgbClr val="404040"/>
                              </a:solidFill>
                              <a:latin typeface="Helvetica Light" panose="020B0403020202020204" pitchFamily="34" charset="0"/>
                            </a:rPr>
                            <a:t>0.99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68226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BCB6D85-5CFC-FB2E-92DC-E4806694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47" y="54789"/>
            <a:ext cx="8183033" cy="688975"/>
          </a:xfrm>
        </p:spPr>
        <p:txBody>
          <a:bodyPr/>
          <a:lstStyle/>
          <a:p>
            <a:r>
              <a:rPr lang="en-US" dirty="0"/>
              <a:t>Choose where to operate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A34187-45CD-49E7-6EEE-9A696CAF04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" t="5625" r="3160" b="8348"/>
          <a:stretch/>
        </p:blipFill>
        <p:spPr>
          <a:xfrm>
            <a:off x="8047566" y="447503"/>
            <a:ext cx="3861033" cy="357066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A7961C8-486E-1F9E-2023-CAB05414D9AB}"/>
              </a:ext>
            </a:extLst>
          </p:cNvPr>
          <p:cNvSpPr/>
          <p:nvPr/>
        </p:nvSpPr>
        <p:spPr>
          <a:xfrm>
            <a:off x="8860730" y="3310036"/>
            <a:ext cx="126504" cy="126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9E10DE-B9BA-C29A-04FB-C123CDC6ADDB}"/>
              </a:ext>
            </a:extLst>
          </p:cNvPr>
          <p:cNvGrpSpPr/>
          <p:nvPr/>
        </p:nvGrpSpPr>
        <p:grpSpPr>
          <a:xfrm>
            <a:off x="8860730" y="2419699"/>
            <a:ext cx="126504" cy="1006768"/>
            <a:chOff x="902064" y="1922402"/>
            <a:chExt cx="126504" cy="100676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AC41FD-9BD0-E544-7733-EC8B8A74F78A}"/>
                </a:ext>
              </a:extLst>
            </p:cNvPr>
            <p:cNvCxnSpPr/>
            <p:nvPr/>
          </p:nvCxnSpPr>
          <p:spPr>
            <a:xfrm>
              <a:off x="965316" y="1972096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CA88602-E5DB-E16F-677B-744D8992F32A}"/>
                </a:ext>
              </a:extLst>
            </p:cNvPr>
            <p:cNvSpPr/>
            <p:nvPr/>
          </p:nvSpPr>
          <p:spPr>
            <a:xfrm>
              <a:off x="902064" y="1922402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A87780-7202-1CA9-D233-635733348250}"/>
              </a:ext>
            </a:extLst>
          </p:cNvPr>
          <p:cNvGrpSpPr/>
          <p:nvPr/>
        </p:nvGrpSpPr>
        <p:grpSpPr>
          <a:xfrm>
            <a:off x="8860730" y="1567935"/>
            <a:ext cx="126504" cy="1025275"/>
            <a:chOff x="902064" y="1070638"/>
            <a:chExt cx="126504" cy="102527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A3B278E-79FD-A772-64FD-6302AA9D5B2C}"/>
                </a:ext>
              </a:extLst>
            </p:cNvPr>
            <p:cNvSpPr/>
            <p:nvPr/>
          </p:nvSpPr>
          <p:spPr>
            <a:xfrm>
              <a:off x="902064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C0EA3E0-546F-33F6-95B8-5F2BF3B913DC}"/>
                </a:ext>
              </a:extLst>
            </p:cNvPr>
            <p:cNvCxnSpPr/>
            <p:nvPr/>
          </p:nvCxnSpPr>
          <p:spPr>
            <a:xfrm>
              <a:off x="965316" y="1138839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6ED1B7E-405D-3E7F-2B7D-C32CC0B91B25}"/>
              </a:ext>
            </a:extLst>
          </p:cNvPr>
          <p:cNvGrpSpPr/>
          <p:nvPr/>
        </p:nvGrpSpPr>
        <p:grpSpPr>
          <a:xfrm>
            <a:off x="10206738" y="617260"/>
            <a:ext cx="126504" cy="1020326"/>
            <a:chOff x="2248072" y="119963"/>
            <a:chExt cx="126504" cy="102032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3322125-C92B-80D1-D7E8-FD2EA426D30D}"/>
                </a:ext>
              </a:extLst>
            </p:cNvPr>
            <p:cNvSpPr/>
            <p:nvPr/>
          </p:nvSpPr>
          <p:spPr>
            <a:xfrm>
              <a:off x="2248072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EB84DF8-CBD2-148B-772B-6C00AE012509}"/>
                </a:ext>
              </a:extLst>
            </p:cNvPr>
            <p:cNvCxnSpPr/>
            <p:nvPr/>
          </p:nvCxnSpPr>
          <p:spPr>
            <a:xfrm>
              <a:off x="2311324" y="183215"/>
              <a:ext cx="0" cy="95707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D52AB41-57E2-5115-2621-E2FDBCA7A5FC}"/>
              </a:ext>
            </a:extLst>
          </p:cNvPr>
          <p:cNvGrpSpPr/>
          <p:nvPr/>
        </p:nvGrpSpPr>
        <p:grpSpPr>
          <a:xfrm>
            <a:off x="8923982" y="1567935"/>
            <a:ext cx="1409260" cy="126504"/>
            <a:chOff x="965316" y="1070638"/>
            <a:chExt cx="1409260" cy="12650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90CFB74-743A-BF6C-7426-9814CD65DE81}"/>
                </a:ext>
              </a:extLst>
            </p:cNvPr>
            <p:cNvSpPr/>
            <p:nvPr/>
          </p:nvSpPr>
          <p:spPr>
            <a:xfrm>
              <a:off x="2248072" y="1070638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4BA7B01-4E1E-1D18-FB58-E758F80C365F}"/>
                </a:ext>
              </a:extLst>
            </p:cNvPr>
            <p:cNvCxnSpPr>
              <a:stCxn id="21" idx="2"/>
            </p:cNvCxnSpPr>
            <p:nvPr/>
          </p:nvCxnSpPr>
          <p:spPr>
            <a:xfrm flipH="1">
              <a:off x="965316" y="1133890"/>
              <a:ext cx="1282756" cy="639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01B85DC-6CC4-4800-E195-AC151F1FCA75}"/>
              </a:ext>
            </a:extLst>
          </p:cNvPr>
          <p:cNvGrpSpPr/>
          <p:nvPr/>
        </p:nvGrpSpPr>
        <p:grpSpPr>
          <a:xfrm>
            <a:off x="10236123" y="617260"/>
            <a:ext cx="1456095" cy="126504"/>
            <a:chOff x="2277457" y="119963"/>
            <a:chExt cx="1456095" cy="1265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2D42C23-5E59-1CF0-D94D-B955971F8253}"/>
                </a:ext>
              </a:extLst>
            </p:cNvPr>
            <p:cNvSpPr/>
            <p:nvPr/>
          </p:nvSpPr>
          <p:spPr>
            <a:xfrm>
              <a:off x="3607048" y="119963"/>
              <a:ext cx="126504" cy="12650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B61354E-3FE2-DE59-E5F6-193283E57DFD}"/>
                </a:ext>
              </a:extLst>
            </p:cNvPr>
            <p:cNvCxnSpPr/>
            <p:nvPr/>
          </p:nvCxnSpPr>
          <p:spPr>
            <a:xfrm flipH="1">
              <a:off x="2277457" y="172037"/>
              <a:ext cx="1422378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10288D61-14A7-4F3F-EE6B-3A301224BBB4}"/>
              </a:ext>
            </a:extLst>
          </p:cNvPr>
          <p:cNvSpPr/>
          <p:nvPr/>
        </p:nvSpPr>
        <p:spPr>
          <a:xfrm>
            <a:off x="9050486" y="2911609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753CBB0-22B4-A151-76BF-613E8B61EDEA}"/>
              </a:ext>
            </a:extLst>
          </p:cNvPr>
          <p:cNvSpPr/>
          <p:nvPr/>
        </p:nvSpPr>
        <p:spPr>
          <a:xfrm>
            <a:off x="9050486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5D4B1BB-CF94-74B1-8681-8A1E9DD745CC}"/>
              </a:ext>
            </a:extLst>
          </p:cNvPr>
          <p:cNvSpPr/>
          <p:nvPr/>
        </p:nvSpPr>
        <p:spPr>
          <a:xfrm>
            <a:off x="10354352" y="1133607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1F1201F-B36A-FAAE-BD39-4C3B1D1B7ADE}"/>
              </a:ext>
            </a:extLst>
          </p:cNvPr>
          <p:cNvSpPr/>
          <p:nvPr/>
        </p:nvSpPr>
        <p:spPr>
          <a:xfrm>
            <a:off x="10354352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8D88A9F-C2C5-9F37-CA38-AFF2979C6F0F}"/>
              </a:ext>
            </a:extLst>
          </p:cNvPr>
          <p:cNvSpPr/>
          <p:nvPr/>
        </p:nvSpPr>
        <p:spPr>
          <a:xfrm>
            <a:off x="11590485" y="236141"/>
            <a:ext cx="389467" cy="389467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" pitchFamily="2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DBD04B4-40D1-1B5B-B309-FC8CAAB51A8F}"/>
                  </a:ext>
                </a:extLst>
              </p:cNvPr>
              <p:cNvSpPr txBox="1"/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False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AF0756-0D31-A548-9E2D-62D9D74E3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882" y="3721608"/>
                <a:ext cx="2742336" cy="369332"/>
              </a:xfrm>
              <a:prstGeom prst="rect">
                <a:avLst/>
              </a:prstGeom>
              <a:blipFill>
                <a:blip r:embed="rId7"/>
                <a:stretch>
                  <a:fillRect l="-184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9F4FD28-92B0-EB04-E572-8AA30F472C6D}"/>
                  </a:ext>
                </a:extLst>
              </p:cNvPr>
              <p:cNvSpPr txBox="1"/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True Positive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</m:oMath>
                </a14:m>
                <a:r>
                  <a:rPr lang="en-US" dirty="0">
                    <a:latin typeface="Helvetica Light" charset="0"/>
                    <a:ea typeface="Helvetica Light" charset="0"/>
                    <a:cs typeface="Helvetica Light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5ECE4F-5902-E548-8D5A-6EE7A713C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46436" y="1853221"/>
                <a:ext cx="2797304" cy="369332"/>
              </a:xfrm>
              <a:prstGeom prst="rect">
                <a:avLst/>
              </a:prstGeom>
              <a:blipFill>
                <a:blip r:embed="rId8"/>
                <a:stretch>
                  <a:fillRect l="-6667" r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43EE824-E2F7-12E5-5817-FCBC3412AA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0667" y="4376007"/>
            <a:ext cx="5009673" cy="21331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A2DFE6-B0A4-9679-60D2-DD11F6B571E9}"/>
                  </a:ext>
                </a:extLst>
              </p:cNvPr>
              <p:cNvSpPr txBox="1"/>
              <p:nvPr/>
            </p:nvSpPr>
            <p:spPr>
              <a:xfrm>
                <a:off x="-74902" y="5883401"/>
                <a:ext cx="658699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sSub>
                        <m:sSub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sSub>
                        <m:sSub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sz="3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sub>
                      </m:sSub>
                      <m:d>
                        <m:d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rgbClr val="404040"/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A2DFE6-B0A4-9679-60D2-DD11F6B57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902" y="5883401"/>
                <a:ext cx="6586995" cy="461665"/>
              </a:xfrm>
              <a:prstGeom prst="rect">
                <a:avLst/>
              </a:prstGeom>
              <a:blipFill>
                <a:blip r:embed="rId10"/>
                <a:stretch>
                  <a:fillRect l="-385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33378F4-3185-F997-5F6B-F4381F4A07E0}"/>
                  </a:ext>
                </a:extLst>
              </p:cNvPr>
              <p:cNvSpPr txBox="1"/>
              <p:nvPr/>
            </p:nvSpPr>
            <p:spPr>
              <a:xfrm>
                <a:off x="0" y="4797472"/>
                <a:ext cx="5994205" cy="7817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𝑅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Helvetica Light" charset="0"/>
                              <a:cs typeface="Helvetica Light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Light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Helvetica Light" charset="0"/>
                          <a:cs typeface="Helvetica Light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Light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bg1">
                      <a:lumMod val="50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33378F4-3185-F997-5F6B-F4381F4A0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97472"/>
                <a:ext cx="5994205" cy="781752"/>
              </a:xfrm>
              <a:prstGeom prst="rect">
                <a:avLst/>
              </a:prstGeom>
              <a:blipFill>
                <a:blip r:embed="rId11"/>
                <a:stretch>
                  <a:fillRect l="-424" t="-138095" r="-1059" b="-18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268CA99-2955-D2F2-7FB6-29698BA0E9B2}"/>
                  </a:ext>
                </a:extLst>
              </p:cNvPr>
              <p:cNvSpPr/>
              <p:nvPr/>
            </p:nvSpPr>
            <p:spPr>
              <a:xfrm>
                <a:off x="4540025" y="5405338"/>
                <a:ext cx="16172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268CA99-2955-D2F2-7FB6-29698BA0E9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025" y="5405338"/>
                <a:ext cx="161723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E3A57EA-B508-9673-623D-8AA11E4229C3}"/>
                  </a:ext>
                </a:extLst>
              </p:cNvPr>
              <p:cNvSpPr/>
              <p:nvPr/>
            </p:nvSpPr>
            <p:spPr>
              <a:xfrm>
                <a:off x="7565165" y="4094839"/>
                <a:ext cx="2072042" cy="707886"/>
              </a:xfrm>
              <a:prstGeom prst="rect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sz="2000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000" b="0" i="0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</m:oMath>
                  </m:oMathPara>
                </a14:m>
                <a:endParaRPr lang="en-US" sz="2000" i="1" dirty="0">
                  <a:solidFill>
                    <a:srgbClr val="00B04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 dirty="0">
                              <a:solidFill>
                                <a:srgbClr val="00B04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000" b="0" i="1" dirty="0" smtClean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 dirty="0">
                          <a:solidFill>
                            <a:srgbClr val="00B04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i="1" dirty="0">
                  <a:solidFill>
                    <a:srgbClr val="00B04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E3A57EA-B508-9673-623D-8AA11E4229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165" y="4094839"/>
                <a:ext cx="2072042" cy="7078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940BABF-5446-7B9A-4B9D-3F30605A12D0}"/>
              </a:ext>
            </a:extLst>
          </p:cNvPr>
          <p:cNvSpPr/>
          <p:nvPr/>
        </p:nvSpPr>
        <p:spPr>
          <a:xfrm>
            <a:off x="101847" y="2458988"/>
            <a:ext cx="7296496" cy="54775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F6C58C-3625-1440-3BDE-FBA9F2B319C5}"/>
              </a:ext>
            </a:extLst>
          </p:cNvPr>
          <p:cNvSpPr txBox="1"/>
          <p:nvPr/>
        </p:nvSpPr>
        <p:spPr>
          <a:xfrm>
            <a:off x="7349596" y="2409701"/>
            <a:ext cx="851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4F"/>
                </a:solidFill>
                <a:latin typeface="Helvetica" pitchFamily="2" charset="0"/>
                <a:ea typeface="Helvetica Light" charset="0"/>
                <a:cs typeface="Helvetica Light" charset="0"/>
              </a:rPr>
              <a:t>Least </a:t>
            </a:r>
          </a:p>
          <a:p>
            <a:r>
              <a:rPr lang="en-US" b="1" dirty="0">
                <a:solidFill>
                  <a:srgbClr val="00B04F"/>
                </a:solidFill>
                <a:latin typeface="Helvetica" pitchFamily="2" charset="0"/>
                <a:ea typeface="Helvetica Light" charset="0"/>
                <a:cs typeface="Helvetica Light" charset="0"/>
              </a:rPr>
              <a:t>risk</a:t>
            </a:r>
          </a:p>
        </p:txBody>
      </p:sp>
    </p:spTree>
    <p:extLst>
      <p:ext uri="{BB962C8B-B14F-4D97-AF65-F5344CB8AC3E}">
        <p14:creationId xmlns:p14="http://schemas.microsoft.com/office/powerpoint/2010/main" val="259773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D6BD-45CB-B146-88FF-C3F4D272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DC660-505C-C64E-BD13-2D7A68303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86" y="1149178"/>
            <a:ext cx="11418028" cy="503309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Models make predictions, but these need to be contextualized to transform them into a decision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To make a decision, we minimize expected loss (risk):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/>
              <a:t>Define a measure of risk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/>
              <a:t>Select the action that optimizes that metric (for binary classification, this is often the decision rule threshold)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Decision theory systematically incorporates the relative importance of different error types and the prevalence of the types of classes</a:t>
            </a:r>
          </a:p>
          <a:p>
            <a:pPr marL="0" indent="0">
              <a:buNone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Requires application domain knowledge to reflect real-world importance</a:t>
            </a:r>
          </a:p>
        </p:txBody>
      </p:sp>
    </p:spTree>
    <p:extLst>
      <p:ext uri="{BB962C8B-B14F-4D97-AF65-F5344CB8AC3E}">
        <p14:creationId xmlns:p14="http://schemas.microsoft.com/office/powerpoint/2010/main" val="221681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00B05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2400" dirty="0" smtClean="0">
            <a:latin typeface="Helvetica Light" charset="0"/>
            <a:ea typeface="Helvetica Light" charset="0"/>
            <a:cs typeface="Helvetica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ctureTemplate01" id="{18C5110A-245C-EE48-8465-F12600992F0C}" vid="{3A53B871-4BD2-E645-AFB1-458A517B9F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LectureTemplate01</Template>
  <TotalTime>15604</TotalTime>
  <Words>2269</Words>
  <Application>Microsoft Macintosh PowerPoint</Application>
  <PresentationFormat>Widescreen</PresentationFormat>
  <Paragraphs>824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Cambria Math</vt:lpstr>
      <vt:lpstr>Helvetica</vt:lpstr>
      <vt:lpstr>HELVETICA LIGHT</vt:lpstr>
      <vt:lpstr>HELVETICA LIGHT</vt:lpstr>
      <vt:lpstr>Wingdings</vt:lpstr>
      <vt:lpstr>Office Theme</vt:lpstr>
      <vt:lpstr>Decision Theory</vt:lpstr>
      <vt:lpstr>Performance evaluation review</vt:lpstr>
      <vt:lpstr>Performance Evaluation  Application</vt:lpstr>
      <vt:lpstr>Time to make a decision…</vt:lpstr>
      <vt:lpstr>How to invest $10,000?</vt:lpstr>
      <vt:lpstr>Maximax</vt:lpstr>
      <vt:lpstr>Maximin</vt:lpstr>
      <vt:lpstr>Minimax</vt:lpstr>
      <vt:lpstr>Next: factor in probabilities of different outcomes</vt:lpstr>
      <vt:lpstr>Expected Payoff: Equal likelihood</vt:lpstr>
      <vt:lpstr>Expected Payoff</vt:lpstr>
      <vt:lpstr>Decision making design pattern</vt:lpstr>
      <vt:lpstr>Notation</vt:lpstr>
      <vt:lpstr>Risk = expected loss</vt:lpstr>
      <vt:lpstr>PowerPoint Presentation</vt:lpstr>
      <vt:lpstr>Investments: loss</vt:lpstr>
      <vt:lpstr>We can use risk to choose where to operate along an ROC curve</vt:lpstr>
      <vt:lpstr>Performance Evaluation  Application</vt:lpstr>
      <vt:lpstr>Performance Evaluation  Application</vt:lpstr>
      <vt:lpstr>Performance Evaluation  Application</vt:lpstr>
      <vt:lpstr>Where to operate along ROC?</vt:lpstr>
      <vt:lpstr>Choose where to operate</vt:lpstr>
      <vt:lpstr>Choose where to operate</vt:lpstr>
      <vt:lpstr>Choose where to operate</vt:lpstr>
      <vt:lpstr>This makes a critical assumption about how the data are distributed by class…</vt:lpstr>
      <vt:lpstr>Performance Evaluation  Application</vt:lpstr>
      <vt:lpstr>Performance Evaluation  Application</vt:lpstr>
      <vt:lpstr>ROC curves are not sensitive to class imbalances – TPR and FPR are class-conditional</vt:lpstr>
      <vt:lpstr>Where to operate along ROC?</vt:lpstr>
      <vt:lpstr>Choose where to operate</vt:lpstr>
      <vt:lpstr>Choose where to operate</vt:lpstr>
      <vt:lpstr>Choose where to operate</vt:lpstr>
      <vt:lpstr>Choose where to operate</vt:lpstr>
      <vt:lpstr>Choose where to operate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machine learning?</dc:title>
  <dc:creator>Kyle Bradbury, Ph.D.</dc:creator>
  <cp:lastModifiedBy>Kyle Bradbury, Ph.D.</cp:lastModifiedBy>
  <cp:revision>464</cp:revision>
  <dcterms:created xsi:type="dcterms:W3CDTF">2017-07-29T03:27:19Z</dcterms:created>
  <dcterms:modified xsi:type="dcterms:W3CDTF">2026-02-03T16:20:15Z</dcterms:modified>
</cp:coreProperties>
</file>